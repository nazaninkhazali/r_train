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8" r:id="rId2"/>
    <p:sldId id="295" r:id="rId3"/>
    <p:sldId id="357" r:id="rId4"/>
    <p:sldId id="262" r:id="rId5"/>
    <p:sldId id="364" r:id="rId6"/>
    <p:sldId id="365" r:id="rId7"/>
    <p:sldId id="277" r:id="rId8"/>
    <p:sldId id="354" r:id="rId9"/>
    <p:sldId id="363" r:id="rId10"/>
    <p:sldId id="366" r:id="rId11"/>
    <p:sldId id="358" r:id="rId12"/>
    <p:sldId id="361" r:id="rId13"/>
    <p:sldId id="288" r:id="rId14"/>
    <p:sldId id="359" r:id="rId15"/>
    <p:sldId id="350" r:id="rId16"/>
    <p:sldId id="351" r:id="rId17"/>
    <p:sldId id="356" r:id="rId18"/>
    <p:sldId id="355" r:id="rId19"/>
    <p:sldId id="360" r:id="rId20"/>
    <p:sldId id="362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ST 2021_Multiple Slide types" id="{58BEDF31-0425-40C4-87B2-EBC1798A92EE}">
          <p14:sldIdLst>
            <p14:sldId id="258"/>
            <p14:sldId id="295"/>
            <p14:sldId id="357"/>
            <p14:sldId id="262"/>
            <p14:sldId id="364"/>
            <p14:sldId id="365"/>
            <p14:sldId id="277"/>
            <p14:sldId id="354"/>
            <p14:sldId id="363"/>
            <p14:sldId id="366"/>
            <p14:sldId id="358"/>
            <p14:sldId id="361"/>
            <p14:sldId id="288"/>
            <p14:sldId id="359"/>
            <p14:sldId id="350"/>
            <p14:sldId id="351"/>
            <p14:sldId id="356"/>
            <p14:sldId id="355"/>
            <p14:sldId id="360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9B5"/>
    <a:srgbClr val="69685B"/>
    <a:srgbClr val="FE12ED"/>
    <a:srgbClr val="66A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14" autoAdjust="0"/>
    <p:restoredTop sz="88959" autoAdjust="0"/>
  </p:normalViewPr>
  <p:slideViewPr>
    <p:cSldViewPr snapToGrid="0" snapToObjects="1">
      <p:cViewPr>
        <p:scale>
          <a:sx n="66" d="100"/>
          <a:sy n="66" d="100"/>
        </p:scale>
        <p:origin x="1963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-4986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89EDB-3FDD-4915-A3CE-62FA29C01A32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42649-1860-4D03-9360-22C2D8836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499FB-0CC7-453D-9493-CBDCD6D233E2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6A24B-926E-40EB-9E1B-5321DC37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7475" indent="-117475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57200" indent="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</a:t>
            </a:r>
          </a:p>
          <a:p/>
          <a:p>
            <a:r>
              <a:t>Good morning. My name is Nazanin.</a:t>
            </a:r>
          </a:p>
          <a:p/>
          <a:p>
            <a:r>
              <a:t>I work on faecal microbiota transplantation, or FMT. In FMT we take stool from a healthy donor and give it to a patient.</a:t>
            </a:r>
          </a:p>
          <a:p/>
          <a:p>
            <a:r>
              <a:t>My question today is simple. The donor is screened. But is the donation we use today really safe?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28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[0:55]</a:t>
            </a:r>
          </a:p>
          <a:p/>
          <a:p>
            <a:r>
              <a:t>This is how donors are screened now.</a:t>
            </a:r>
          </a:p>
          <a:p/>
          <a:p>
            <a:r>
              <a:t>We test them at the start of a donation period, and again at the end. Between these two tests, nothing is checked.</a:t>
            </a:r>
          </a:p>
          <a:p/>
          <a:p>
            <a:r>
              <a:t>Now look at the red zone. A donor can catch norovirus, shed it for several days, and recover — all inside that window. And very often there are no symptoms at all.</a:t>
            </a:r>
          </a:p>
          <a:p/>
          <a:p>
            <a:r>
              <a:t>So the donations made during this period go to patients without being tested.</a:t>
            </a:r>
          </a:p>
          <a:p/>
          <a:p>
            <a:r>
              <a:t>If instead we test at every donation — that is the lower line — we find the problem in days, not in weeks. This is the gap I want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20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</a:t>
            </a:r>
          </a:p>
          <a:p/>
          <a:p>
            <a:r>
              <a:t>My project has three work packages.</a:t>
            </a:r>
          </a:p>
          <a:p/>
          <a:p>
            <a:r>
              <a:t>Work package one measures the real viral risk in healthy donors.</a:t>
            </a:r>
          </a:p>
          <a:p/>
          <a:p>
            <a:r>
              <a:t>Work package two finds a molecule that can recognise the virus in stool.</a:t>
            </a:r>
          </a:p>
          <a:p/>
          <a:p>
            <a:r>
              <a:t>Work package three turns that molecule into a rapid test.</a:t>
            </a:r>
          </a:p>
          <a:p/>
          <a:p>
            <a:r>
              <a:t>Today I will focus mostly on work package two, because this is where I am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[0:55]</a:t>
            </a:r>
          </a:p>
          <a:p/>
          <a:p>
            <a:r>
              <a:t>These aptamers already exist in the literature. But they were not made in the same way. There are four strategies.</a:t>
            </a:r>
          </a:p>
          <a:p/>
          <a:p>
            <a:r>
              <a:t>In the first, the aptamer was selected against the P-domain — the most variable part of the virus shell.</a:t>
            </a:r>
          </a:p>
          <a:p/>
          <a:p>
            <a:r>
              <a:t>In the second, against the whole capsid protein. So the aptamer also sees the conserved part.</a:t>
            </a:r>
          </a:p>
          <a:p/>
          <a:p>
            <a:r>
              <a:t>In the third, against whole virus taken directly from stool. This is the most realistic situation.</a:t>
            </a:r>
          </a:p>
          <a:p/>
          <a:p>
            <a:r>
              <a:t>And in the fourth, two genotypes were used at the same time, and the best sequences were then redesigned by computer.</a:t>
            </a:r>
          </a:p>
          <a:p/>
          <a:p>
            <a:r>
              <a:t>My panel covers all four approaches on purpose. This is a strength. But as you will see, it is also 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7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/>
          <a:p>
            <a:r>
              <a:t>Why norovirus? Four reasons.</a:t>
            </a:r>
          </a:p>
          <a:p/>
          <a:p>
            <a:r>
              <a:t>It is the leading cause of acute gastroenteritis in the world.</a:t>
            </a:r>
          </a:p>
          <a:p/>
          <a:p>
            <a:r>
              <a:t>It spreads very easily in hospitals and care homes — exactly where FMT patients are.</a:t>
            </a:r>
          </a:p>
          <a:p/>
          <a:p>
            <a:r>
              <a:t>The infectious dose is extremely low. About eighteen virus particles are enough.</a:t>
            </a:r>
          </a:p>
          <a:p/>
          <a:p>
            <a:r>
              <a:t>And an infected person sheds billions of copies per gram of stool.</a:t>
            </a:r>
          </a:p>
          <a:p/>
          <a:p>
            <a:r>
              <a:t>So even a small contamination is a real risk — especially for FMT patients, who are often elderly or immunocompromised.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</a:t>
            </a:r>
          </a:p>
          <a:p/>
          <a:p>
            <a:r>
              <a:t>In work package one, we follow healthy adults who have no symptoms.</a:t>
            </a:r>
          </a:p>
          <a:p/>
          <a:p>
            <a:r>
              <a:t>We collect their stool, and we look for enteric viruses. We do not only ask if the virus is there. We also measure how much.</a:t>
            </a:r>
          </a:p>
          <a:p/>
          <a:p>
            <a:r>
              <a:t>This gives me two things. First, the real level of risk in healthy donors. Second, naturally positive samples that I can use later to test my assay.</a:t>
            </a:r>
          </a:p>
          <a:p/>
          <a:p>
            <a:r>
              <a:t>Without these numbers, I cannot know how sensitive my test needs to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</a:t>
            </a:r>
          </a:p>
          <a:p/>
          <a:p>
            <a:r>
              <a:t>Work package two has three steps.</a:t>
            </a:r>
          </a:p>
          <a:p/>
          <a:p>
            <a:r>
              <a:t>First, I check if my aptamers recognise the virus in a clean buffer.</a:t>
            </a:r>
          </a:p>
          <a:p/>
          <a:p>
            <a:r>
              <a:t>Second, I test them in stool, which is a much more difficult sample.</a:t>
            </a:r>
          </a:p>
          <a:p/>
          <a:p>
            <a:r>
              <a:t>Third, I select the best one and pass it to work package three.</a:t>
            </a:r>
          </a:p>
          <a:p/>
          <a:p>
            <a:r>
              <a:t>One word about aptamers. An aptamer is a short DNA strand. It folds into a shape, and this shape binds the target — like an antibody, but chemical.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</a:t>
            </a:r>
          </a:p>
          <a:p/>
          <a:p>
            <a:r>
              <a:t>These are my six candidates, with their sequences.</a:t>
            </a:r>
          </a:p>
          <a:p/>
          <a:p>
            <a:r>
              <a:t>They are between forty and ninety nucleotides long. Some of them exist in two versions, a full length and a shorter one.</a:t>
            </a:r>
          </a:p>
          <a:p/>
          <a:p>
            <a:r>
              <a:t>All of them are ordered with the same modification, so I can use them in the same assay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</a:t>
            </a:r>
          </a:p>
          <a:p/>
          <a:p>
            <a:r>
              <a:t>[BLANK SLIDE — add your ELASA figure, then adapt this script.]</a:t>
            </a:r>
          </a:p>
          <a:p/>
          <a:p>
            <a:r>
              <a:t>Here are my first results, from the ELASA assay.</a:t>
            </a:r>
          </a:p>
          <a:p/>
          <a:p>
            <a:r>
              <a:t>Each bar is the signal of one aptamer against its target, divided by the background. Each value is the average of three independent experiments.</a:t>
            </a:r>
          </a:p>
          <a:p/>
          <a:p>
            <a:r>
              <a:t>[Say what the figure shows — for example: these two aptamers give a clear signal; this one does not bind above background.]</a:t>
            </a:r>
          </a:p>
          <a:p/>
          <a:p>
            <a:r>
              <a:t>What I want you to remember is [your main message].</a:t>
            </a:r>
          </a:p>
          <a:p/>
          <a:p>
            <a:r>
              <a:t>And these are measurements in buffer. In clean, controlled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</a:t>
            </a:r>
          </a:p>
          <a:p/>
          <a:p>
            <a:r>
              <a:t>[BLANK SLIDE — one figure would help here: six numbers that look rankable, and the conditions hiding behind them.]</a:t>
            </a:r>
          </a:p>
          <a:p/>
          <a:p>
            <a:r>
              <a:t>Now the difficult part.</a:t>
            </a:r>
          </a:p>
          <a:p/>
          <a:p>
            <a:r>
              <a:t>I would like to simply rank these six aptamers, and choose the best one. But I cannot.</a:t>
            </a:r>
          </a:p>
          <a:p/>
          <a:p>
            <a:r>
              <a:t>Each one comes from a different laboratory, with a different buffer, a different target, and a different measurement method.</a:t>
            </a:r>
          </a:p>
          <a:p/>
          <a:p>
            <a:r>
              <a:t>And an aptamer is not a rigid object. It is flexible. It changes its shape with the salt, the magnesium and the pH around it.</a:t>
            </a:r>
          </a:p>
          <a:p/>
          <a:p>
            <a:r>
              <a:t>So the number I measure does not belong only to the sequence. It belongs to the sequence and to its solution, together.</a:t>
            </a:r>
          </a:p>
          <a:p/>
          <a:p>
            <a:r>
              <a:t>Comparing published values is comparing apples and oranges.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</a:t>
            </a:r>
          </a:p>
          <a:p/>
          <a:p>
            <a:r>
              <a:t>This is my answer: fluorescence polarisation.</a:t>
            </a:r>
          </a:p>
          <a:p/>
          <a:p>
            <a:r>
              <a:t>I put a small fluorescent tag on the aptamer, and I excite it with polarised light.</a:t>
            </a:r>
          </a:p>
          <a:p/>
          <a:p>
            <a:r>
              <a:t>When the aptamer is free, it is small and it rotates very fast. The light we collect is scrambled, so the polarisation is low.</a:t>
            </a:r>
          </a:p>
          <a:p/>
          <a:p>
            <a:r>
              <a:t>When it binds the virus particle, it becomes big and slow. The light keeps its direction, so the polarisation is high. This rise is my binding signal.</a:t>
            </a:r>
          </a:p>
          <a:p/>
          <a:p>
            <a:r>
              <a:t>The important point is at the bottom of the slide. Everything happens in solution. Nothing is fixed on a surface. There is no washing step. And I control the ions and the pH myself.</a:t>
            </a:r>
          </a:p>
          <a:p/>
          <a:p>
            <a:r>
              <a:t>So I can test all six aptamers with one method, and change only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</a:t>
            </a:r>
          </a:p>
          <a:p/>
          <a:p>
            <a:r>
              <a:t>The last step is work package three.</a:t>
            </a:r>
          </a:p>
          <a:p/>
          <a:p>
            <a:r>
              <a:t>The best aptamer goes onto a paper strip, like a pregnancy test. The sample moves along the strip. The aptamer carries gold nanoparticles. If the virus is present, a red line appears.</a:t>
            </a:r>
          </a:p>
          <a:p/>
          <a:p>
            <a:r>
              <a:t>The goal is a result in about fifteen minutes, read with the eye.</a:t>
            </a:r>
          </a:p>
          <a:p/>
          <a:p>
            <a:r>
              <a:t>It will not replace PCR. Its role is to flag suspicious donations, so they can be confirmed in the laboratory.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[0:10]</a:t>
            </a:r>
          </a:p>
          <a:p/>
          <a:p>
            <a:r>
              <a:t>So: the donor is screened — but the donation of today is not. That is what I want to change.</a:t>
            </a:r>
          </a:p>
          <a:p/>
          <a:p>
            <a:r>
              <a:t>Thank you for your attention. I am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76" y="546498"/>
            <a:ext cx="8432255" cy="1241080"/>
          </a:xfrm>
        </p:spPr>
        <p:txBody>
          <a:bodyPr anchor="ctr"/>
          <a:lstStyle>
            <a:lvl1pPr>
              <a:defRPr sz="55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58776" y="2166937"/>
            <a:ext cx="8432189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None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357188" indent="-179388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tabLst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536575" indent="-179388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  <a:latin typeface="+mj-lt"/>
              </a:defRPr>
            </a:lvl4pPr>
            <a:lvl5pPr marL="715963" indent="-179388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tabLst/>
              <a:defRPr sz="1050">
                <a:solidFill>
                  <a:schemeClr val="tx2"/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891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7" y="1410891"/>
            <a:ext cx="475152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1410891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7" y="2165946"/>
            <a:ext cx="4751528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165946"/>
            <a:ext cx="720000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7" y="2922985"/>
            <a:ext cx="475152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2922985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39" hasCustomPrompt="1"/>
          </p:nvPr>
        </p:nvSpPr>
        <p:spPr>
          <a:xfrm>
            <a:off x="1080947" y="3678040"/>
            <a:ext cx="4751528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6" name="Text Placeholder 29"/>
          <p:cNvSpPr>
            <a:spLocks noGrp="1"/>
          </p:cNvSpPr>
          <p:nvPr>
            <p:ph type="body" sz="quarter" idx="40" hasCustomPrompt="1"/>
          </p:nvPr>
        </p:nvSpPr>
        <p:spPr>
          <a:xfrm>
            <a:off x="360947" y="3678040"/>
            <a:ext cx="720000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60000" y="276456"/>
            <a:ext cx="8424000" cy="6395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</a:t>
            </a:r>
            <a:r>
              <a:rPr lang="en-US"/>
              <a:t>to edit master </a:t>
            </a:r>
            <a:r>
              <a:rPr lang="en-US" dirty="0"/>
              <a:t>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12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8" y="2166938"/>
            <a:ext cx="3167929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8" y="2923609"/>
            <a:ext cx="3167929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923609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8" y="3679656"/>
            <a:ext cx="3167929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3679656"/>
            <a:ext cx="7200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5618747" y="2166938"/>
            <a:ext cx="31662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48987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5618747" y="2923609"/>
            <a:ext cx="31662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4898747" y="2923609"/>
            <a:ext cx="7200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5618747" y="3679656"/>
            <a:ext cx="31662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4898747" y="3679656"/>
            <a:ext cx="7200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338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8" y="2166938"/>
            <a:ext cx="179877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8" y="2922983"/>
            <a:ext cx="1798778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922983"/>
            <a:ext cx="7200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8" y="3679032"/>
            <a:ext cx="179877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4031525" y="2166938"/>
            <a:ext cx="180095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3311525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4031525" y="2922983"/>
            <a:ext cx="180095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3311525" y="2922983"/>
            <a:ext cx="72000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4031525" y="3679032"/>
            <a:ext cx="180095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3311525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39" hasCustomPrompt="1"/>
          </p:nvPr>
        </p:nvSpPr>
        <p:spPr>
          <a:xfrm>
            <a:off x="6984276" y="2166938"/>
            <a:ext cx="1800672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6" name="Text Placeholder 29"/>
          <p:cNvSpPr>
            <a:spLocks noGrp="1"/>
          </p:cNvSpPr>
          <p:nvPr>
            <p:ph type="body" sz="quarter" idx="40" hasCustomPrompt="1"/>
          </p:nvPr>
        </p:nvSpPr>
        <p:spPr>
          <a:xfrm>
            <a:off x="6264275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41" hasCustomPrompt="1"/>
          </p:nvPr>
        </p:nvSpPr>
        <p:spPr>
          <a:xfrm>
            <a:off x="6984276" y="2922983"/>
            <a:ext cx="1800672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42" hasCustomPrompt="1"/>
          </p:nvPr>
        </p:nvSpPr>
        <p:spPr>
          <a:xfrm>
            <a:off x="6264275" y="2922983"/>
            <a:ext cx="72000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43" hasCustomPrompt="1"/>
          </p:nvPr>
        </p:nvSpPr>
        <p:spPr>
          <a:xfrm>
            <a:off x="6984276" y="3679032"/>
            <a:ext cx="1800672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20" name="Text Placeholder 29"/>
          <p:cNvSpPr>
            <a:spLocks noGrp="1"/>
          </p:cNvSpPr>
          <p:nvPr>
            <p:ph type="body" sz="quarter" idx="44" hasCustomPrompt="1"/>
          </p:nvPr>
        </p:nvSpPr>
        <p:spPr>
          <a:xfrm>
            <a:off x="6264275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515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358776" y="1410890"/>
            <a:ext cx="39846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4800600" y="1410890"/>
            <a:ext cx="39846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53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5"/>
            <a:ext cx="8424000" cy="6397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1" y="1410891"/>
            <a:ext cx="5472475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264276" y="1410891"/>
            <a:ext cx="2520949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09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225" y="276225"/>
            <a:ext cx="8424000" cy="6369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2519725" cy="3019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3311526" y="1410891"/>
            <a:ext cx="5472475" cy="3019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3143"/>
            <a:ext cx="8424000" cy="255257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175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25197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3311525" y="1410891"/>
            <a:ext cx="2520950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264276" y="1410891"/>
            <a:ext cx="2518777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287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 b="0" i="0"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67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5"/>
            <a:ext cx="8424000" cy="639764"/>
          </a:xfrm>
        </p:spPr>
        <p:txBody>
          <a:bodyPr/>
          <a:lstStyle>
            <a:lvl1pPr>
              <a:defRPr b="0" i="0"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360000" y="1410891"/>
            <a:ext cx="8424000" cy="3024187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insert chart from template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430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 b="0" i="0"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Table style</a:t>
            </a:r>
          </a:p>
        </p:txBody>
      </p:sp>
    </p:spTree>
    <p:extLst>
      <p:ext uri="{BB962C8B-B14F-4D97-AF65-F5344CB8AC3E}">
        <p14:creationId xmlns:p14="http://schemas.microsoft.com/office/powerpoint/2010/main" val="2902820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47" y="546497"/>
            <a:ext cx="8424000" cy="1215000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66964" y="2166937"/>
            <a:ext cx="8424000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  <a:p>
            <a:pPr lvl="6"/>
            <a:r>
              <a:rPr lang="en-US" dirty="0"/>
              <a:t>Fourth level</a:t>
            </a:r>
          </a:p>
          <a:p>
            <a:pPr lvl="8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47" y="546497"/>
            <a:ext cx="8424000" cy="1215000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66964" y="2166938"/>
            <a:ext cx="8424000" cy="226820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  <a:p>
            <a:pPr lvl="6"/>
            <a:r>
              <a:rPr lang="en-US" dirty="0"/>
              <a:t>Fourth level</a:t>
            </a:r>
          </a:p>
          <a:p>
            <a:pPr lvl="8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952500" y="2219326"/>
            <a:ext cx="65" cy="3323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54932" y="1410891"/>
            <a:ext cx="5480384" cy="3024187"/>
          </a:xfrm>
        </p:spPr>
        <p:txBody>
          <a:bodyPr/>
          <a:lstStyle>
            <a:lvl1pPr marL="0" algn="r" defTabSz="914400" rtl="0" eaLnBrk="1" latinLnBrk="0" hangingPunct="1">
              <a:lnSpc>
                <a:spcPct val="70000"/>
              </a:lnSpc>
              <a:buNone/>
              <a:defRPr lang="en-US" sz="8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264275" y="2166937"/>
            <a:ext cx="2526689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  <a:p>
            <a:pPr lvl="6"/>
            <a:r>
              <a:rPr lang="en-US" dirty="0"/>
              <a:t>Fourth level</a:t>
            </a:r>
          </a:p>
          <a:p>
            <a:pPr lvl="8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1853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0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8860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977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240030"/>
            <a:ext cx="6995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1148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25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554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0" y="4435079"/>
            <a:ext cx="9144000" cy="712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410891"/>
            <a:ext cx="8425225" cy="3024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8" name="Image 8"/>
          <p:cNvPicPr>
            <a:picLocks noChangeAspect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0"/>
          <a:stretch/>
        </p:blipFill>
        <p:spPr bwMode="auto">
          <a:xfrm>
            <a:off x="7060992" y="4611515"/>
            <a:ext cx="1724233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35999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31274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26549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 flipH="1">
            <a:off x="2879725" y="-713946"/>
            <a:ext cx="433024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 flipH="1">
            <a:off x="5832475" y="-713946"/>
            <a:ext cx="433024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 flipH="1">
            <a:off x="-3" y="-713946"/>
            <a:ext cx="358775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 flipH="1">
            <a:off x="8785223" y="-713946"/>
            <a:ext cx="358775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 flipH="1">
            <a:off x="-791527" y="0"/>
            <a:ext cx="144000" cy="27622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 flipH="1">
            <a:off x="-935527" y="4867275"/>
            <a:ext cx="144000" cy="27622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 flipH="1">
            <a:off x="-791527" y="546496"/>
            <a:ext cx="144000" cy="62150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 flipH="1">
            <a:off x="-935527" y="3679031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 flipH="1">
            <a:off x="-791527" y="2925269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 flipH="1">
            <a:off x="-935527" y="2164650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 flipH="1">
            <a:off x="-791527" y="1410889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 flipH="1">
            <a:off x="-935527" y="1168800"/>
            <a:ext cx="144000" cy="23980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4" name="Rectangle 23"/>
          <p:cNvSpPr/>
          <p:nvPr userDrawn="1"/>
        </p:nvSpPr>
        <p:spPr>
          <a:xfrm flipH="1">
            <a:off x="-935527" y="276225"/>
            <a:ext cx="144000" cy="270272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>
            <a:off x="-791527" y="4435078"/>
            <a:ext cx="144000" cy="432197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729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5" r:id="rId2"/>
    <p:sldLayoutId id="2147483666" r:id="rId3"/>
    <p:sldLayoutId id="2147483658" r:id="rId4"/>
    <p:sldLayoutId id="2147483655" r:id="rId5"/>
    <p:sldLayoutId id="2147483652" r:id="rId6"/>
    <p:sldLayoutId id="2147483654" r:id="rId7"/>
    <p:sldLayoutId id="2147483651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6" r:id="rId15"/>
    <p:sldLayoutId id="2147483669" r:id="rId16"/>
    <p:sldLayoutId id="2147483670" r:id="rId1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i="0" kern="1200">
          <a:solidFill>
            <a:schemeClr val="tx2"/>
          </a:solidFill>
          <a:latin typeface="Bebas Neue Regular" charset="0"/>
          <a:ea typeface="Bebas Neue Regular" charset="0"/>
          <a:cs typeface="Bebas Neue Regular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1" i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360363" indent="-17462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tabLst/>
        <a:defRPr sz="1100" kern="1200">
          <a:solidFill>
            <a:schemeClr val="tx2"/>
          </a:solidFill>
          <a:latin typeface="+mn-lt"/>
          <a:ea typeface="+mn-ea"/>
          <a:cs typeface="+mn-cs"/>
        </a:defRPr>
      </a:lvl3pPr>
      <a:lvl4pPr marL="533400" indent="-173038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ingdings" panose="05000000000000000000" pitchFamily="2" charset="2"/>
        <a:buChar char="§"/>
        <a:tabLst/>
        <a:defRPr sz="11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714375" indent="-180975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Wingdings" panose="05000000000000000000" pitchFamily="2" charset="2"/>
        <a:buChar char="§"/>
        <a:tabLst/>
        <a:defRPr sz="11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accent1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accent3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4" userDrawn="1">
          <p15:clr>
            <a:srgbClr val="F26B43"/>
          </p15:clr>
        </p15:guide>
        <p15:guide id="2" orient="horz" pos="577" userDrawn="1">
          <p15:clr>
            <a:srgbClr val="F26B43"/>
          </p15:clr>
        </p15:guide>
        <p15:guide id="3" orient="horz" pos="735" userDrawn="1">
          <p15:clr>
            <a:srgbClr val="F26B43"/>
          </p15:clr>
        </p15:guide>
        <p15:guide id="4" orient="horz" pos="889" userDrawn="1">
          <p15:clr>
            <a:srgbClr val="F26B43"/>
          </p15:clr>
        </p15:guide>
        <p15:guide id="5" orient="horz" pos="1365" userDrawn="1">
          <p15:clr>
            <a:srgbClr val="F26B43"/>
          </p15:clr>
        </p15:guide>
        <p15:guide id="6" orient="horz" pos="1841" userDrawn="1">
          <p15:clr>
            <a:srgbClr val="F26B43"/>
          </p15:clr>
        </p15:guide>
        <p15:guide id="7" orient="horz" pos="2794" userDrawn="1">
          <p15:clr>
            <a:srgbClr val="F26B43"/>
          </p15:clr>
        </p15:guide>
        <p15:guide id="8" orient="horz" pos="2318" userDrawn="1">
          <p15:clr>
            <a:srgbClr val="F26B43"/>
          </p15:clr>
        </p15:guide>
        <p15:guide id="9" orient="horz" pos="3066" userDrawn="1">
          <p15:clr>
            <a:srgbClr val="F26B43"/>
          </p15:clr>
        </p15:guide>
        <p15:guide id="10" pos="226" userDrawn="1">
          <p15:clr>
            <a:srgbClr val="F26B43"/>
          </p15:clr>
        </p15:guide>
        <p15:guide id="11" pos="1814" userDrawn="1">
          <p15:clr>
            <a:srgbClr val="F26B43"/>
          </p15:clr>
        </p15:guide>
        <p15:guide id="12" pos="2086" userDrawn="1">
          <p15:clr>
            <a:srgbClr val="F26B43"/>
          </p15:clr>
        </p15:guide>
        <p15:guide id="13" pos="3674" userDrawn="1">
          <p15:clr>
            <a:srgbClr val="F26B43"/>
          </p15:clr>
        </p15:guide>
        <p15:guide id="14" pos="3946" userDrawn="1">
          <p15:clr>
            <a:srgbClr val="F26B43"/>
          </p15:clr>
        </p15:guide>
        <p15:guide id="15" pos="55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dirty="0"/>
            </a:br>
            <a:r>
              <a:rPr lang="en-US" sz="2800" dirty="0"/>
              <a:t>Aptamer-Based Detection of Enteric Viruses in </a:t>
            </a:r>
            <a:r>
              <a:rPr lang="en-US" sz="2800" dirty="0" err="1"/>
              <a:t>Faecal Samples</a:t>
            </a:r>
            <a:r>
              <a:rPr lang="en-US" sz="2800" dirty="0"/>
              <a:t>: A Novel Platform to Assess the Viral Risk of </a:t>
            </a:r>
            <a:r>
              <a:rPr lang="en-US" sz="2800" dirty="0" err="1"/>
              <a:t>Faecal Microbiota</a:t>
            </a:r>
            <a:r>
              <a:rPr lang="en-US" sz="2800" dirty="0"/>
              <a:t> Transplants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Nazanin KHAZALI</a:t>
            </a:r>
            <a:br>
              <a:rPr lang="en-US" dirty="0"/>
            </a:br>
            <a:r>
              <a:rPr lang="en-US" dirty="0"/>
              <a:t>PhD student 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Supervisor: Dr. Leslie OGORZALY</a:t>
            </a:r>
          </a:p>
          <a:p>
            <a:pPr lvl="1"/>
            <a:endParaRPr lang="en-US" dirty="0"/>
          </a:p>
          <a:p>
            <a:pPr lvl="1"/>
            <a:br>
              <a:rPr lang="en-US" dirty="0"/>
            </a:b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75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b="1" dirty="0"/>
              <a:t>Why we need a rapid test?</a:t>
            </a:r>
            <a:br>
              <a:rPr lang="en-US" b="1" cap="all" dirty="0"/>
            </a:b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17397-EDF2-D071-C14C-78C2456D9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44" y="915988"/>
            <a:ext cx="8425225" cy="359388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AC5B4A-CF38-B3DA-50FE-F86D13DFF59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9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F576-2C29-BB0B-1770-1B4E219B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b="1" dirty="0"/>
              <a:t>Why norovirus?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790777-1BB5-0170-F4F8-9E6BC8E69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E5E2DA-915B-06B8-230D-161874119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EE76D8-0D42-B669-3C11-C599273CB592}"/>
              </a:ext>
            </a:extLst>
          </p:cNvPr>
          <p:cNvSpPr txBox="1"/>
          <p:nvPr/>
        </p:nvSpPr>
        <p:spPr>
          <a:xfrm>
            <a:off x="421445" y="1110126"/>
            <a:ext cx="6379200" cy="34470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leading cause</a:t>
            </a:r>
            <a:endParaRPr lang="en-US" sz="1600" b="1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acute gastroenteritis across all age groups</a:t>
            </a:r>
          </a:p>
          <a:p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Outbreak hotspots</a:t>
            </a:r>
            <a:endParaRPr lang="en-US" sz="1600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care homes, schools, cruise ships, military &amp; food industry</a:t>
            </a:r>
          </a:p>
          <a:p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Extremely low infectious dose</a:t>
            </a:r>
            <a:endParaRPr lang="en-US" sz="1600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 few as ~18 viral particles can cause infection</a:t>
            </a:r>
          </a:p>
          <a:p>
            <a:endParaRPr lang="en-US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Massive viral shedding</a:t>
            </a:r>
            <a:endParaRPr lang="en-US" sz="1600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copies per gram of stool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0533D2-6D26-7036-EAB5-5FD9EF75A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356" y="2623436"/>
            <a:ext cx="3272578" cy="18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4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0000" y="276456"/>
            <a:ext cx="8424000" cy="6395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dirty="0" b="1"/>
              <a:t>Three work packages</a:t>
            </a:r>
          </a:p>
        </p:txBody>
      </p:sp>
      <p:sp>
        <p:nvSpPr>
          <p:cNvPr id="3" name="Shape 1"/>
          <p:cNvSpPr/>
          <p:nvPr/>
        </p:nvSpPr>
        <p:spPr>
          <a:xfrm>
            <a:off x="1303020" y="2160270"/>
            <a:ext cx="6515100" cy="0"/>
          </a:xfrm>
          <a:prstGeom prst="line">
            <a:avLst/>
          </a:prstGeom>
          <a:noFill/>
          <a:ln w="508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roadmap-WP1"/>
          <p:cNvSpPr/>
          <p:nvPr/>
        </p:nvSpPr>
        <p:spPr>
          <a:xfrm>
            <a:off x="1303020" y="1611630"/>
            <a:ext cx="1097280" cy="109728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 txBox="1"/>
          <p:nvPr/>
        </p:nvSpPr>
        <p:spPr>
          <a:xfrm>
            <a:off x="1303020" y="161163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chemeClr val="bg1"/>
                </a:solidFill>
              </a:rPr>
              <a:t>WP1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48940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50" b="1" dirty="0"/>
              <a:t>How much does the viral picture change across the interval?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71900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5" i="1" dirty="0">
                <a:solidFill>
                  <a:schemeClr val="tx2"/>
                </a:solidFill>
              </a:rPr>
              <a:t>how large is the gap</a:t>
            </a:r>
            <a:endParaRPr lang="en-US" sz="1125" dirty="0"/>
          </a:p>
        </p:txBody>
      </p:sp>
      <p:sp>
        <p:nvSpPr>
          <p:cNvPr id="8" name="roadmap-WP2"/>
          <p:cNvSpPr/>
          <p:nvPr/>
        </p:nvSpPr>
        <p:spPr>
          <a:xfrm>
            <a:off x="4114800" y="1611630"/>
            <a:ext cx="1097280" cy="109728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 txBox="1"/>
          <p:nvPr/>
        </p:nvSpPr>
        <p:spPr>
          <a:xfrm>
            <a:off x="4114800" y="161163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chemeClr val="bg1"/>
                </a:solidFill>
              </a:rPr>
              <a:t>WP2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3497580" y="2948940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50" b="1" dirty="0"/>
              <a:t>How do our aptamers recognise the virus — in buffer and in stool?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497580" y="3771900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5" i="1" dirty="0">
                <a:solidFill>
                  <a:schemeClr val="tx2"/>
                </a:solidFill>
              </a:rPr>
              <a:t>the recognition</a:t>
            </a:r>
            <a:endParaRPr lang="en-US" sz="1125" dirty="0"/>
          </a:p>
        </p:txBody>
      </p:sp>
      <p:sp>
        <p:nvSpPr>
          <p:cNvPr id="12" name="roadmap-WP3"/>
          <p:cNvSpPr/>
          <p:nvPr/>
        </p:nvSpPr>
        <p:spPr>
          <a:xfrm>
            <a:off x="6926580" y="1611630"/>
            <a:ext cx="1097280" cy="1097280"/>
          </a:xfrm>
          <a:prstGeom prst="ellipse">
            <a:avLst/>
          </a:prstGeom>
          <a:solidFill>
            <a:schemeClr val="accent4"/>
          </a:solidFill>
          <a:ln w="508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11"/>
          <p:cNvSpPr txBox="1"/>
          <p:nvPr/>
        </p:nvSpPr>
        <p:spPr>
          <a:xfrm>
            <a:off x="6926580" y="161163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b="1" dirty="0">
                <a:solidFill>
                  <a:schemeClr val="bg1"/>
                </a:solidFill>
              </a:rPr>
              <a:t>WP3</a:t>
            </a:r>
            <a:endParaRPr lang="en-US" sz="19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948940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50" b="1" dirty="0"/>
              <a:t>Can that recognition become a visible line on a strip?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771900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25" i="1" dirty="0">
                <a:solidFill>
                  <a:schemeClr val="tx2"/>
                </a:solidFill>
              </a:rPr>
              <a:t>the test</a:t>
            </a:r>
            <a:endParaRPr lang="en-US" sz="11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0000" y="484632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25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82A6-17DD-B909-6878-55BDA370C8BC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dirty="0" b="1"/>
              <a:t>Work package 1: How much does the viral picture change across the interval?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DE48B-690E-71B9-6095-A70E0C367E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6EDD99-3628-DB0C-0B54-6106380A6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20" y="1254362"/>
            <a:ext cx="8254741" cy="263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66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096B-A681-DD0B-9EE8-ECF2011E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b="1" dirty="0"/>
              <a:t>How do our aptamers </a:t>
            </a:r>
            <a:r>
              <a:rPr lang="en-US" b="1" dirty="0" err="1"/>
              <a:t>recognise</a:t>
            </a:r>
            <a:r>
              <a:rPr lang="en-US" b="1" dirty="0"/>
              <a:t> the virus — in buffer and in stool?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F22DF26-6B71-0D09-6026-C2B60E9AC8A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63" y="1361287"/>
            <a:ext cx="8598677" cy="286622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293998-4826-B67E-85BF-B7AAD91E0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3DABDB-1FBB-3E97-82B4-E77E453E4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910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60000" y="1024128"/>
            <a:ext cx="842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A5F5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the candidate aptamers were generated — my panel deliberately spans all four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blurRad="50800" dist="12700" dir="5400000" algn="bl" rotWithShape="0">
              <a:srgbClr val="0E4F4C">
                <a:alpha val="11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5935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D7ECE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5800" y="1645920"/>
            <a:ext cx="475488" cy="475488"/>
          </a:xfrm>
          <a:prstGeom prst="ellipse">
            <a:avLst/>
          </a:prstGeom>
          <a:solidFill>
            <a:schemeClr val="accent2"/>
          </a:solidFill>
          <a:ln/>
          <a:effectLst>
            <a:outerShdw blurRad="63500" dist="25400" dir="5400000" algn="bl" rotWithShape="0">
              <a:srgbClr val="0E4F4C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icons/w_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7647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E4F4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Recombinant P-domain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04088" y="2176272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F5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most antigenically variable part of the capsid — easy to express &amp; purify as a target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04088" y="2615184"/>
            <a:ext cx="398678" cy="237744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04088" y="2615184"/>
            <a:ext cx="3986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212494" y="2615184"/>
            <a:ext cx="541325" cy="237744"/>
          </a:xfrm>
          <a:prstGeom prst="roundRect">
            <a:avLst>
              <a:gd name="adj" fmla="val 19231"/>
            </a:avLst>
          </a:prstGeom>
          <a:solidFill>
            <a:srgbClr val="FFFF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212494" y="2615184"/>
            <a:ext cx="5413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M6-2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863547" y="2615184"/>
            <a:ext cx="612648" cy="237744"/>
          </a:xfrm>
          <a:prstGeom prst="roundRect">
            <a:avLst>
              <a:gd name="adj" fmla="val 19231"/>
            </a:avLst>
          </a:prstGeom>
          <a:solidFill>
            <a:srgbClr val="FFFF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863547" y="2615184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Buf-2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709160" y="1463040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blurRad="50800" dist="12700" dir="5400000" algn="bl" rotWithShape="0">
              <a:srgbClr val="0E4F4C">
                <a:alpha val="11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1655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D7ECE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892040" y="1645920"/>
            <a:ext cx="475488" cy="475488"/>
          </a:xfrm>
          <a:prstGeom prst="ellipse">
            <a:avLst/>
          </a:prstGeom>
          <a:solidFill>
            <a:schemeClr val="accent2"/>
          </a:solidFill>
          <a:ln/>
          <a:effectLst>
            <a:outerShdw blurRad="63500" dist="25400" dir="5400000" algn="bl" rotWithShape="0">
              <a:srgbClr val="0E4F4C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" descr="icons/w_vir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764792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8640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E4F4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Whole VP1 capsid protein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910328" y="2176272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F5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His-tagged full capsid — the aptamer sees the entire fold, including the conserved S-domain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910328" y="2615184"/>
            <a:ext cx="612648" cy="237744"/>
          </a:xfrm>
          <a:prstGeom prst="roundRect">
            <a:avLst>
              <a:gd name="adj" fmla="val 19231"/>
            </a:avLst>
          </a:prstGeom>
          <a:solidFill>
            <a:srgbClr val="FFFF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910328" y="2615184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Beier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02920" y="3035808"/>
            <a:ext cx="4023360" cy="1481328"/>
          </a:xfrm>
          <a:prstGeom prst="roundRect">
            <a:avLst>
              <a:gd name="adj" fmla="val 5556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FF8A6B"/>
            </a:solidFill>
            <a:prstDash val="solid"/>
          </a:ln>
          <a:effectLst>
            <a:outerShdw blurRad="50800" dist="12700" dir="5400000" algn="bl" rotWithShape="0">
              <a:srgbClr val="0E4F4C">
                <a:alpha val="11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3959352" y="3108960"/>
            <a:ext cx="457200" cy="457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8A6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85800" y="3218688"/>
            <a:ext cx="475488" cy="475488"/>
          </a:xfrm>
          <a:prstGeom prst="ellipse">
            <a:avLst/>
          </a:prstGeom>
          <a:solidFill>
            <a:srgbClr val="E85A3C"/>
          </a:solidFill>
          <a:ln/>
          <a:effectLst>
            <a:outerShdw blurRad="63500" dist="25400" dir="5400000" algn="bl" rotWithShape="0">
              <a:srgbClr val="0E4F4C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3" descr="icons/w_via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337560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8016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E4F4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Whole virus from stool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704088" y="374904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F5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 real stool particles — the most clinically realistic context in the literature, no recombinant stand-in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704088" y="4187952"/>
            <a:ext cx="969264" cy="237744"/>
          </a:xfrm>
          <a:prstGeom prst="roundRect">
            <a:avLst>
              <a:gd name="adj" fmla="val 19231"/>
            </a:avLst>
          </a:prstGeom>
          <a:solidFill>
            <a:srgbClr val="E85A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704088" y="418795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SMV-series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1783080" y="4187952"/>
            <a:ext cx="612648" cy="237744"/>
          </a:xfrm>
          <a:prstGeom prst="roundRect">
            <a:avLst>
              <a:gd name="adj" fmla="val 19231"/>
            </a:avLst>
          </a:prstGeom>
          <a:solidFill>
            <a:srgbClr val="FFFF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1783080" y="4187952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SMV25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4709160" y="3035808"/>
            <a:ext cx="40233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CEA"/>
            </a:solidFill>
            <a:prstDash val="solid"/>
          </a:ln>
          <a:effectLst>
            <a:outerShdw blurRad="50800" dist="12700" dir="5400000" algn="bl" rotWithShape="0">
              <a:srgbClr val="0E4F4C">
                <a:alpha val="11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816559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D7ECE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4892040" y="3218688"/>
            <a:ext cx="475488" cy="475488"/>
          </a:xfrm>
          <a:prstGeom prst="ellipse">
            <a:avLst/>
          </a:prstGeom>
          <a:solidFill>
            <a:schemeClr val="accent2"/>
          </a:solidFill>
          <a:ln/>
          <a:effectLst>
            <a:outerShdw blurRad="63500" dist="25400" dir="5400000" algn="bl" rotWithShape="0">
              <a:srgbClr val="0E4F4C">
                <a:alpha val="2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4" descr="icons/w_bra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337560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4864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E4F4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Parallel SELEX + redesign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4910328" y="374904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F5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genotypes selected at once, then winning sequences computationally re-engineered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5"/>
          <p:cNvSpPr/>
          <p:nvPr/>
        </p:nvSpPr>
        <p:spPr>
          <a:xfrm>
            <a:off x="4910328" y="4187952"/>
            <a:ext cx="612648" cy="237744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4910328" y="4187952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AP4-2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5632704" y="4187952"/>
            <a:ext cx="683971" cy="237744"/>
          </a:xfrm>
          <a:prstGeom prst="roundRect">
            <a:avLst>
              <a:gd name="adj" fmla="val 19231"/>
            </a:avLst>
          </a:prstGeom>
          <a:solidFill>
            <a:srgbClr val="FFFF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5632704" y="4187952"/>
            <a:ext cx="6839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AP17-4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9"/>
          <p:cNvSpPr/>
          <p:nvPr/>
        </p:nvSpPr>
        <p:spPr>
          <a:xfrm>
            <a:off x="6426403" y="4187952"/>
            <a:ext cx="683971" cy="237744"/>
          </a:xfrm>
          <a:prstGeom prst="roundRect">
            <a:avLst>
              <a:gd name="adj" fmla="val 19231"/>
            </a:avLst>
          </a:prstGeom>
          <a:solidFill>
            <a:srgbClr val="FFFF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6426403" y="4187952"/>
            <a:ext cx="6839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AP4-11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4064F18-C233-98C9-6B01-DDAB843DAFE8}"/>
              </a:ext>
            </a:extLst>
          </p:cNvPr>
          <p:cNvGrpSpPr/>
          <p:nvPr/>
        </p:nvGrpSpPr>
        <p:grpSpPr>
          <a:xfrm>
            <a:off x="238137" y="2376996"/>
            <a:ext cx="1240372" cy="991556"/>
            <a:chOff x="238137" y="2376996"/>
            <a:chExt cx="1240372" cy="991556"/>
          </a:xfrm>
          <a:solidFill>
            <a:schemeClr val="accent2"/>
          </a:solidFill>
        </p:grpSpPr>
        <p:sp>
          <p:nvSpPr>
            <p:cNvPr id="50" name="Arrow: Bent 49">
              <a:extLst>
                <a:ext uri="{FF2B5EF4-FFF2-40B4-BE49-F238E27FC236}">
                  <a16:creationId xmlns:a16="http://schemas.microsoft.com/office/drawing/2014/main" id="{504D0D2F-4120-87A2-391A-DDE53EFF273C}"/>
                </a:ext>
              </a:extLst>
            </p:cNvPr>
            <p:cNvSpPr/>
            <p:nvPr/>
          </p:nvSpPr>
          <p:spPr>
            <a:xfrm rot="10800000">
              <a:off x="439306" y="2852928"/>
              <a:ext cx="1039203" cy="173736"/>
            </a:xfrm>
            <a:prstGeom prst="bent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35739B0-223E-7872-4E0C-6D62DA12F106}"/>
                </a:ext>
              </a:extLst>
            </p:cNvPr>
            <p:cNvSpPr txBox="1"/>
            <p:nvPr/>
          </p:nvSpPr>
          <p:spPr>
            <a:xfrm rot="16200000">
              <a:off x="-173002" y="2788135"/>
              <a:ext cx="991556" cy="1692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500" dirty="0"/>
                <a:t>broadest genotype reactivity</a:t>
              </a: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A0306B09-AB7D-8A19-5707-9297A27A21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599" b="91774" l="5750" r="91250">
                        <a14:foregroundMark x1="41500" y1="10540" x2="42000" y2="5913"/>
                        <a14:foregroundMark x1="39250" y1="7969" x2="48750" y2="7969"/>
                        <a14:foregroundMark x1="48750" y1="7969" x2="49250" y2="7969"/>
                        <a14:foregroundMark x1="38750" y1="7969" x2="42250" y2="4884"/>
                        <a14:foregroundMark x1="37750" y1="7969" x2="41000" y2="4370"/>
                        <a14:foregroundMark x1="10750" y1="68638" x2="6750" y2="78406"/>
                        <a14:foregroundMark x1="6750" y1="78406" x2="12000" y2="91517"/>
                        <a14:foregroundMark x1="12000" y1="91517" x2="37500" y2="89717"/>
                        <a14:foregroundMark x1="7750" y1="70694" x2="5750" y2="80206"/>
                        <a14:foregroundMark x1="5750" y1="80206" x2="8000" y2="88175"/>
                        <a14:foregroundMark x1="45250" y1="91003" x2="56250" y2="92288"/>
                        <a14:foregroundMark x1="56250" y1="92288" x2="77250" y2="91774"/>
                        <a14:foregroundMark x1="77250" y1="91774" x2="80000" y2="91774"/>
                        <a14:foregroundMark x1="91750" y1="73522" x2="91250" y2="83290"/>
                        <a14:foregroundMark x1="91250" y1="83290" x2="91250" y2="83548"/>
                        <a14:foregroundMark x1="35500" y1="53985" x2="35500" y2="50386"/>
                        <a14:foregroundMark x1="35250" y1="50129" x2="37000" y2="50129"/>
                        <a14:foregroundMark x1="38250" y1="5913" x2="38250" y2="5913"/>
                        <a14:foregroundMark x1="38000" y1="5656" x2="39000" y2="6427"/>
                        <a14:foregroundMark x1="40500" y1="48586" x2="40750" y2="60925"/>
                        <a14:foregroundMark x1="40750" y1="60925" x2="29250" y2="62725"/>
                        <a14:foregroundMark x1="29250" y1="62725" x2="27250" y2="47558"/>
                        <a14:foregroundMark x1="27250" y1="47558" x2="37000" y2="44730"/>
                        <a14:foregroundMark x1="37000" y1="44730" x2="40750" y2="47044"/>
                        <a14:foregroundMark x1="37500" y1="51928" x2="36500" y2="55270"/>
                        <a14:foregroundMark x1="35750" y1="55270" x2="38500" y2="59126"/>
                        <a14:foregroundMark x1="63250" y1="52185" x2="59000" y2="58869"/>
                        <a14:foregroundMark x1="59250" y1="65039" x2="56750" y2="55527"/>
                        <a14:foregroundMark x1="56750" y1="55527" x2="67000" y2="47815"/>
                        <a14:foregroundMark x1="67000" y1="47815" x2="71250" y2="57841"/>
                        <a14:foregroundMark x1="71250" y1="57841" x2="65500" y2="65039"/>
                        <a14:foregroundMark x1="58250" y1="54242" x2="64250" y2="45758"/>
                        <a14:foregroundMark x1="64250" y1="45758" x2="55000" y2="48072"/>
                        <a14:foregroundMark x1="55000" y1="48072" x2="53500" y2="53213"/>
                        <a14:foregroundMark x1="38000" y1="73779" x2="50250" y2="77121"/>
                        <a14:foregroundMark x1="50250" y1="77121" x2="46500" y2="77121"/>
                        <a14:foregroundMark x1="46000" y1="72751" x2="56500" y2="77635"/>
                        <a14:foregroundMark x1="56500" y1="77635" x2="55250" y2="781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9913" y="4261104"/>
            <a:ext cx="216282" cy="21033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1783D1E-637D-77F2-C1CD-4A8B1BB008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599" b="91774" l="5750" r="91250">
                        <a14:foregroundMark x1="41500" y1="10540" x2="42000" y2="5913"/>
                        <a14:foregroundMark x1="39250" y1="7969" x2="48750" y2="7969"/>
                        <a14:foregroundMark x1="48750" y1="7969" x2="49250" y2="7969"/>
                        <a14:foregroundMark x1="38750" y1="7969" x2="42250" y2="4884"/>
                        <a14:foregroundMark x1="37750" y1="7969" x2="41000" y2="4370"/>
                        <a14:foregroundMark x1="10750" y1="68638" x2="6750" y2="78406"/>
                        <a14:foregroundMark x1="6750" y1="78406" x2="12000" y2="91517"/>
                        <a14:foregroundMark x1="12000" y1="91517" x2="37500" y2="89717"/>
                        <a14:foregroundMark x1="7750" y1="70694" x2="5750" y2="80206"/>
                        <a14:foregroundMark x1="5750" y1="80206" x2="8000" y2="88175"/>
                        <a14:foregroundMark x1="45250" y1="91003" x2="56250" y2="92288"/>
                        <a14:foregroundMark x1="56250" y1="92288" x2="77250" y2="91774"/>
                        <a14:foregroundMark x1="77250" y1="91774" x2="80000" y2="91774"/>
                        <a14:foregroundMark x1="91750" y1="73522" x2="91250" y2="83290"/>
                        <a14:foregroundMark x1="91250" y1="83290" x2="91250" y2="83548"/>
                        <a14:foregroundMark x1="35500" y1="53985" x2="35500" y2="50386"/>
                        <a14:foregroundMark x1="35250" y1="50129" x2="37000" y2="50129"/>
                        <a14:foregroundMark x1="38250" y1="5913" x2="38250" y2="5913"/>
                        <a14:foregroundMark x1="38000" y1="5656" x2="39000" y2="6427"/>
                        <a14:foregroundMark x1="40500" y1="48586" x2="40750" y2="60925"/>
                        <a14:foregroundMark x1="40750" y1="60925" x2="29250" y2="62725"/>
                        <a14:foregroundMark x1="29250" y1="62725" x2="27250" y2="47558"/>
                        <a14:foregroundMark x1="27250" y1="47558" x2="37000" y2="44730"/>
                        <a14:foregroundMark x1="37000" y1="44730" x2="40750" y2="47044"/>
                        <a14:foregroundMark x1="37500" y1="51928" x2="36500" y2="55270"/>
                        <a14:foregroundMark x1="35750" y1="55270" x2="38500" y2="59126"/>
                        <a14:foregroundMark x1="63250" y1="52185" x2="59000" y2="58869"/>
                        <a14:foregroundMark x1="59250" y1="65039" x2="56750" y2="55527"/>
                        <a14:foregroundMark x1="56750" y1="55527" x2="67000" y2="47815"/>
                        <a14:foregroundMark x1="67000" y1="47815" x2="71250" y2="57841"/>
                        <a14:foregroundMark x1="71250" y1="57841" x2="65500" y2="65039"/>
                        <a14:foregroundMark x1="58250" y1="54242" x2="64250" y2="45758"/>
                        <a14:foregroundMark x1="64250" y1="45758" x2="55000" y2="48072"/>
                        <a14:foregroundMark x1="55000" y1="48072" x2="53500" y2="53213"/>
                        <a14:foregroundMark x1="38000" y1="73779" x2="50250" y2="77121"/>
                        <a14:foregroundMark x1="50250" y1="77121" x2="46500" y2="77121"/>
                        <a14:foregroundMark x1="46000" y1="72751" x2="56500" y2="77635"/>
                        <a14:foregroundMark x1="56500" y1="77635" x2="55250" y2="781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1917" y="2683764"/>
            <a:ext cx="192753" cy="187452"/>
          </a:xfrm>
          <a:prstGeom prst="rect">
            <a:avLst/>
          </a:prstGeom>
        </p:spPr>
      </p:pic>
      <p:sp>
        <p:nvSpPr>
          <p:cNvPr id="56" name="Arrow: Bent 55">
            <a:extLst>
              <a:ext uri="{FF2B5EF4-FFF2-40B4-BE49-F238E27FC236}">
                <a16:creationId xmlns:a16="http://schemas.microsoft.com/office/drawing/2014/main" id="{A241DAE7-310E-C408-F04C-47C0714EDFCE}"/>
              </a:ext>
            </a:extLst>
          </p:cNvPr>
          <p:cNvSpPr/>
          <p:nvPr/>
        </p:nvSpPr>
        <p:spPr>
          <a:xfrm rot="10800000">
            <a:off x="2089404" y="4366270"/>
            <a:ext cx="60781" cy="333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854119-278F-1053-996B-413F6A900E49}"/>
              </a:ext>
            </a:extLst>
          </p:cNvPr>
          <p:cNvSpPr txBox="1"/>
          <p:nvPr/>
        </p:nvSpPr>
        <p:spPr>
          <a:xfrm>
            <a:off x="2286000" y="4663440"/>
            <a:ext cx="365760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Selex against the whole extracted human norovirus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0F576-2C29-BB0B-1770-1B4E219B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b="1" dirty="0"/>
              <a:t>Which aptamer to choose? Four selection strategies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E5E2DA-915B-06B8-230D-161874119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3</a:t>
            </a:fld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A1E7-8B87-03D4-76DD-9AAAC243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dirty="0" b="1"/>
              <a:t>Six candidate with sequences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08B20-3150-42D4-7D48-F183D0B7971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744C9B-0D76-1B0C-0855-61B66BAFFC3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F6AAE9-8974-39EC-C534-F218E1B00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3FD542-61E9-F20F-7753-2179C5F8B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8</a:t>
            </a:fld>
            <a:endParaRPr lang="en-GB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ECB0118-EAAE-32B2-784E-7DB7482D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246147"/>
              </p:ext>
            </p:extLst>
          </p:nvPr>
        </p:nvGraphicFramePr>
        <p:xfrm>
          <a:off x="926756" y="1044055"/>
          <a:ext cx="7289195" cy="340387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45059">
                  <a:extLst>
                    <a:ext uri="{9D8B030D-6E8A-4147-A177-3AD203B41FA5}">
                      <a16:colId xmlns:a16="http://schemas.microsoft.com/office/drawing/2014/main" val="1542483916"/>
                    </a:ext>
                  </a:extLst>
                </a:gridCol>
                <a:gridCol w="713548">
                  <a:extLst>
                    <a:ext uri="{9D8B030D-6E8A-4147-A177-3AD203B41FA5}">
                      <a16:colId xmlns:a16="http://schemas.microsoft.com/office/drawing/2014/main" val="4273713537"/>
                    </a:ext>
                  </a:extLst>
                </a:gridCol>
                <a:gridCol w="5560182">
                  <a:extLst>
                    <a:ext uri="{9D8B030D-6E8A-4147-A177-3AD203B41FA5}">
                      <a16:colId xmlns:a16="http://schemas.microsoft.com/office/drawing/2014/main" val="2797373775"/>
                    </a:ext>
                  </a:extLst>
                </a:gridCol>
                <a:gridCol w="670406">
                  <a:extLst>
                    <a:ext uri="{9D8B030D-6E8A-4147-A177-3AD203B41FA5}">
                      <a16:colId xmlns:a16="http://schemas.microsoft.com/office/drawing/2014/main" val="220353448"/>
                    </a:ext>
                  </a:extLst>
                </a:gridCol>
              </a:tblGrid>
              <a:tr h="26183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</a:rPr>
                        <a:t>#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</a:rPr>
                        <a:t>Sequence (5′→3′)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</a:rPr>
                        <a:t>Length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1947159348"/>
                  </a:ext>
                </a:extLst>
              </a:tr>
              <a:tr h="39720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Beier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</a:rPr>
                        <a:t>GTCTGTAGTAGGGAGGATGGTCCGGGGCCCCGAGACGACGTTATCAGGC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49 </a:t>
                      </a:r>
                      <a:r>
                        <a:rPr lang="en-US" sz="800" dirty="0" err="1">
                          <a:solidFill>
                            <a:srgbClr val="333333"/>
                          </a:solidFill>
                          <a:effectLst/>
                        </a:rPr>
                        <a:t>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2531016085"/>
                  </a:ext>
                </a:extLst>
              </a:tr>
              <a:tr h="38830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2a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SMV25 (FL)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</a:rPr>
                        <a:t>AGTATACGTATTACCTGCAGCCATCTGTGTGAAGACTATATGGCGCTCACATATTTCTTTCCGATATCTCGGAGATCTTGC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81 </a:t>
                      </a:r>
                      <a:r>
                        <a:rPr lang="en-US" sz="800" dirty="0" err="1">
                          <a:solidFill>
                            <a:srgbClr val="333333"/>
                          </a:solidFill>
                          <a:effectLst/>
                        </a:rPr>
                        <a:t>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1223861480"/>
                  </a:ext>
                </a:extLst>
              </a:tr>
              <a:tr h="39720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2b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SMV25 (VR)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</a:rPr>
                        <a:t>CATCTGTGTGAAGACTATATGGCGCTCACATATTTCTTTCC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40 nt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482467391"/>
                  </a:ext>
                </a:extLst>
              </a:tr>
              <a:tr h="38830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3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AP4-11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</a:rPr>
                        <a:t>AACACGACCCACGTACCTGTGCGAGACACAGACCACCAAGGTGGGC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46 </a:t>
                      </a:r>
                      <a:r>
                        <a:rPr lang="en-US" sz="800" dirty="0" err="1">
                          <a:solidFill>
                            <a:srgbClr val="333333"/>
                          </a:solidFill>
                          <a:effectLst/>
                        </a:rPr>
                        <a:t>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2547221502"/>
                  </a:ext>
                </a:extLst>
              </a:tr>
              <a:tr h="39720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AP17-4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</a:rPr>
                        <a:t>GGAACACGACCCGTCTGTGGCCATCACAGTACAGCATCGTCGTG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44 nt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4201736410"/>
                  </a:ext>
                </a:extLst>
              </a:tr>
              <a:tr h="38830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5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Buf-2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</a:rPr>
                        <a:t>GAAATTGGGTTCGGGTTTGGGTTGGGATTACTTAGCGATG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40 </a:t>
                      </a:r>
                      <a:r>
                        <a:rPr lang="en-US" sz="800" dirty="0" err="1">
                          <a:solidFill>
                            <a:srgbClr val="333333"/>
                          </a:solidFill>
                          <a:effectLst/>
                        </a:rPr>
                        <a:t>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257673478"/>
                  </a:ext>
                </a:extLst>
              </a:tr>
              <a:tr h="39720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6a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M6-2 (FL)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</a:rPr>
                        <a:t>AGTATACGTATTACCTGCAGCTGGGAAGAGGTCCGGTAAATGCAGGGTCAGCCCGGAGAGCGATATCTCGGAGATCTTGC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effectLst/>
                        </a:rPr>
                        <a:t>80 nt</a:t>
                      </a:r>
                      <a:endParaRPr lang="en-US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2156852771"/>
                  </a:ext>
                </a:extLst>
              </a:tr>
              <a:tr h="38830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6b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M6-2 (VR)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</a:rPr>
                        <a:t>TGGGAAGAGGTCCGGTAAATGCAGGGTCAGCCCGGAGAG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effectLst/>
                        </a:rPr>
                        <a:t>39 </a:t>
                      </a:r>
                      <a:r>
                        <a:rPr lang="en-US" sz="800" dirty="0" err="1">
                          <a:solidFill>
                            <a:srgbClr val="333333"/>
                          </a:solidFill>
                          <a:effectLst/>
                        </a:rPr>
                        <a:t>nt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8728" marR="48728" marT="30455" marB="30455"/>
                </a:tc>
                <a:extLst>
                  <a:ext uri="{0D108BD9-81ED-4DB2-BD59-A6C34878D82A}">
                    <a16:rowId xmlns:a16="http://schemas.microsoft.com/office/drawing/2014/main" val="1877141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34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B0C9-210C-5350-B957-84E7DBA7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dirty="0" b="1"/>
              <a:t>Result of the </a:t>
            </a:r>
            <a:r>
              <a:rPr lang="en-US" dirty="0" err="1" b="1"/>
              <a:t>elasa</a:t>
            </a:r>
            <a:r>
              <a:rPr lang="en-US" dirty="0" b="1"/>
              <a:t>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5B1F1-EDE7-52E2-1CE0-4E360B8A990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1C594-480B-17F1-D259-06A3DB3A494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B1B8D7-B26F-5DF5-56DC-371A1E69F9E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6243C-CE6E-63CD-B5EA-F7667AB7A665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8705BE-6969-D22C-EEE5-94A1EF0C4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0C3E3C-9F9B-C9A6-3253-302F96C56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98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E84E-CD22-9DA7-8C19-AE22DCAD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dirty="0" b="1"/>
              <a:t>Why comparing is difficult?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81A1F-60E6-9447-29E6-A2FD3208A48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EF578-AEF8-1F0A-57EE-E651072375A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7E3335-4AB1-5DF1-DE99-955F421D021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457C76-4C59-E3E2-F9B3-FEF3D6473C1F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1CC6A0-EFDB-8D21-B49E-4FAF6A38E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F102D1-C6A7-E3A7-48C9-321DDEC6A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509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A5F2-00C3-E544-C9C9-CFA39D61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lang="en-US" dirty="0" err="1" b="1"/>
              <a:t>Fluorscence</a:t>
            </a:r>
            <a:r>
              <a:rPr lang="en-US" dirty="0" b="1"/>
              <a:t> polarization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7D221FC-E238-427F-6360-83CEBCE7F6C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14642"/>
          <a:stretch>
            <a:fillRect/>
          </a:stretch>
        </p:blipFill>
        <p:spPr>
          <a:xfrm>
            <a:off x="853058" y="1158478"/>
            <a:ext cx="7275559" cy="31715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CA951-1337-88F1-5B24-DBB170443FB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DBDCAF-F24B-2C43-2762-9C381D3E8F9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FDBB-7F8B-C94C-BDAB-5D18200A75D0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4F5C69D-ED4F-D633-3354-DC7DEAE98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A2A7C1-8217-CEF1-209D-3D442BD7D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619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67E4-A544-1F87-125D-03513C2F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</p:spPr>
        <p:txBody>
          <a:bodyPr/>
          <a:lstStyle/>
          <a:p>
            <a:r>
              <a:rPr b="1"/>
              <a:t>From recognition to a visible line on a strip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3A604-CC29-201F-67AC-5DAAFCD0985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08768-8267-F738-9C35-2796D9D7ACFD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55174F-FAD6-0457-F1FC-8F8E40546122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AFD48-4147-D41D-3972-2910B629E57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081E81-B44E-E2B6-07E6-E94549660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18404B-FE47-15DC-8427-52767ED49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4846320"/>
            <a:ext cx="457200" cy="182880"/>
          </a:xfrm>
        </p:spPr>
        <p:txBody>
          <a:bodyPr/>
          <a:lstStyle/>
          <a:p>
            <a:fld id="{F4669F32-90E1-ED4F-B6D9-07697D6A4E9E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10" name="Lateral flow strip anatomy" descr="Lateral flow strip anatomy">
            <a:extLst>
              <a:ext uri="{FF2B5EF4-FFF2-40B4-BE49-F238E27FC236}">
                <a16:creationId xmlns:a16="http://schemas.microsoft.com/office/drawing/2014/main" id="{C57A06EB-E37E-9FD0-ACF7-155345C3B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73"/>
          <a:stretch>
            <a:fillRect/>
          </a:stretch>
        </p:blipFill>
        <p:spPr>
          <a:xfrm>
            <a:off x="1051560" y="2236763"/>
            <a:ext cx="7375252" cy="23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4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6BA19-27D8-4B98-DFA3-46FE820D8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46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E8BC-E6AC-4576-6BF7-F012D26F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all" dirty="0"/>
              <a:t>Identifying aptamers suitable for stool testing</a:t>
            </a:r>
            <a:br>
              <a:rPr lang="en-US" b="1" cap="all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B386C3-5E9E-8F6D-0793-8FBFE112A299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b="0" dirty="0"/>
              <a:t>Determine whether our aptamers can </a:t>
            </a:r>
            <a:r>
              <a:rPr lang="en-US" b="0" dirty="0" err="1"/>
              <a:t>recognise</a:t>
            </a:r>
            <a:r>
              <a:rPr lang="en-US" b="0" dirty="0"/>
              <a:t> the target viruses specifically and retain useful binding in a complex </a:t>
            </a:r>
            <a:r>
              <a:rPr lang="en-US" b="0" dirty="0" err="1"/>
              <a:t>faecal</a:t>
            </a:r>
            <a:r>
              <a:rPr lang="en-US" b="0" dirty="0"/>
              <a:t> matrix.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A61654-299D-7C78-C65E-F584AC911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0228CA-C088-D1E8-F28B-DCF81032E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1E9D5-EE9E-C037-4C5D-FFF4157DC879}"/>
              </a:ext>
            </a:extLst>
          </p:cNvPr>
          <p:cNvSpPr txBox="1"/>
          <p:nvPr/>
        </p:nvSpPr>
        <p:spPr>
          <a:xfrm>
            <a:off x="429906" y="1734528"/>
            <a:ext cx="2313296" cy="261610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cap="all" dirty="0"/>
              <a:t>Purpose</a:t>
            </a:r>
            <a:endParaRPr lang="en-US" sz="800" dirty="0"/>
          </a:p>
          <a:p>
            <a:r>
              <a:rPr lang="en-US" b="1" cap="all" dirty="0"/>
              <a:t>Translate recognition into detection</a:t>
            </a:r>
          </a:p>
          <a:p>
            <a:r>
              <a:rPr lang="en-US" dirty="0"/>
              <a:t>Integrate the selected aptamers into a strip-based assay that generates a visible detection signal.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CD53F-BFF1-5367-2F81-3FEB6F347893}"/>
              </a:ext>
            </a:extLst>
          </p:cNvPr>
          <p:cNvSpPr txBox="1"/>
          <p:nvPr/>
        </p:nvSpPr>
        <p:spPr>
          <a:xfrm>
            <a:off x="3439236" y="1399121"/>
            <a:ext cx="2393239" cy="2893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cap="all" dirty="0"/>
              <a:t>General approach</a:t>
            </a:r>
            <a:endParaRPr lang="en-US" sz="800" dirty="0"/>
          </a:p>
          <a:p>
            <a:r>
              <a:rPr lang="en-US" b="1" cap="all" dirty="0"/>
              <a:t>Build, </a:t>
            </a:r>
            <a:r>
              <a:rPr lang="en-US" b="1" cap="all" dirty="0" err="1"/>
              <a:t>optimise</a:t>
            </a:r>
            <a:r>
              <a:rPr lang="en-US" b="1" cap="all" dirty="0"/>
              <a:t> and validate</a:t>
            </a:r>
          </a:p>
          <a:p>
            <a:r>
              <a:rPr lang="en-US" dirty="0"/>
              <a:t>Develop the prototype, resolve stool-related flow and background problems, and evaluate analytical performance against RT-qPCR.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E2D56-B858-9EB8-D208-EA4CD6E6B16E}"/>
              </a:ext>
            </a:extLst>
          </p:cNvPr>
          <p:cNvSpPr txBox="1"/>
          <p:nvPr/>
        </p:nvSpPr>
        <p:spPr>
          <a:xfrm>
            <a:off x="6353033" y="1168400"/>
            <a:ext cx="2265529" cy="34470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cap="all" dirty="0"/>
              <a:t>Expected contribution</a:t>
            </a:r>
            <a:endParaRPr lang="en-US" sz="800" dirty="0"/>
          </a:p>
          <a:p>
            <a:r>
              <a:rPr lang="en-US" b="1" cap="all" dirty="0"/>
              <a:t>Establish a modular platform</a:t>
            </a:r>
          </a:p>
          <a:p>
            <a:r>
              <a:rPr lang="en-US" dirty="0"/>
              <a:t>Validate the norovirus assay, assess multiplex feasibility and explore performance on naturally positive samples.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2265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7CC9-06CC-5480-3348-CDB2D107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them comparable?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09D477B-8F00-FA0B-E0DD-14ABB3EC576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8" b="14874"/>
          <a:stretch>
            <a:fillRect/>
          </a:stretch>
        </p:blipFill>
        <p:spPr>
          <a:xfrm>
            <a:off x="764347" y="926795"/>
            <a:ext cx="7274719" cy="382737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264D2-DE13-B86C-407F-26E9B3139F4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08483C-0498-6A49-BC72-51CAD0E90D5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the buffer can affect the structure of the aptamer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C9ADA3-A052-10F7-15F1-B229338CF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A92431-F10B-199C-3BBA-6FCCE43CB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1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5F37-CCE7-44D1-6604-5F632DA7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salt affect aptamer binding?</a:t>
            </a:r>
            <a:br>
              <a:rPr lang="en-US" b="1" dirty="0"/>
            </a:b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D228FA6-8DD6-9503-FDBC-F0F28CABDFC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9" b="20878"/>
          <a:stretch>
            <a:fillRect/>
          </a:stretch>
        </p:blipFill>
        <p:spPr>
          <a:xfrm>
            <a:off x="505797" y="1158478"/>
            <a:ext cx="8132406" cy="326667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D0499-3B1C-078E-51EE-8C330D694AF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291FA0-CE15-605C-F447-3D11455D598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89C406-9B84-883A-94B1-78C61011001C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FF9BC2-8F85-7A6B-9E83-1B84BB357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17FCB8-5F71-5C35-098F-B2CAF522E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621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3961-054B-5F97-84A9-25A60BD8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type of the ion matter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1E53F06-1976-E033-F833-38EFFEE5283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0" b="14888"/>
          <a:stretch>
            <a:fillRect/>
          </a:stretch>
        </p:blipFill>
        <p:spPr>
          <a:xfrm>
            <a:off x="764347" y="1279235"/>
            <a:ext cx="7341832" cy="298584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C36E3-871A-FA4C-2250-D8CAE80E67C8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640B92-1DEA-AD79-6F32-C04B0D0BA72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479BB-7070-AC02-8DA5-C961CD76A20F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3D66FA-DCCE-2FAE-0214-E754159BA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29B662-8B7E-183C-3D50-7C2574ED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840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9EBE-5BE0-DCCA-1462-3AB4C6A86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28B6A98-45FC-E041-4CD9-7D24A00AB43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46"/>
          <a:stretch>
            <a:fillRect/>
          </a:stretch>
        </p:blipFill>
        <p:spPr>
          <a:xfrm>
            <a:off x="558245" y="915988"/>
            <a:ext cx="7863136" cy="334551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140868-3962-93AC-CE5A-4506F9194E34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361225" y="658268"/>
            <a:ext cx="8424000" cy="2524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695457-5B13-315E-10B9-36A68FAED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CAF7CF-A8BB-A8CD-C3D6-E22AC8BDD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6026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E262-5972-3FA1-C6CE-B2742E93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all" dirty="0"/>
              <a:t>Assessing viral risk in healthy adults’ stools</a:t>
            </a:r>
            <a:br>
              <a:rPr lang="en-US" b="1" cap="all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7DB56D-D059-4BA5-27BF-9702DFF9659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b="0" dirty="0"/>
              <a:t>Establish the biological context for the rapid test: which viruses need to be detected, and at what levels?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25121C9-00D5-3AED-D72F-D82B0A0DA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A68C72-732E-71AF-BAB9-D75D31D03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BEA5A-0132-135D-D3B8-90DB4A16FA13}"/>
              </a:ext>
            </a:extLst>
          </p:cNvPr>
          <p:cNvSpPr txBox="1"/>
          <p:nvPr/>
        </p:nvSpPr>
        <p:spPr>
          <a:xfrm>
            <a:off x="558245" y="1537990"/>
            <a:ext cx="2183641" cy="276998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cap="all" dirty="0"/>
              <a:t>Purpose</a:t>
            </a:r>
            <a:endParaRPr lang="en-US" sz="800" dirty="0"/>
          </a:p>
          <a:p>
            <a:r>
              <a:rPr lang="en-US" b="1" cap="all" dirty="0" err="1"/>
              <a:t>Characterise</a:t>
            </a:r>
            <a:r>
              <a:rPr lang="en-US" b="1" cap="all" dirty="0"/>
              <a:t> the viral burden</a:t>
            </a:r>
          </a:p>
          <a:p>
            <a:r>
              <a:rPr lang="en-US" dirty="0"/>
              <a:t>Assess the presence and viral loads of enteric viruses in stool samples from healthy, asymptomatic adults.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193DE-3BCC-6BA5-5FE7-894F70440853}"/>
              </a:ext>
            </a:extLst>
          </p:cNvPr>
          <p:cNvSpPr txBox="1"/>
          <p:nvPr/>
        </p:nvSpPr>
        <p:spPr>
          <a:xfrm>
            <a:off x="3321287" y="1415339"/>
            <a:ext cx="2511188" cy="2893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cap="all" dirty="0"/>
              <a:t>General approach</a:t>
            </a:r>
            <a:endParaRPr lang="en-US" sz="800" dirty="0"/>
          </a:p>
          <a:p>
            <a:r>
              <a:rPr lang="en-US" b="1" cap="all" dirty="0"/>
              <a:t>Targeted and broader screening</a:t>
            </a:r>
          </a:p>
          <a:p>
            <a:r>
              <a:rPr lang="en-US" dirty="0"/>
              <a:t>Use RT-</a:t>
            </a:r>
            <a:r>
              <a:rPr lang="en-US" dirty="0" err="1"/>
              <a:t>ddPCR</a:t>
            </a:r>
            <a:r>
              <a:rPr lang="en-US" dirty="0"/>
              <a:t> for selected viruses and viral metagenomics on a subset to explore viruses beyond the targeted panel.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B6CB08-43BB-B59F-DE9D-54887781BE96}"/>
              </a:ext>
            </a:extLst>
          </p:cNvPr>
          <p:cNvSpPr txBox="1"/>
          <p:nvPr/>
        </p:nvSpPr>
        <p:spPr>
          <a:xfrm>
            <a:off x="6346161" y="1476038"/>
            <a:ext cx="2511188" cy="2893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cap="all" dirty="0"/>
              <a:t>Expected contribution</a:t>
            </a:r>
            <a:endParaRPr lang="en-US" sz="800" dirty="0"/>
          </a:p>
          <a:p>
            <a:r>
              <a:rPr lang="en-US" b="1" cap="all" dirty="0"/>
              <a:t>Inform diagnostic needs</a:t>
            </a:r>
          </a:p>
          <a:p>
            <a:r>
              <a:rPr lang="en-US" dirty="0"/>
              <a:t>Provide viral-load data and naturally positive samples to inform the development and evaluation of the rapid assay.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8401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2EB9-AAA4-BF84-3401-23B7DBDB9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>
              <a:spcBef>
                <a:spcPts val="1200"/>
              </a:spcBef>
              <a:spcAft>
                <a:spcPts val="1200"/>
              </a:spcAft>
            </a:pPr>
            <a:r>
              <a:rPr lang="en-US" sz="2800" b="1" i="0" cap="all" dirty="0">
                <a:solidFill>
                  <a:srgbClr val="537992"/>
                </a:solidFill>
                <a:effectLst/>
                <a:latin typeface="Bebas Neue" panose="020B0606020202050201" pitchFamily="34" charset="0"/>
              </a:rPr>
              <a:t>Selecting aptamers that can work in stool</a:t>
            </a:r>
            <a:br>
              <a:rPr lang="en-US" sz="2800" b="1" i="0" cap="all" dirty="0">
                <a:solidFill>
                  <a:srgbClr val="537992"/>
                </a:solidFill>
                <a:effectLst/>
                <a:latin typeface="Bebas Neue" panose="020B0606020202050201" pitchFamily="34" charset="0"/>
              </a:rPr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3640D0-BA59-7C30-7B79-EC82658019D0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b="0" dirty="0"/>
              <a:t>Before building a rapid test, we need recognition tools that remain functional in the sample we actually want to test.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7B9E92-56FF-3269-4E06-12A9A6C1E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61F444-D58F-CAB4-FAF9-3F75587D9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B5EF9C-99E2-161B-1CCE-4EF65D118430}"/>
              </a:ext>
            </a:extLst>
          </p:cNvPr>
          <p:cNvSpPr txBox="1"/>
          <p:nvPr/>
        </p:nvSpPr>
        <p:spPr>
          <a:xfrm>
            <a:off x="477672" y="1848286"/>
            <a:ext cx="2204113" cy="233910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dirty="0"/>
              <a:t>01 · ESTABLISH</a:t>
            </a:r>
            <a:endParaRPr lang="en-US" sz="800" dirty="0"/>
          </a:p>
          <a:p>
            <a:r>
              <a:rPr lang="en-US" b="1" cap="all" dirty="0"/>
              <a:t>Recognition in buffer</a:t>
            </a:r>
          </a:p>
          <a:p>
            <a:r>
              <a:rPr lang="en-US" dirty="0"/>
              <a:t>Compare candidate aptamers for target binding and specificity under controlled conditions.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11FD5-C272-574E-DA8A-DA3A187ACF32}"/>
              </a:ext>
            </a:extLst>
          </p:cNvPr>
          <p:cNvSpPr txBox="1"/>
          <p:nvPr/>
        </p:nvSpPr>
        <p:spPr>
          <a:xfrm>
            <a:off x="3405116" y="1853771"/>
            <a:ext cx="2518777" cy="206210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dirty="0"/>
              <a:t>02 · CHALLENGE</a:t>
            </a:r>
            <a:endParaRPr lang="en-US" sz="800" dirty="0"/>
          </a:p>
          <a:p>
            <a:r>
              <a:rPr lang="en-US" b="1" cap="all" dirty="0"/>
              <a:t>Performance in stool</a:t>
            </a:r>
          </a:p>
          <a:p>
            <a:r>
              <a:rPr lang="en-US" dirty="0"/>
              <a:t>Determine whether binding is retained when the </a:t>
            </a:r>
            <a:r>
              <a:rPr lang="en-US" dirty="0" err="1"/>
              <a:t>faecal</a:t>
            </a:r>
            <a:r>
              <a:rPr lang="en-US" dirty="0"/>
              <a:t> matrix is introduced.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CF25A-C09B-B968-CD2D-6A5F89F27208}"/>
              </a:ext>
            </a:extLst>
          </p:cNvPr>
          <p:cNvSpPr txBox="1"/>
          <p:nvPr/>
        </p:nvSpPr>
        <p:spPr>
          <a:xfrm>
            <a:off x="6383172" y="1590190"/>
            <a:ext cx="2402053" cy="289310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b="1" cap="all" dirty="0"/>
              <a:t>Expected contribution</a:t>
            </a:r>
            <a:endParaRPr lang="en-US" sz="800" dirty="0"/>
          </a:p>
          <a:p>
            <a:r>
              <a:rPr lang="en-US" b="1" cap="all" dirty="0"/>
              <a:t>Prepare the inputs for WP3</a:t>
            </a:r>
          </a:p>
          <a:p>
            <a:r>
              <a:rPr lang="en-US" dirty="0"/>
              <a:t>Select lead aptamers and workable sample conditions, supported by testing on naturally positive samples where available.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379762"/>
      </p:ext>
    </p:extLst>
  </p:cSld>
  <p:clrMapOvr>
    <a:masterClrMapping/>
  </p:clrMapOvr>
</p:sld>
</file>

<file path=ppt/theme/theme1.xml><?xml version="1.0" encoding="utf-8"?>
<a:theme xmlns:a="http://schemas.openxmlformats.org/drawingml/2006/main" name="LIST 2019_Multiple Slide Types Template">
  <a:themeElements>
    <a:clrScheme name="2019_LIST_Corporate_ColorTheme_CMYK">
      <a:dk1>
        <a:srgbClr val="141313"/>
      </a:dk1>
      <a:lt1>
        <a:srgbClr val="FFFFFF"/>
      </a:lt1>
      <a:dk2>
        <a:srgbClr val="537992"/>
      </a:dk2>
      <a:lt2>
        <a:srgbClr val="DFF1F0"/>
      </a:lt2>
      <a:accent1>
        <a:srgbClr val="00AEBC"/>
      </a:accent1>
      <a:accent2>
        <a:srgbClr val="2A6D81"/>
      </a:accent2>
      <a:accent3>
        <a:srgbClr val="A2C7C4"/>
      </a:accent3>
      <a:accent4>
        <a:srgbClr val="BDD8D6"/>
      </a:accent4>
      <a:accent5>
        <a:srgbClr val="AFAFAF"/>
      </a:accent5>
      <a:accent6>
        <a:srgbClr val="E50051"/>
      </a:accent6>
      <a:hlink>
        <a:srgbClr val="00AFC8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dkUpDiag">
          <a:fgClr>
            <a:schemeClr val="bg2">
              <a:lumMod val="50000"/>
            </a:schemeClr>
          </a:fgClr>
          <a:bgClr>
            <a:schemeClr val="bg2">
              <a:lumMod val="65000"/>
            </a:schemeClr>
          </a:bgClr>
        </a:pattFill>
        <a:ln>
          <a:noFill/>
        </a:ln>
      </a:spPr>
      <a:bodyPr wrap="none" lIns="228600" tIns="228600" rIns="228600" bIns="228600" rtlCol="0" anchor="ctr">
        <a:noAutofit/>
      </a:bodyPr>
      <a:lstStyle>
        <a:defPPr algn="ctr">
          <a:defRPr sz="1400" dirty="0" smtClean="0">
            <a:solidFill>
              <a:schemeClr val="bg1"/>
            </a:solidFill>
            <a:latin typeface="Franklin Gothic Demi Cond" panose="020B07060304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b">
        <a:spAutoFit/>
      </a:bodyPr>
      <a:lstStyle>
        <a:defPPr algn="l">
          <a:defRPr sz="800" smtClean="0">
            <a:solidFill>
              <a:schemeClr val="tx2">
                <a:lumMod val="60000"/>
                <a:lumOff val="4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1_LIST_PPT_Template" id="{B4E95B73-79EF-C646-9D58-03712CAF85DB}" vid="{32BA748C-80FD-4F47-A7AC-82D5B85E8CD5}"/>
    </a:ext>
  </a:extLst>
</a:theme>
</file>

<file path=ppt/theme/theme2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2021_LIST_PPT_Template (1)</Template>
  <TotalTime>0</TotalTime>
  <Words>763</Words>
  <Application>Microsoft Office PowerPoint</Application>
  <PresentationFormat>On-screen Show (16:9)</PresentationFormat>
  <Paragraphs>159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Arial</vt:lpstr>
      <vt:lpstr>Bebas Neue</vt:lpstr>
      <vt:lpstr>Bebas Neue Regular</vt:lpstr>
      <vt:lpstr>Calibri</vt:lpstr>
      <vt:lpstr>Cambria</vt:lpstr>
      <vt:lpstr>Franklin Gothic Book</vt:lpstr>
      <vt:lpstr>Franklin Gothic Demi Cond</vt:lpstr>
      <vt:lpstr>Wingdings</vt:lpstr>
      <vt:lpstr>LIST 2019_Multiple Slide Types Template</vt:lpstr>
      <vt:lpstr> Aptamer-Based Detection of Enteric Viruses in FaecalSamples: A Novel Platform to Assess the Viral Risk of FaecalMicrobiota Transplants</vt:lpstr>
      <vt:lpstr>Why we need a rapid test? </vt:lpstr>
      <vt:lpstr>Why norovirus?</vt:lpstr>
      <vt:lpstr>Three work packages</vt:lpstr>
      <vt:lpstr>Work package 1: How much does the viral picture change across the interval? </vt:lpstr>
      <vt:lpstr>How do our aptamers recognise the virus — in buffer and in stool? </vt:lpstr>
      <vt:lpstr>PowerPoint Presentation</vt:lpstr>
      <vt:lpstr>Six candidate with sequences</vt:lpstr>
      <vt:lpstr>Result of the elasa experiments</vt:lpstr>
      <vt:lpstr>Why comparing is difficult?</vt:lpstr>
      <vt:lpstr>Fluorscence polarization</vt:lpstr>
      <vt:lpstr>PowerPoint Presentation</vt:lpstr>
      <vt:lpstr>PowerPoint Presentation</vt:lpstr>
      <vt:lpstr>Identifying aptamers suitable for stool testing </vt:lpstr>
      <vt:lpstr>How to make them comparable?</vt:lpstr>
      <vt:lpstr>How does salt affect aptamer binding? </vt:lpstr>
      <vt:lpstr>The type of the ion matter </vt:lpstr>
      <vt:lpstr>PowerPoint Presentation</vt:lpstr>
      <vt:lpstr>Assessing viral risk in healthy adults’ stools </vt:lpstr>
      <vt:lpstr>Selecting aptamers that can work in stool </vt:lpstr>
    </vt:vector>
  </TitlesOfParts>
  <Company>LIST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Nazanin KHAZALI</dc:creator>
  <cp:lastModifiedBy>Nazanin KHAZALI</cp:lastModifiedBy>
  <cp:revision>8</cp:revision>
  <dcterms:created xsi:type="dcterms:W3CDTF">2026-10-13T11:02:47Z</dcterms:created>
  <dcterms:modified xsi:type="dcterms:W3CDTF">2026-10-20T19:27:07Z</dcterms:modified>
</cp:coreProperties>
</file>