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2046184" cy="173736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8600" b="1">
                <a:solidFill>
                  <a:srgbClr val="1B2A41"/>
                </a:solidFill>
                <a:latin typeface="Calibri"/>
              </a:rPr>
              <a:t>Six aptamers. Six numbers. One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39"/>
            <a:ext cx="22046184" cy="1417320"/>
          </a:xfrm>
          <a:prstGeom prst="roundRect">
            <a:avLst>
              <a:gd name="adj" fmla="val 3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71600" y="2715768"/>
            <a:ext cx="21131784" cy="118872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B23C"/>
                </a:solidFill>
                <a:latin typeface="Calibri"/>
              </a:rPr>
              <a:t>Every published affinity is a single point on a curve nobody measured — and each aptamer sits on a different curve.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26344" y="868680"/>
            <a:ext cx="6035040" cy="173736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"/>
              </a:rPr>
              <a:t>[Your name]</a:t>
            </a:r>
          </a:p>
          <a:p>
            <a:pPr algn="r">
              <a:lnSpc>
                <a:spcPct val="100000"/>
              </a:lnSpc>
            </a:pPr>
            <a:r>
              <a:rPr sz="2600" b="0">
                <a:solidFill>
                  <a:srgbClr val="5C6B7D"/>
                </a:solidFill>
                <a:latin typeface="Calibri"/>
              </a:rPr>
              <a:t>[Lab, Institute]</a:t>
            </a:r>
          </a:p>
          <a:p>
            <a:pPr algn="r">
              <a:lnSpc>
                <a:spcPct val="100000"/>
              </a:lnSpc>
            </a:pPr>
            <a:r>
              <a:rPr sz="2600" b="0">
                <a:solidFill>
                  <a:srgbClr val="5C6B7D"/>
                </a:solidFill>
                <a:latin typeface="Calibri"/>
              </a:rPr>
              <a:t>[email]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83944" y="2103120"/>
            <a:ext cx="237744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075384" y="2103120"/>
            <a:ext cx="2194560" cy="19202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C6B7D"/>
                </a:solidFill>
                <a:latin typeface="Calibri"/>
              </a:rPr>
              <a:t>[QR]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28446984" cy="1243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E85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371600" y="4709160"/>
            <a:ext cx="1097280" cy="1097280"/>
          </a:xfrm>
          <a:prstGeom prst="ellipse">
            <a:avLst/>
          </a:prstGeom>
          <a:solidFill>
            <a:srgbClr val="E8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709160"/>
            <a:ext cx="19302984" cy="109728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E85D4A"/>
                </a:solidFill>
                <a:latin typeface="Calibri"/>
              </a:rPr>
              <a:t>The ranking that is not a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63304" y="4754880"/>
            <a:ext cx="7040880" cy="109728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>
                <a:solidFill>
                  <a:srgbClr val="5C6B7D"/>
                </a:solidFill>
                <a:latin typeface="Calibri"/>
              </a:rPr>
              <a:t>illustrative data — shows the shape of the problem, not results</a:t>
            </a:r>
          </a:p>
        </p:txBody>
      </p:sp>
      <p:pic>
        <p:nvPicPr>
          <p:cNvPr id="13" name="Picture 12" descr="fi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50" y="5989320"/>
            <a:ext cx="26283683" cy="9418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45920" y="15499080"/>
            <a:ext cx="26983944" cy="100584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B2A41"/>
                </a:solidFill>
                <a:latin typeface="Calibri"/>
              </a:rPr>
              <a:t>Each lab selected and measured its aptamer in its own buffer, so each number sits at a different, unknown place on its own curve. The literature ranking is partly a ranking of whose buffer was luckiest.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7145000"/>
            <a:ext cx="9208008" cy="6766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13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325880" y="17556480"/>
            <a:ext cx="1005840" cy="1005840"/>
          </a:xfrm>
          <a:prstGeom prst="ellipse">
            <a:avLst/>
          </a:prstGeom>
          <a:solidFill>
            <a:srgbClr val="13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7556480"/>
            <a:ext cx="7104888" cy="10058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38A8A"/>
                </a:solidFill>
                <a:latin typeface="Calibri"/>
              </a:rPr>
              <a:t>Folding costs charge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8836640"/>
            <a:ext cx="8202168" cy="374904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Every phosphate is negative. Folding pulls those charges together — an electrostatic penalty. Counterions gather and screen it: a diffuse, mobile atmosphere, not fixed bound ions. The folded state holds a denser atmosphere, so folding and ion uptake are coupled.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2677119"/>
            <a:ext cx="8202168" cy="868680"/>
          </a:xfrm>
          <a:prstGeom prst="roundRect">
            <a:avLst>
              <a:gd name="adj" fmla="val 3000"/>
            </a:avLst>
          </a:prstGeom>
          <a:solidFill>
            <a:srgbClr val="13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17320" y="22677119"/>
            <a:ext cx="8202168" cy="86868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salt HELPS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33888" y="17145000"/>
            <a:ext cx="9208008" cy="6766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7A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0945367" y="17556480"/>
            <a:ext cx="1005840" cy="1005840"/>
          </a:xfrm>
          <a:prstGeom prst="ellipse">
            <a:avLst/>
          </a:prstGeom>
          <a:solidFill>
            <a:srgbClr val="7A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79808" y="17556480"/>
            <a:ext cx="7104888" cy="10058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A5BA6"/>
                </a:solidFill>
                <a:latin typeface="Calibri"/>
              </a:rPr>
              <a:t>The same ions weaken the grip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36808" y="18836640"/>
            <a:ext cx="8202168" cy="374904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The aptamer binds a positively charged patch on the target. That attraction is electrostatic too, and screening does not know which attraction it is cancelling. More salt, weaker contact.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36808" y="22677119"/>
            <a:ext cx="8202168" cy="868680"/>
          </a:xfrm>
          <a:prstGeom prst="roundRect">
            <a:avLst>
              <a:gd name="adj" fmla="val 3000"/>
            </a:avLst>
          </a:prstGeom>
          <a:solidFill>
            <a:srgbClr val="7A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036808" y="22677119"/>
            <a:ext cx="8202168" cy="86868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salt HURTS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53376" y="17145000"/>
            <a:ext cx="9208008" cy="6766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E9B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0564856" y="17556480"/>
            <a:ext cx="1005840" cy="1005840"/>
          </a:xfrm>
          <a:prstGeom prst="ellipse">
            <a:avLst/>
          </a:prstGeom>
          <a:solidFill>
            <a:srgbClr val="E9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99296" y="17556480"/>
            <a:ext cx="7104888" cy="10058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9B23C"/>
                </a:solidFill>
                <a:latin typeface="Calibri"/>
              </a:rPr>
              <a:t>Binding spends 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56296" y="18836640"/>
            <a:ext cx="8202168" cy="374904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Ions crowd both partners before binding. On association some are released into bulk and gain freedom — an entropic gain. The gain depends on the contrast with bulk, so it shrinks as salt rises.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656296" y="22677119"/>
            <a:ext cx="8202168" cy="868680"/>
          </a:xfrm>
          <a:prstGeom prst="roundRect">
            <a:avLst>
              <a:gd name="adj" fmla="val 3000"/>
            </a:avLst>
          </a:prstGeom>
          <a:solidFill>
            <a:srgbClr val="E9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0656296" y="22677119"/>
            <a:ext cx="8202168" cy="86868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the bonus FADES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24323039"/>
            <a:ext cx="14017752" cy="6949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E85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325880" y="24688799"/>
            <a:ext cx="1005840" cy="1005840"/>
          </a:xfrm>
          <a:prstGeom prst="ellipse">
            <a:avLst/>
          </a:prstGeom>
          <a:solidFill>
            <a:srgbClr val="E8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24688799"/>
            <a:ext cx="11914632" cy="10058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85D4A"/>
                </a:solidFill>
                <a:latin typeface="Calibri"/>
              </a:rPr>
              <a:t>Add them up: a curve, not a number</a:t>
            </a:r>
          </a:p>
        </p:txBody>
      </p:sp>
      <p:pic>
        <p:nvPicPr>
          <p:cNvPr id="36" name="Picture 35" descr="fig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75" y="25877519"/>
            <a:ext cx="8077200" cy="48463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5343631" y="24323039"/>
            <a:ext cx="14017752" cy="6949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7A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5755111" y="24688799"/>
            <a:ext cx="1005840" cy="1005840"/>
          </a:xfrm>
          <a:prstGeom prst="ellipse">
            <a:avLst/>
          </a:prstGeom>
          <a:solidFill>
            <a:srgbClr val="7A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89552" y="24688799"/>
            <a:ext cx="11914632" cy="10058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A5BA6"/>
                </a:solidFill>
                <a:latin typeface="Calibri"/>
              </a:rPr>
              <a:t>And “same salt” is not the same condition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6551" y="25968960"/>
            <a:ext cx="13011912" cy="274320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K⁺ can occupy a structural site in a G-quadruplex — not general screening.   Mg²⁺ shapes nucleic-acid structure strongly and competes with monovalent ions.   Even anions differ: swapping chloride for glutamate shifts affinity in some systems.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846551" y="28849319"/>
            <a:ext cx="13011912" cy="914400"/>
          </a:xfrm>
          <a:prstGeom prst="roundRect">
            <a:avLst>
              <a:gd name="adj" fmla="val 3000"/>
            </a:avLst>
          </a:prstGeom>
          <a:solidFill>
            <a:srgbClr val="7A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5846551" y="28849319"/>
            <a:ext cx="13011912" cy="91440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Calibri"/>
              </a:rPr>
              <a:t>ionic strength, ion identity and pH are three variables, not 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46551" y="29992319"/>
            <a:ext cx="13011912" cy="164592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0">
                <a:solidFill>
                  <a:srgbClr val="5C6B7D"/>
                </a:solidFill>
                <a:latin typeface="Calibri"/>
              </a:rPr>
              <a:t>So one shared buffer is fair in procedure, not in physics: it measures every aptamer at an arbitrary point on its own curve.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31683960"/>
            <a:ext cx="28446984" cy="5852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0">
            <a:solidFill>
              <a:srgbClr val="13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325880" y="32049719"/>
            <a:ext cx="1005840" cy="1005840"/>
          </a:xfrm>
          <a:prstGeom prst="ellipse">
            <a:avLst/>
          </a:prstGeom>
          <a:solidFill>
            <a:srgbClr val="13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32049719"/>
            <a:ext cx="26343864" cy="1005840"/>
          </a:xfrm>
          <a:prstGeom prst="rect">
            <a:avLst/>
          </a:prstGeom>
          <a:noFill/>
        </p:spPr>
        <p:txBody>
          <a:bodyPr wrap="square" anchor="ctr" lIns="73152" rIns="73152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38A8A"/>
                </a:solidFill>
                <a:latin typeface="Calibri"/>
              </a:rPr>
              <a:t>Measure the curve, not the point</a:t>
            </a:r>
          </a:p>
        </p:txBody>
      </p:sp>
      <p:pic>
        <p:nvPicPr>
          <p:cNvPr id="47" name="Picture 46" descr="fig_compar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388" y="33147000"/>
            <a:ext cx="7800975" cy="3840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343631" y="33284160"/>
            <a:ext cx="13743432" cy="365760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>
                <a:solidFill>
                  <a:srgbClr val="1B2A41"/>
                </a:solidFill>
                <a:latin typeface="Calibri"/>
              </a:rPr>
              <a:t>Fluorescence polarisation lets the solution be the only variable:</a:t>
            </a:r>
          </a:p>
          <a:p>
            <a:pPr algn="l">
              <a:lnSpc>
                <a:spcPct val="116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•  nothing immobilised, no surface to stick to</a:t>
            </a:r>
          </a:p>
          <a:p>
            <a:pPr algn="l">
              <a:lnSpc>
                <a:spcPct val="116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•  no wash step — one buffer start to finish, at equilibrium</a:t>
            </a:r>
          </a:p>
          <a:p>
            <a:pPr algn="l">
              <a:lnSpc>
                <a:spcPct val="116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•  one plate scans ion identity, concentration and pH for all six</a:t>
            </a:r>
          </a:p>
          <a:p>
            <a:pPr algn="l">
              <a:lnSpc>
                <a:spcPct val="116000"/>
              </a:lnSpc>
            </a:pPr>
            <a:r>
              <a:rPr sz="2800" b="0">
                <a:solidFill>
                  <a:srgbClr val="1B2A41"/>
                </a:solidFill>
                <a:latin typeface="Calibri"/>
              </a:rPr>
              <a:t>•  with circular dichroism: tells a change in fold from a change at the interface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37947600"/>
            <a:ext cx="28446984" cy="3941064"/>
          </a:xfrm>
          <a:prstGeom prst="roundRect">
            <a:avLst>
              <a:gd name="adj" fmla="val 3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645920" y="38359080"/>
            <a:ext cx="26983944" cy="1371600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E9B23C"/>
                </a:solidFill>
                <a:latin typeface="Calibri"/>
              </a:rPr>
              <a:t>Salt prepares the hand and weakens the handshake — so the binding we measure belongs to the sequence and its solution together.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39867840"/>
            <a:ext cx="13126212" cy="1655064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What salt dependence does not tell us</a:t>
            </a:r>
          </a:p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A steep fall with rising salt suggests a charge-driven interaction. It does not tell us how many ions were released: structural change, hydration and other contacts contribute too. We treat the salt response as a clue, not a full explanation.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03652" y="39867840"/>
            <a:ext cx="13126212" cy="1655064"/>
          </a:xfrm>
          <a:prstGeom prst="rect">
            <a:avLst/>
          </a:prstGeom>
          <a:noFill/>
        </p:spPr>
        <p:txBody>
          <a:bodyPr wrap="square" anchor="t" lIns="73152" rIns="73152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Controls, under matched conditions</a:t>
            </a:r>
          </a:p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scrambled sequences  ·  motif mutants  ·  unrelated viral particles  ·  norovirus-negative stool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