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8" r:id="rId2"/>
    <p:sldId id="295" r:id="rId3"/>
    <p:sldId id="357" r:id="rId4"/>
    <p:sldId id="262" r:id="rId5"/>
    <p:sldId id="364" r:id="rId6"/>
    <p:sldId id="365" r:id="rId7"/>
    <p:sldId id="277" r:id="rId8"/>
    <p:sldId id="354" r:id="rId9"/>
    <p:sldId id="363" r:id="rId10"/>
    <p:sldId id="366" r:id="rId11"/>
    <p:sldId id="358" r:id="rId12"/>
    <p:sldId id="361" r:id="rId13"/>
    <p:sldId id="288" r:id="rId14"/>
    <p:sldId id="359" r:id="rId15"/>
    <p:sldId id="350" r:id="rId16"/>
    <p:sldId id="351" r:id="rId17"/>
    <p:sldId id="356" r:id="rId18"/>
    <p:sldId id="355" r:id="rId19"/>
    <p:sldId id="360" r:id="rId20"/>
    <p:sldId id="362" r:id="rId21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IST 2021_Multiple Slide types" id="{58BEDF31-0425-40C4-87B2-EBC1798A92EE}">
          <p14:sldIdLst>
            <p14:sldId id="258"/>
            <p14:sldId id="295"/>
            <p14:sldId id="357"/>
            <p14:sldId id="262"/>
            <p14:sldId id="364"/>
            <p14:sldId id="365"/>
            <p14:sldId id="277"/>
            <p14:sldId id="354"/>
            <p14:sldId id="363"/>
            <p14:sldId id="366"/>
            <p14:sldId id="358"/>
            <p14:sldId id="361"/>
            <p14:sldId id="288"/>
            <p14:sldId id="359"/>
            <p14:sldId id="350"/>
            <p14:sldId id="351"/>
            <p14:sldId id="356"/>
            <p14:sldId id="355"/>
            <p14:sldId id="360"/>
            <p14:sldId id="36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C9B5"/>
    <a:srgbClr val="69685B"/>
    <a:srgbClr val="FE12ED"/>
    <a:srgbClr val="66AF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14" autoAdjust="0"/>
    <p:restoredTop sz="88959" autoAdjust="0"/>
  </p:normalViewPr>
  <p:slideViewPr>
    <p:cSldViewPr snapToGrid="0" snapToObjects="1">
      <p:cViewPr>
        <p:scale>
          <a:sx n="66" d="100"/>
          <a:sy n="66" d="100"/>
        </p:scale>
        <p:origin x="1963" y="8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 snapToObjects="1">
      <p:cViewPr varScale="1">
        <p:scale>
          <a:sx n="121" d="100"/>
          <a:sy n="121" d="100"/>
        </p:scale>
        <p:origin x="-4986" y="-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C89EDB-3FDD-4915-A3CE-62FA29C01A32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042649-1860-4D03-9360-22C2D8836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6618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4499FB-0CC7-453D-9493-CBDCD6D233E2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76A24B-926E-40EB-9E1B-5321DC3775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594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17475" indent="-117475" algn="l" defTabSz="914400" rtl="0" eaLnBrk="1" latinLnBrk="0" hangingPunct="1">
      <a:lnSpc>
        <a:spcPct val="110000"/>
      </a:lnSpc>
      <a:buFont typeface="Arial" panose="020B0604020202020204" pitchFamily="34" charset="0"/>
      <a:buChar char="•"/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228600" indent="-111125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46075" indent="-117475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457200" indent="-111125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457200" indent="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476A24B-926E-40EB-9E1B-5321DC3775E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3285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2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476A24B-926E-40EB-9E1B-5321DC3775E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3200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[0:20] My project has three work packages. First, measure how much the viral picture actually changes across a screening interval. Second, understand how aptamers recognise the virus, in buffer and then in stool. Third, turn that recognition into a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76A24B-926E-40EB-9E1B-5321DC3775E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40757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8776" y="546498"/>
            <a:ext cx="8432255" cy="1241080"/>
          </a:xfrm>
        </p:spPr>
        <p:txBody>
          <a:bodyPr anchor="ctr"/>
          <a:lstStyle>
            <a:lvl1pPr>
              <a:defRPr sz="55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58776" y="2166937"/>
            <a:ext cx="8432189" cy="2268203"/>
          </a:xfrm>
        </p:spPr>
        <p:txBody>
          <a:bodyPr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Font typeface="Arial" panose="020B0604020202020204" pitchFamily="34" charset="0"/>
              <a:buNone/>
              <a:defRPr sz="2100" b="1">
                <a:solidFill>
                  <a:schemeClr val="accent1"/>
                </a:solidFill>
                <a:latin typeface="+mj-lt"/>
              </a:defRPr>
            </a:lvl1pPr>
            <a:lvl2pPr marL="0" indent="0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  <a:buFont typeface="Arial" charset="0"/>
              <a:buNone/>
              <a:tabLst/>
              <a:defRPr sz="1500" b="1">
                <a:solidFill>
                  <a:schemeClr val="tx2">
                    <a:lumMod val="75000"/>
                  </a:schemeClr>
                </a:solidFill>
                <a:latin typeface="+mj-lt"/>
              </a:defRPr>
            </a:lvl2pPr>
            <a:lvl3pPr marL="357188" indent="-179388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Font typeface="Arial" charset="0"/>
              <a:buChar char="•"/>
              <a:tabLst/>
              <a:defRPr sz="1500">
                <a:solidFill>
                  <a:schemeClr val="tx2">
                    <a:lumMod val="75000"/>
                  </a:schemeClr>
                </a:solidFill>
                <a:latin typeface="+mj-lt"/>
              </a:defRPr>
            </a:lvl3pPr>
            <a:lvl4pPr marL="536575" indent="-179388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Font typeface="Arial" charset="0"/>
              <a:buChar char="•"/>
              <a:tabLst/>
              <a:defRPr sz="1200">
                <a:solidFill>
                  <a:schemeClr val="tx2"/>
                </a:solidFill>
                <a:latin typeface="+mj-lt"/>
              </a:defRPr>
            </a:lvl4pPr>
            <a:lvl5pPr marL="715963" indent="-179388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Font typeface="Arial" charset="0"/>
              <a:buChar char="•"/>
              <a:tabLst/>
              <a:defRPr sz="1050">
                <a:solidFill>
                  <a:schemeClr val="tx2"/>
                </a:solidFill>
                <a:latin typeface="+mj-lt"/>
              </a:defRPr>
            </a:lvl5pPr>
            <a:lvl6pPr marL="357188" indent="-171450">
              <a:spcBef>
                <a:spcPts val="200"/>
              </a:spcBef>
              <a:buFont typeface="Arial" charset="0"/>
              <a:buChar char="•"/>
              <a:tabLst/>
              <a:defRPr sz="1400" b="0">
                <a:solidFill>
                  <a:schemeClr val="tx2">
                    <a:lumMod val="75000"/>
                  </a:schemeClr>
                </a:solidFill>
              </a:defRPr>
            </a:lvl6pPr>
            <a:lvl7pPr marL="536575" indent="-171450">
              <a:spcBef>
                <a:spcPts val="200"/>
              </a:spcBef>
              <a:spcAft>
                <a:spcPts val="0"/>
              </a:spcAft>
              <a:buFont typeface="Arial" charset="0"/>
              <a:buChar char="•"/>
              <a:tabLst/>
              <a:defRPr sz="1200">
                <a:solidFill>
                  <a:schemeClr val="tx2"/>
                </a:solidFill>
              </a:defRPr>
            </a:lvl7pPr>
            <a:lvl8pPr marL="439737" indent="-171450">
              <a:buFont typeface="Arial" charset="0"/>
              <a:buChar char="•"/>
              <a:tabLst/>
              <a:defRPr>
                <a:solidFill>
                  <a:schemeClr val="tx2"/>
                </a:solidFill>
              </a:defRPr>
            </a:lvl8pPr>
            <a:lvl9pPr marL="762000" indent="-209550">
              <a:spcBef>
                <a:spcPts val="200"/>
              </a:spcBef>
              <a:spcAft>
                <a:spcPts val="0"/>
              </a:spcAft>
              <a:buFont typeface="Arial" charset="0"/>
              <a:buChar char="•"/>
              <a:tabLst/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8910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able of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080947" y="1410891"/>
            <a:ext cx="4751528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5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30" name="Text Placeholder 29"/>
          <p:cNvSpPr>
            <a:spLocks noGrp="1"/>
          </p:cNvSpPr>
          <p:nvPr>
            <p:ph type="body" sz="quarter" idx="11" hasCustomPrompt="1"/>
          </p:nvPr>
        </p:nvSpPr>
        <p:spPr>
          <a:xfrm>
            <a:off x="360947" y="1410891"/>
            <a:ext cx="720000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28" hasCustomPrompt="1"/>
          </p:nvPr>
        </p:nvSpPr>
        <p:spPr>
          <a:xfrm>
            <a:off x="360947" y="915988"/>
            <a:ext cx="8424000" cy="252412"/>
          </a:xfrm>
        </p:spPr>
        <p:txBody>
          <a:bodyPr anchor="t"/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700" b="1" i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4" name="Text Placeholder 3"/>
          <p:cNvSpPr>
            <a:spLocks noGrp="1"/>
          </p:cNvSpPr>
          <p:nvPr>
            <p:ph type="body" sz="half" idx="29" hasCustomPrompt="1"/>
          </p:nvPr>
        </p:nvSpPr>
        <p:spPr>
          <a:xfrm>
            <a:off x="1080947" y="2165946"/>
            <a:ext cx="4751528" cy="757039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5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95" name="Text Placeholder 29"/>
          <p:cNvSpPr>
            <a:spLocks noGrp="1"/>
          </p:cNvSpPr>
          <p:nvPr>
            <p:ph type="body" sz="quarter" idx="30" hasCustomPrompt="1"/>
          </p:nvPr>
        </p:nvSpPr>
        <p:spPr>
          <a:xfrm>
            <a:off x="360947" y="2165946"/>
            <a:ext cx="720000" cy="757039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96" name="Text Placeholder 3"/>
          <p:cNvSpPr>
            <a:spLocks noGrp="1"/>
          </p:cNvSpPr>
          <p:nvPr>
            <p:ph type="body" sz="half" idx="31" hasCustomPrompt="1"/>
          </p:nvPr>
        </p:nvSpPr>
        <p:spPr>
          <a:xfrm>
            <a:off x="1080947" y="2922985"/>
            <a:ext cx="4751528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5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97" name="Text Placeholder 29"/>
          <p:cNvSpPr>
            <a:spLocks noGrp="1"/>
          </p:cNvSpPr>
          <p:nvPr>
            <p:ph type="body" sz="quarter" idx="32" hasCustomPrompt="1"/>
          </p:nvPr>
        </p:nvSpPr>
        <p:spPr>
          <a:xfrm>
            <a:off x="360947" y="2922985"/>
            <a:ext cx="720000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type="body" sz="half" idx="39" hasCustomPrompt="1"/>
          </p:nvPr>
        </p:nvSpPr>
        <p:spPr>
          <a:xfrm>
            <a:off x="1080947" y="3678040"/>
            <a:ext cx="4751528" cy="757039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5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16" name="Text Placeholder 29"/>
          <p:cNvSpPr>
            <a:spLocks noGrp="1"/>
          </p:cNvSpPr>
          <p:nvPr>
            <p:ph type="body" sz="quarter" idx="40" hasCustomPrompt="1"/>
          </p:nvPr>
        </p:nvSpPr>
        <p:spPr>
          <a:xfrm>
            <a:off x="360947" y="3678040"/>
            <a:ext cx="720000" cy="757039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11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60000" y="276456"/>
            <a:ext cx="8424000" cy="6395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</a:t>
            </a:r>
            <a:r>
              <a:rPr lang="en-US"/>
              <a:t>to edit master </a:t>
            </a:r>
            <a:r>
              <a:rPr lang="en-US" dirty="0"/>
              <a:t>title style</a:t>
            </a:r>
          </a:p>
        </p:txBody>
      </p:sp>
    </p:spTree>
    <p:extLst>
      <p:ext uri="{BB962C8B-B14F-4D97-AF65-F5344CB8AC3E}">
        <p14:creationId xmlns:p14="http://schemas.microsoft.com/office/powerpoint/2010/main" val="1920126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able of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080948" y="2166938"/>
            <a:ext cx="3167929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5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30" name="Text Placeholder 29"/>
          <p:cNvSpPr>
            <a:spLocks noGrp="1"/>
          </p:cNvSpPr>
          <p:nvPr>
            <p:ph type="body" sz="quarter" idx="11" hasCustomPrompt="1"/>
          </p:nvPr>
        </p:nvSpPr>
        <p:spPr>
          <a:xfrm>
            <a:off x="360947" y="2166938"/>
            <a:ext cx="720000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28" hasCustomPrompt="1"/>
          </p:nvPr>
        </p:nvSpPr>
        <p:spPr>
          <a:xfrm>
            <a:off x="360947" y="915988"/>
            <a:ext cx="8424000" cy="252412"/>
          </a:xfrm>
        </p:spPr>
        <p:txBody>
          <a:bodyPr anchor="t"/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700" b="1" i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4" name="Text Placeholder 3"/>
          <p:cNvSpPr>
            <a:spLocks noGrp="1"/>
          </p:cNvSpPr>
          <p:nvPr>
            <p:ph type="body" sz="half" idx="29" hasCustomPrompt="1"/>
          </p:nvPr>
        </p:nvSpPr>
        <p:spPr>
          <a:xfrm>
            <a:off x="1080948" y="2923609"/>
            <a:ext cx="3167929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5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95" name="Text Placeholder 29"/>
          <p:cNvSpPr>
            <a:spLocks noGrp="1"/>
          </p:cNvSpPr>
          <p:nvPr>
            <p:ph type="body" sz="quarter" idx="30" hasCustomPrompt="1"/>
          </p:nvPr>
        </p:nvSpPr>
        <p:spPr>
          <a:xfrm>
            <a:off x="360947" y="2923609"/>
            <a:ext cx="720000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96" name="Text Placeholder 3"/>
          <p:cNvSpPr>
            <a:spLocks noGrp="1"/>
          </p:cNvSpPr>
          <p:nvPr>
            <p:ph type="body" sz="half" idx="31" hasCustomPrompt="1"/>
          </p:nvPr>
        </p:nvSpPr>
        <p:spPr>
          <a:xfrm>
            <a:off x="1080948" y="3679656"/>
            <a:ext cx="3167929" cy="755423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5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97" name="Text Placeholder 29"/>
          <p:cNvSpPr>
            <a:spLocks noGrp="1"/>
          </p:cNvSpPr>
          <p:nvPr>
            <p:ph type="body" sz="quarter" idx="32" hasCustomPrompt="1"/>
          </p:nvPr>
        </p:nvSpPr>
        <p:spPr>
          <a:xfrm>
            <a:off x="360947" y="3679656"/>
            <a:ext cx="720000" cy="755423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98" name="Text Placeholder 3"/>
          <p:cNvSpPr>
            <a:spLocks noGrp="1"/>
          </p:cNvSpPr>
          <p:nvPr>
            <p:ph type="body" sz="half" idx="33" hasCustomPrompt="1"/>
          </p:nvPr>
        </p:nvSpPr>
        <p:spPr>
          <a:xfrm>
            <a:off x="5618747" y="2166938"/>
            <a:ext cx="3166200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5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99" name="Text Placeholder 29"/>
          <p:cNvSpPr>
            <a:spLocks noGrp="1"/>
          </p:cNvSpPr>
          <p:nvPr>
            <p:ph type="body" sz="quarter" idx="34" hasCustomPrompt="1"/>
          </p:nvPr>
        </p:nvSpPr>
        <p:spPr>
          <a:xfrm>
            <a:off x="4898747" y="2166938"/>
            <a:ext cx="720000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100" name="Text Placeholder 3"/>
          <p:cNvSpPr>
            <a:spLocks noGrp="1"/>
          </p:cNvSpPr>
          <p:nvPr>
            <p:ph type="body" sz="half" idx="35" hasCustomPrompt="1"/>
          </p:nvPr>
        </p:nvSpPr>
        <p:spPr>
          <a:xfrm>
            <a:off x="5618747" y="2923609"/>
            <a:ext cx="3166200" cy="756048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5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101" name="Text Placeholder 29"/>
          <p:cNvSpPr>
            <a:spLocks noGrp="1"/>
          </p:cNvSpPr>
          <p:nvPr>
            <p:ph type="body" sz="quarter" idx="36" hasCustomPrompt="1"/>
          </p:nvPr>
        </p:nvSpPr>
        <p:spPr>
          <a:xfrm>
            <a:off x="4898747" y="2923609"/>
            <a:ext cx="720000" cy="756048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102" name="Text Placeholder 3"/>
          <p:cNvSpPr>
            <a:spLocks noGrp="1"/>
          </p:cNvSpPr>
          <p:nvPr>
            <p:ph type="body" sz="half" idx="37" hasCustomPrompt="1"/>
          </p:nvPr>
        </p:nvSpPr>
        <p:spPr>
          <a:xfrm>
            <a:off x="5618747" y="3679656"/>
            <a:ext cx="3166200" cy="755423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5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103" name="Text Placeholder 29"/>
          <p:cNvSpPr>
            <a:spLocks noGrp="1"/>
          </p:cNvSpPr>
          <p:nvPr>
            <p:ph type="body" sz="quarter" idx="38" hasCustomPrompt="1"/>
          </p:nvPr>
        </p:nvSpPr>
        <p:spPr>
          <a:xfrm>
            <a:off x="4898747" y="3679656"/>
            <a:ext cx="720000" cy="755423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360000" y="276622"/>
            <a:ext cx="8424000" cy="639366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3385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080948" y="2166938"/>
            <a:ext cx="1798778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4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30" name="Text Placeholder 29"/>
          <p:cNvSpPr>
            <a:spLocks noGrp="1"/>
          </p:cNvSpPr>
          <p:nvPr>
            <p:ph type="body" sz="quarter" idx="11" hasCustomPrompt="1"/>
          </p:nvPr>
        </p:nvSpPr>
        <p:spPr>
          <a:xfrm>
            <a:off x="360947" y="2166938"/>
            <a:ext cx="720000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28" hasCustomPrompt="1"/>
          </p:nvPr>
        </p:nvSpPr>
        <p:spPr>
          <a:xfrm>
            <a:off x="360947" y="915988"/>
            <a:ext cx="8424000" cy="252412"/>
          </a:xfrm>
        </p:spPr>
        <p:txBody>
          <a:bodyPr anchor="t"/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700" b="1" i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4" name="Text Placeholder 3"/>
          <p:cNvSpPr>
            <a:spLocks noGrp="1"/>
          </p:cNvSpPr>
          <p:nvPr>
            <p:ph type="body" sz="half" idx="29" hasCustomPrompt="1"/>
          </p:nvPr>
        </p:nvSpPr>
        <p:spPr>
          <a:xfrm>
            <a:off x="1080948" y="2922983"/>
            <a:ext cx="1798778" cy="756048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4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95" name="Text Placeholder 29"/>
          <p:cNvSpPr>
            <a:spLocks noGrp="1"/>
          </p:cNvSpPr>
          <p:nvPr>
            <p:ph type="body" sz="quarter" idx="30" hasCustomPrompt="1"/>
          </p:nvPr>
        </p:nvSpPr>
        <p:spPr>
          <a:xfrm>
            <a:off x="360947" y="2922983"/>
            <a:ext cx="720000" cy="756048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96" name="Text Placeholder 3"/>
          <p:cNvSpPr>
            <a:spLocks noGrp="1"/>
          </p:cNvSpPr>
          <p:nvPr>
            <p:ph type="body" sz="half" idx="31" hasCustomPrompt="1"/>
          </p:nvPr>
        </p:nvSpPr>
        <p:spPr>
          <a:xfrm>
            <a:off x="1080948" y="3679032"/>
            <a:ext cx="1798778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4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97" name="Text Placeholder 29"/>
          <p:cNvSpPr>
            <a:spLocks noGrp="1"/>
          </p:cNvSpPr>
          <p:nvPr>
            <p:ph type="body" sz="quarter" idx="32" hasCustomPrompt="1"/>
          </p:nvPr>
        </p:nvSpPr>
        <p:spPr>
          <a:xfrm>
            <a:off x="360947" y="3679032"/>
            <a:ext cx="720000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98" name="Text Placeholder 3"/>
          <p:cNvSpPr>
            <a:spLocks noGrp="1"/>
          </p:cNvSpPr>
          <p:nvPr>
            <p:ph type="body" sz="half" idx="33" hasCustomPrompt="1"/>
          </p:nvPr>
        </p:nvSpPr>
        <p:spPr>
          <a:xfrm>
            <a:off x="4031525" y="2166938"/>
            <a:ext cx="1800950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4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99" name="Text Placeholder 29"/>
          <p:cNvSpPr>
            <a:spLocks noGrp="1"/>
          </p:cNvSpPr>
          <p:nvPr>
            <p:ph type="body" sz="quarter" idx="34" hasCustomPrompt="1"/>
          </p:nvPr>
        </p:nvSpPr>
        <p:spPr>
          <a:xfrm>
            <a:off x="3311525" y="2166938"/>
            <a:ext cx="720000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100" name="Text Placeholder 3"/>
          <p:cNvSpPr>
            <a:spLocks noGrp="1"/>
          </p:cNvSpPr>
          <p:nvPr>
            <p:ph type="body" sz="half" idx="35" hasCustomPrompt="1"/>
          </p:nvPr>
        </p:nvSpPr>
        <p:spPr>
          <a:xfrm>
            <a:off x="4031525" y="2922983"/>
            <a:ext cx="1800950" cy="756049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4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101" name="Text Placeholder 29"/>
          <p:cNvSpPr>
            <a:spLocks noGrp="1"/>
          </p:cNvSpPr>
          <p:nvPr>
            <p:ph type="body" sz="quarter" idx="36" hasCustomPrompt="1"/>
          </p:nvPr>
        </p:nvSpPr>
        <p:spPr>
          <a:xfrm>
            <a:off x="3311525" y="2922983"/>
            <a:ext cx="720000" cy="756049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102" name="Text Placeholder 3"/>
          <p:cNvSpPr>
            <a:spLocks noGrp="1"/>
          </p:cNvSpPr>
          <p:nvPr>
            <p:ph type="body" sz="half" idx="37" hasCustomPrompt="1"/>
          </p:nvPr>
        </p:nvSpPr>
        <p:spPr>
          <a:xfrm>
            <a:off x="4031525" y="3679032"/>
            <a:ext cx="1800950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4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103" name="Text Placeholder 29"/>
          <p:cNvSpPr>
            <a:spLocks noGrp="1"/>
          </p:cNvSpPr>
          <p:nvPr>
            <p:ph type="body" sz="quarter" idx="38" hasCustomPrompt="1"/>
          </p:nvPr>
        </p:nvSpPr>
        <p:spPr>
          <a:xfrm>
            <a:off x="3311525" y="3679032"/>
            <a:ext cx="720000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type="body" sz="half" idx="39" hasCustomPrompt="1"/>
          </p:nvPr>
        </p:nvSpPr>
        <p:spPr>
          <a:xfrm>
            <a:off x="6984276" y="2166938"/>
            <a:ext cx="1800672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4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16" name="Text Placeholder 29"/>
          <p:cNvSpPr>
            <a:spLocks noGrp="1"/>
          </p:cNvSpPr>
          <p:nvPr>
            <p:ph type="body" sz="quarter" idx="40" hasCustomPrompt="1"/>
          </p:nvPr>
        </p:nvSpPr>
        <p:spPr>
          <a:xfrm>
            <a:off x="6264275" y="2166938"/>
            <a:ext cx="720000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17" name="Text Placeholder 3"/>
          <p:cNvSpPr>
            <a:spLocks noGrp="1"/>
          </p:cNvSpPr>
          <p:nvPr>
            <p:ph type="body" sz="half" idx="41" hasCustomPrompt="1"/>
          </p:nvPr>
        </p:nvSpPr>
        <p:spPr>
          <a:xfrm>
            <a:off x="6984276" y="2922983"/>
            <a:ext cx="1800672" cy="756049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4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18" name="Text Placeholder 29"/>
          <p:cNvSpPr>
            <a:spLocks noGrp="1"/>
          </p:cNvSpPr>
          <p:nvPr>
            <p:ph type="body" sz="quarter" idx="42" hasCustomPrompt="1"/>
          </p:nvPr>
        </p:nvSpPr>
        <p:spPr>
          <a:xfrm>
            <a:off x="6264275" y="2922983"/>
            <a:ext cx="720000" cy="756049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43" hasCustomPrompt="1"/>
          </p:nvPr>
        </p:nvSpPr>
        <p:spPr>
          <a:xfrm>
            <a:off x="6984276" y="3679032"/>
            <a:ext cx="1800672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ts val="1700"/>
              </a:lnSpc>
              <a:buNone/>
              <a:defRPr sz="14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section title</a:t>
            </a:r>
          </a:p>
        </p:txBody>
      </p:sp>
      <p:sp>
        <p:nvSpPr>
          <p:cNvPr id="20" name="Text Placeholder 29"/>
          <p:cNvSpPr>
            <a:spLocks noGrp="1"/>
          </p:cNvSpPr>
          <p:nvPr>
            <p:ph type="body" sz="quarter" idx="44" hasCustomPrompt="1"/>
          </p:nvPr>
        </p:nvSpPr>
        <p:spPr>
          <a:xfrm>
            <a:off x="6264275" y="3679032"/>
            <a:ext cx="720000" cy="756047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5000" b="0" i="0">
                <a:solidFill>
                  <a:schemeClr val="tx2"/>
                </a:solidFill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21" name="Title 1"/>
          <p:cNvSpPr>
            <a:spLocks noGrp="1"/>
          </p:cNvSpPr>
          <p:nvPr>
            <p:ph type="title" hasCustomPrompt="1"/>
          </p:nvPr>
        </p:nvSpPr>
        <p:spPr>
          <a:xfrm>
            <a:off x="360000" y="276622"/>
            <a:ext cx="8424000" cy="639366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50515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0000" y="276622"/>
            <a:ext cx="8424000" cy="639366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5" name="Content Placeholder 13"/>
          <p:cNvSpPr>
            <a:spLocks noGrp="1"/>
          </p:cNvSpPr>
          <p:nvPr>
            <p:ph sz="quarter" idx="15"/>
          </p:nvPr>
        </p:nvSpPr>
        <p:spPr>
          <a:xfrm>
            <a:off x="358776" y="1410890"/>
            <a:ext cx="3984625" cy="3024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Content Placeholder 13"/>
          <p:cNvSpPr>
            <a:spLocks noGrp="1"/>
          </p:cNvSpPr>
          <p:nvPr>
            <p:ph sz="quarter" idx="16"/>
          </p:nvPr>
        </p:nvSpPr>
        <p:spPr>
          <a:xfrm>
            <a:off x="4800600" y="1410890"/>
            <a:ext cx="3984625" cy="3024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6" name="Text Placeholder 2"/>
          <p:cNvSpPr>
            <a:spLocks noGrp="1"/>
          </p:cNvSpPr>
          <p:nvPr>
            <p:ph type="body" idx="28" hasCustomPrompt="1"/>
          </p:nvPr>
        </p:nvSpPr>
        <p:spPr>
          <a:xfrm>
            <a:off x="360000" y="915988"/>
            <a:ext cx="8424000" cy="252412"/>
          </a:xfrm>
        </p:spPr>
        <p:txBody>
          <a:bodyPr anchor="t"/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700" b="1" i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879725" y="4867276"/>
            <a:ext cx="3384550" cy="1738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30"/>
          <p:cNvSpPr>
            <a:spLocks noGrp="1"/>
          </p:cNvSpPr>
          <p:nvPr>
            <p:ph type="sldNum" sz="quarter" idx="4"/>
          </p:nvPr>
        </p:nvSpPr>
        <p:spPr>
          <a:xfrm>
            <a:off x="352144" y="4867275"/>
            <a:ext cx="412203" cy="17949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F4669F32-90E1-ED4F-B6D9-07697D6A4E9E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285337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0000" y="276225"/>
            <a:ext cx="8424000" cy="63976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8" name="Content Placeholder 37"/>
          <p:cNvSpPr>
            <a:spLocks noGrp="1"/>
          </p:cNvSpPr>
          <p:nvPr>
            <p:ph sz="quarter" idx="15"/>
          </p:nvPr>
        </p:nvSpPr>
        <p:spPr>
          <a:xfrm>
            <a:off x="360001" y="1410891"/>
            <a:ext cx="5472475" cy="30242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Content Placeholder 37"/>
          <p:cNvSpPr>
            <a:spLocks noGrp="1"/>
          </p:cNvSpPr>
          <p:nvPr>
            <p:ph sz="quarter" idx="17"/>
          </p:nvPr>
        </p:nvSpPr>
        <p:spPr>
          <a:xfrm>
            <a:off x="6264276" y="1410891"/>
            <a:ext cx="2520949" cy="30242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2"/>
          <p:cNvSpPr>
            <a:spLocks noGrp="1"/>
          </p:cNvSpPr>
          <p:nvPr>
            <p:ph type="body" idx="28" hasCustomPrompt="1"/>
          </p:nvPr>
        </p:nvSpPr>
        <p:spPr>
          <a:xfrm>
            <a:off x="360000" y="915989"/>
            <a:ext cx="8424000" cy="252412"/>
          </a:xfrm>
        </p:spPr>
        <p:txBody>
          <a:bodyPr anchor="t"/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700" b="1" i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879725" y="4867276"/>
            <a:ext cx="3384550" cy="1738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30"/>
          <p:cNvSpPr>
            <a:spLocks noGrp="1"/>
          </p:cNvSpPr>
          <p:nvPr>
            <p:ph type="sldNum" sz="quarter" idx="4"/>
          </p:nvPr>
        </p:nvSpPr>
        <p:spPr>
          <a:xfrm>
            <a:off x="352144" y="4867275"/>
            <a:ext cx="412203" cy="17949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F4669F32-90E1-ED4F-B6D9-07697D6A4E9E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56096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: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1225" y="276225"/>
            <a:ext cx="8424000" cy="63691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8" name="Content Placeholder 37"/>
          <p:cNvSpPr>
            <a:spLocks noGrp="1"/>
          </p:cNvSpPr>
          <p:nvPr>
            <p:ph sz="quarter" idx="15"/>
          </p:nvPr>
        </p:nvSpPr>
        <p:spPr>
          <a:xfrm>
            <a:off x="360000" y="1410891"/>
            <a:ext cx="2519725" cy="30197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Content Placeholder 37"/>
          <p:cNvSpPr>
            <a:spLocks noGrp="1"/>
          </p:cNvSpPr>
          <p:nvPr>
            <p:ph sz="quarter" idx="17"/>
          </p:nvPr>
        </p:nvSpPr>
        <p:spPr>
          <a:xfrm>
            <a:off x="3311526" y="1410891"/>
            <a:ext cx="5472475" cy="30197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2"/>
          <p:cNvSpPr>
            <a:spLocks noGrp="1"/>
          </p:cNvSpPr>
          <p:nvPr>
            <p:ph type="body" idx="28" hasCustomPrompt="1"/>
          </p:nvPr>
        </p:nvSpPr>
        <p:spPr>
          <a:xfrm>
            <a:off x="360000" y="913143"/>
            <a:ext cx="8424000" cy="255257"/>
          </a:xfrm>
        </p:spPr>
        <p:txBody>
          <a:bodyPr anchor="t"/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879725" y="4867276"/>
            <a:ext cx="3384550" cy="1738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30"/>
          <p:cNvSpPr>
            <a:spLocks noGrp="1"/>
          </p:cNvSpPr>
          <p:nvPr>
            <p:ph type="sldNum" sz="quarter" idx="4"/>
          </p:nvPr>
        </p:nvSpPr>
        <p:spPr>
          <a:xfrm>
            <a:off x="352144" y="4867275"/>
            <a:ext cx="412203" cy="17949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F4669F32-90E1-ED4F-B6D9-07697D6A4E9E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517541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0000" y="276224"/>
            <a:ext cx="8424000" cy="639763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8" name="Content Placeholder 37"/>
          <p:cNvSpPr>
            <a:spLocks noGrp="1"/>
          </p:cNvSpPr>
          <p:nvPr>
            <p:ph sz="quarter" idx="15"/>
          </p:nvPr>
        </p:nvSpPr>
        <p:spPr>
          <a:xfrm>
            <a:off x="360000" y="1410891"/>
            <a:ext cx="2519725" cy="3024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Content Placeholder 37"/>
          <p:cNvSpPr>
            <a:spLocks noGrp="1"/>
          </p:cNvSpPr>
          <p:nvPr>
            <p:ph sz="quarter" idx="16"/>
          </p:nvPr>
        </p:nvSpPr>
        <p:spPr>
          <a:xfrm>
            <a:off x="3311525" y="1410891"/>
            <a:ext cx="2520950" cy="3024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Content Placeholder 37"/>
          <p:cNvSpPr>
            <a:spLocks noGrp="1"/>
          </p:cNvSpPr>
          <p:nvPr>
            <p:ph sz="quarter" idx="17"/>
          </p:nvPr>
        </p:nvSpPr>
        <p:spPr>
          <a:xfrm>
            <a:off x="6264276" y="1410891"/>
            <a:ext cx="2518777" cy="3024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"/>
          <p:cNvSpPr>
            <a:spLocks noGrp="1"/>
          </p:cNvSpPr>
          <p:nvPr>
            <p:ph type="body" idx="28" hasCustomPrompt="1"/>
          </p:nvPr>
        </p:nvSpPr>
        <p:spPr>
          <a:xfrm>
            <a:off x="360000" y="915988"/>
            <a:ext cx="8424000" cy="252412"/>
          </a:xfrm>
        </p:spPr>
        <p:txBody>
          <a:bodyPr anchor="t"/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879725" y="4867276"/>
            <a:ext cx="3384550" cy="1738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0" name="Slide Number Placeholder 30"/>
          <p:cNvSpPr>
            <a:spLocks noGrp="1"/>
          </p:cNvSpPr>
          <p:nvPr>
            <p:ph type="sldNum" sz="quarter" idx="4"/>
          </p:nvPr>
        </p:nvSpPr>
        <p:spPr>
          <a:xfrm>
            <a:off x="352144" y="4867275"/>
            <a:ext cx="412203" cy="17949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F4669F32-90E1-ED4F-B6D9-07697D6A4E9E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2876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0000" y="276224"/>
            <a:ext cx="8424000" cy="639763"/>
          </a:xfrm>
        </p:spPr>
        <p:txBody>
          <a:bodyPr/>
          <a:lstStyle>
            <a:lvl1pPr>
              <a:defRPr b="0" i="0"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28" hasCustomPrompt="1"/>
          </p:nvPr>
        </p:nvSpPr>
        <p:spPr>
          <a:xfrm>
            <a:off x="360000" y="915989"/>
            <a:ext cx="8424000" cy="252412"/>
          </a:xfrm>
        </p:spPr>
        <p:txBody>
          <a:bodyPr anchor="t"/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879725" y="4867276"/>
            <a:ext cx="3384550" cy="1738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30"/>
          <p:cNvSpPr>
            <a:spLocks noGrp="1"/>
          </p:cNvSpPr>
          <p:nvPr>
            <p:ph type="sldNum" sz="quarter" idx="4"/>
          </p:nvPr>
        </p:nvSpPr>
        <p:spPr>
          <a:xfrm>
            <a:off x="352144" y="4867275"/>
            <a:ext cx="412203" cy="17949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F4669F32-90E1-ED4F-B6D9-07697D6A4E9E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Content Placeholder 37"/>
          <p:cNvSpPr>
            <a:spLocks noGrp="1"/>
          </p:cNvSpPr>
          <p:nvPr>
            <p:ph sz="quarter" idx="15"/>
          </p:nvPr>
        </p:nvSpPr>
        <p:spPr>
          <a:xfrm>
            <a:off x="360000" y="1410891"/>
            <a:ext cx="8424000" cy="30242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9678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0000" y="276225"/>
            <a:ext cx="8424000" cy="639764"/>
          </a:xfrm>
        </p:spPr>
        <p:txBody>
          <a:bodyPr/>
          <a:lstStyle>
            <a:lvl1pPr>
              <a:defRPr b="0" i="0"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28" hasCustomPrompt="1"/>
          </p:nvPr>
        </p:nvSpPr>
        <p:spPr>
          <a:xfrm>
            <a:off x="360000" y="915989"/>
            <a:ext cx="8424000" cy="252412"/>
          </a:xfrm>
        </p:spPr>
        <p:txBody>
          <a:bodyPr anchor="t"/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hart Placeholder 3"/>
          <p:cNvSpPr>
            <a:spLocks noGrp="1"/>
          </p:cNvSpPr>
          <p:nvPr userDrawn="1">
            <p:ph type="chart" sz="quarter" idx="29" hasCustomPrompt="1"/>
          </p:nvPr>
        </p:nvSpPr>
        <p:spPr>
          <a:xfrm>
            <a:off x="360000" y="1410891"/>
            <a:ext cx="8424000" cy="3024187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insert chart from template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879725" y="4867276"/>
            <a:ext cx="3384550" cy="1738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30"/>
          <p:cNvSpPr>
            <a:spLocks noGrp="1"/>
          </p:cNvSpPr>
          <p:nvPr>
            <p:ph type="sldNum" sz="quarter" idx="4"/>
          </p:nvPr>
        </p:nvSpPr>
        <p:spPr>
          <a:xfrm>
            <a:off x="352144" y="4867275"/>
            <a:ext cx="412203" cy="17949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F4669F32-90E1-ED4F-B6D9-07697D6A4E9E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4301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879725" y="4867276"/>
            <a:ext cx="3384550" cy="1738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Slide Number Placeholder 30"/>
          <p:cNvSpPr>
            <a:spLocks noGrp="1"/>
          </p:cNvSpPr>
          <p:nvPr>
            <p:ph type="sldNum" sz="quarter" idx="4"/>
          </p:nvPr>
        </p:nvSpPr>
        <p:spPr>
          <a:xfrm>
            <a:off x="352144" y="4867275"/>
            <a:ext cx="412203" cy="17949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F4669F32-90E1-ED4F-B6D9-07697D6A4E9E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360000" y="276224"/>
            <a:ext cx="8424000" cy="639763"/>
          </a:xfrm>
        </p:spPr>
        <p:txBody>
          <a:bodyPr/>
          <a:lstStyle>
            <a:lvl1pPr>
              <a:defRPr b="0" i="0">
                <a:latin typeface="Bebas Neue Regular" charset="0"/>
                <a:ea typeface="Bebas Neue Regular" charset="0"/>
                <a:cs typeface="Bebas Neue Regular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8" hasCustomPrompt="1"/>
          </p:nvPr>
        </p:nvSpPr>
        <p:spPr>
          <a:xfrm>
            <a:off x="360000" y="915989"/>
            <a:ext cx="8424000" cy="252412"/>
          </a:xfrm>
        </p:spPr>
        <p:txBody>
          <a:bodyPr anchor="t"/>
          <a:lstStyle>
            <a:lvl1pPr marL="0" indent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Table style</a:t>
            </a:r>
          </a:p>
        </p:txBody>
      </p:sp>
    </p:spTree>
    <p:extLst>
      <p:ext uri="{BB962C8B-B14F-4D97-AF65-F5344CB8AC3E}">
        <p14:creationId xmlns:p14="http://schemas.microsoft.com/office/powerpoint/2010/main" val="29028204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Dar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947" y="546497"/>
            <a:ext cx="8424000" cy="1215000"/>
          </a:xfrm>
        </p:spPr>
        <p:txBody>
          <a:bodyPr anchor="ctr"/>
          <a:lstStyle>
            <a:lvl1pPr>
              <a:lnSpc>
                <a:spcPct val="95000"/>
              </a:lnSpc>
              <a:defRPr sz="4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9"/>
          <p:cNvSpPr>
            <a:spLocks noGrp="1"/>
          </p:cNvSpPr>
          <p:nvPr>
            <p:ph type="body" sz="quarter" idx="15" hasCustomPrompt="1"/>
          </p:nvPr>
        </p:nvSpPr>
        <p:spPr>
          <a:xfrm>
            <a:off x="366964" y="2166937"/>
            <a:ext cx="8424000" cy="2268203"/>
          </a:xfrm>
        </p:spPr>
        <p:txBody>
          <a:bodyPr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Font typeface="Arial" panose="020B0604020202020204" pitchFamily="34" charset="0"/>
              <a:buChar char="​"/>
              <a:defRPr sz="2100" b="1">
                <a:solidFill>
                  <a:schemeClr val="accent1"/>
                </a:solidFill>
                <a:latin typeface="+mj-lt"/>
              </a:defRPr>
            </a:lvl1pPr>
            <a:lvl2pPr marL="0" indent="0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  <a:buFont typeface="Arial" charset="0"/>
              <a:buNone/>
              <a:tabLst/>
              <a:defRPr sz="1500" b="1">
                <a:solidFill>
                  <a:schemeClr val="tx2">
                    <a:lumMod val="75000"/>
                  </a:schemeClr>
                </a:solidFill>
                <a:latin typeface="+mj-lt"/>
              </a:defRPr>
            </a:lvl2pPr>
            <a:lvl3pPr marL="285750" indent="-28575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Font typeface="Arial" charset="0"/>
              <a:buChar char="•"/>
              <a:defRPr sz="1500">
                <a:solidFill>
                  <a:schemeClr val="tx2">
                    <a:lumMod val="75000"/>
                  </a:schemeClr>
                </a:solidFill>
                <a:latin typeface="+mj-lt"/>
              </a:defRPr>
            </a:lvl3pPr>
            <a:lvl4pPr marL="285750" indent="-28575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Font typeface="Arial" charset="0"/>
              <a:buChar char="•"/>
              <a:defRPr sz="1500">
                <a:solidFill>
                  <a:schemeClr val="tx2">
                    <a:lumMod val="75000"/>
                  </a:schemeClr>
                </a:solidFill>
                <a:latin typeface="+mj-lt"/>
              </a:defRPr>
            </a:lvl4pPr>
            <a:lvl5pPr marL="285750" indent="-28575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Font typeface="Arial" charset="0"/>
              <a:buChar char="•"/>
              <a:defRPr sz="1500">
                <a:solidFill>
                  <a:schemeClr val="tx2">
                    <a:lumMod val="75000"/>
                  </a:schemeClr>
                </a:solidFill>
                <a:latin typeface="+mj-lt"/>
              </a:defRPr>
            </a:lvl5pPr>
            <a:lvl6pPr marL="357188" indent="-171450">
              <a:spcBef>
                <a:spcPts val="200"/>
              </a:spcBef>
              <a:buFont typeface="Arial" charset="0"/>
              <a:buChar char="•"/>
              <a:tabLst/>
              <a:defRPr sz="1400" b="0">
                <a:solidFill>
                  <a:schemeClr val="tx2">
                    <a:lumMod val="75000"/>
                  </a:schemeClr>
                </a:solidFill>
              </a:defRPr>
            </a:lvl6pPr>
            <a:lvl7pPr marL="536575" indent="-171450">
              <a:spcBef>
                <a:spcPts val="200"/>
              </a:spcBef>
              <a:spcAft>
                <a:spcPts val="0"/>
              </a:spcAft>
              <a:buFont typeface="Arial" charset="0"/>
              <a:buChar char="•"/>
              <a:tabLst/>
              <a:defRPr sz="1200">
                <a:solidFill>
                  <a:schemeClr val="tx2"/>
                </a:solidFill>
              </a:defRPr>
            </a:lvl7pPr>
            <a:lvl8pPr marL="439737" indent="-171450">
              <a:buFont typeface="Arial" charset="0"/>
              <a:buChar char="•"/>
              <a:tabLst/>
              <a:defRPr>
                <a:solidFill>
                  <a:schemeClr val="tx2"/>
                </a:solidFill>
              </a:defRPr>
            </a:lvl8pPr>
            <a:lvl9pPr marL="762000" indent="-209550">
              <a:spcBef>
                <a:spcPts val="200"/>
              </a:spcBef>
              <a:spcAft>
                <a:spcPts val="0"/>
              </a:spcAft>
              <a:buFont typeface="Arial" charset="0"/>
              <a:buChar char="•"/>
              <a:tabLst/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5"/>
            <a:r>
              <a:rPr lang="en-US" dirty="0"/>
              <a:t>Third level</a:t>
            </a:r>
          </a:p>
          <a:p>
            <a:pPr lvl="6"/>
            <a:r>
              <a:rPr lang="en-US" dirty="0"/>
              <a:t>Fourth level</a:t>
            </a:r>
          </a:p>
          <a:p>
            <a:pPr lvl="8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39996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947" y="546497"/>
            <a:ext cx="8424000" cy="1215000"/>
          </a:xfrm>
        </p:spPr>
        <p:txBody>
          <a:bodyPr anchor="ctr"/>
          <a:lstStyle>
            <a:lvl1pPr>
              <a:lnSpc>
                <a:spcPct val="95000"/>
              </a:lnSpc>
              <a:defRPr sz="4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9"/>
          <p:cNvSpPr>
            <a:spLocks noGrp="1"/>
          </p:cNvSpPr>
          <p:nvPr>
            <p:ph type="body" sz="quarter" idx="15" hasCustomPrompt="1"/>
          </p:nvPr>
        </p:nvSpPr>
        <p:spPr>
          <a:xfrm>
            <a:off x="366964" y="2166938"/>
            <a:ext cx="8424000" cy="2268202"/>
          </a:xfrm>
        </p:spPr>
        <p:txBody>
          <a:bodyPr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Font typeface="Arial" panose="020B0604020202020204" pitchFamily="34" charset="0"/>
              <a:buChar char="​"/>
              <a:defRPr sz="2100" b="1">
                <a:solidFill>
                  <a:schemeClr val="accent1"/>
                </a:solidFill>
                <a:latin typeface="+mj-lt"/>
              </a:defRPr>
            </a:lvl1pPr>
            <a:lvl2pPr marL="0" indent="0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  <a:buFont typeface="Arial" charset="0"/>
              <a:buNone/>
              <a:tabLst/>
              <a:defRPr sz="1500" b="1">
                <a:solidFill>
                  <a:schemeClr val="tx2">
                    <a:lumMod val="75000"/>
                  </a:schemeClr>
                </a:solidFill>
                <a:latin typeface="+mj-lt"/>
              </a:defRPr>
            </a:lvl2pPr>
            <a:lvl3pPr marL="285750" indent="-28575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Font typeface="Arial" charset="0"/>
              <a:buChar char="•"/>
              <a:defRPr sz="1500">
                <a:solidFill>
                  <a:schemeClr val="tx2">
                    <a:lumMod val="75000"/>
                  </a:schemeClr>
                </a:solidFill>
                <a:latin typeface="+mj-lt"/>
              </a:defRPr>
            </a:lvl3pPr>
            <a:lvl4pPr marL="285750" indent="-28575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Font typeface="Arial" charset="0"/>
              <a:buChar char="•"/>
              <a:defRPr sz="1500">
                <a:solidFill>
                  <a:schemeClr val="tx2">
                    <a:lumMod val="75000"/>
                  </a:schemeClr>
                </a:solidFill>
                <a:latin typeface="+mj-lt"/>
              </a:defRPr>
            </a:lvl4pPr>
            <a:lvl5pPr marL="285750" indent="-28575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Font typeface="Arial" charset="0"/>
              <a:buChar char="•"/>
              <a:defRPr sz="1500">
                <a:solidFill>
                  <a:schemeClr val="tx2">
                    <a:lumMod val="75000"/>
                  </a:schemeClr>
                </a:solidFill>
                <a:latin typeface="+mj-lt"/>
              </a:defRPr>
            </a:lvl5pPr>
            <a:lvl6pPr marL="357188" indent="-171450">
              <a:spcBef>
                <a:spcPts val="200"/>
              </a:spcBef>
              <a:buFont typeface="Arial" charset="0"/>
              <a:buChar char="•"/>
              <a:tabLst/>
              <a:defRPr sz="1400" b="0">
                <a:solidFill>
                  <a:schemeClr val="tx2">
                    <a:lumMod val="75000"/>
                  </a:schemeClr>
                </a:solidFill>
              </a:defRPr>
            </a:lvl6pPr>
            <a:lvl7pPr marL="536575" indent="-171450">
              <a:spcBef>
                <a:spcPts val="200"/>
              </a:spcBef>
              <a:spcAft>
                <a:spcPts val="0"/>
              </a:spcAft>
              <a:buFont typeface="Arial" charset="0"/>
              <a:buChar char="•"/>
              <a:tabLst/>
              <a:defRPr sz="1200">
                <a:solidFill>
                  <a:schemeClr val="tx2"/>
                </a:solidFill>
              </a:defRPr>
            </a:lvl7pPr>
            <a:lvl8pPr marL="439737" indent="-171450">
              <a:buFont typeface="Arial" charset="0"/>
              <a:buChar char="•"/>
              <a:tabLst/>
              <a:defRPr>
                <a:solidFill>
                  <a:schemeClr val="tx2"/>
                </a:solidFill>
              </a:defRPr>
            </a:lvl8pPr>
            <a:lvl9pPr marL="762000" indent="-209550">
              <a:spcBef>
                <a:spcPts val="200"/>
              </a:spcBef>
              <a:spcAft>
                <a:spcPts val="0"/>
              </a:spcAft>
              <a:buFont typeface="Arial" charset="0"/>
              <a:buChar char="•"/>
              <a:tabLst/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5"/>
            <a:r>
              <a:rPr lang="en-US" dirty="0"/>
              <a:t>Third level</a:t>
            </a:r>
          </a:p>
          <a:p>
            <a:pPr lvl="6"/>
            <a:r>
              <a:rPr lang="en-US" dirty="0"/>
              <a:t>Fourth level</a:t>
            </a:r>
          </a:p>
          <a:p>
            <a:pPr lvl="8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39996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gu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 userDrawn="1"/>
        </p:nvSpPr>
        <p:spPr>
          <a:xfrm>
            <a:off x="-952500" y="2219326"/>
            <a:ext cx="65" cy="3323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endParaRPr lang="en-US" sz="1800" dirty="0">
              <a:solidFill>
                <a:schemeClr val="tx2"/>
              </a:solidFill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354932" y="1410891"/>
            <a:ext cx="5480384" cy="3024187"/>
          </a:xfrm>
        </p:spPr>
        <p:txBody>
          <a:bodyPr/>
          <a:lstStyle>
            <a:lvl1pPr marL="0" algn="r" defTabSz="914400" rtl="0" eaLnBrk="1" latinLnBrk="0" hangingPunct="1">
              <a:lnSpc>
                <a:spcPct val="70000"/>
              </a:lnSpc>
              <a:buNone/>
              <a:defRPr lang="en-US" sz="80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5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6264275" y="2166937"/>
            <a:ext cx="2526689" cy="2268203"/>
          </a:xfrm>
        </p:spPr>
        <p:txBody>
          <a:bodyPr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Font typeface="Arial" panose="020B0604020202020204" pitchFamily="34" charset="0"/>
              <a:buChar char="​"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  <a:buFont typeface="Arial" charset="0"/>
              <a:buNone/>
              <a:tabLst/>
              <a:defRPr sz="1500" b="1">
                <a:solidFill>
                  <a:schemeClr val="tx2">
                    <a:lumMod val="75000"/>
                  </a:schemeClr>
                </a:solidFill>
                <a:latin typeface="+mj-lt"/>
              </a:defRPr>
            </a:lvl2pPr>
            <a:lvl3pPr marL="285750" indent="-28575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Font typeface="Arial" charset="0"/>
              <a:buChar char="•"/>
              <a:defRPr sz="1500">
                <a:solidFill>
                  <a:schemeClr val="tx2">
                    <a:lumMod val="75000"/>
                  </a:schemeClr>
                </a:solidFill>
                <a:latin typeface="+mj-lt"/>
              </a:defRPr>
            </a:lvl3pPr>
            <a:lvl4pPr marL="285750" indent="-28575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Font typeface="Arial" charset="0"/>
              <a:buChar char="•"/>
              <a:defRPr sz="1500">
                <a:solidFill>
                  <a:schemeClr val="tx2">
                    <a:lumMod val="75000"/>
                  </a:schemeClr>
                </a:solidFill>
                <a:latin typeface="+mj-lt"/>
              </a:defRPr>
            </a:lvl4pPr>
            <a:lvl5pPr marL="285750" indent="-28575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Font typeface="Arial" charset="0"/>
              <a:buChar char="•"/>
              <a:defRPr sz="1500">
                <a:solidFill>
                  <a:schemeClr val="tx2">
                    <a:lumMod val="75000"/>
                  </a:schemeClr>
                </a:solidFill>
                <a:latin typeface="+mj-lt"/>
              </a:defRPr>
            </a:lvl5pPr>
            <a:lvl6pPr marL="357188" indent="-171450">
              <a:spcBef>
                <a:spcPts val="200"/>
              </a:spcBef>
              <a:buFont typeface="Arial" charset="0"/>
              <a:buChar char="•"/>
              <a:tabLst/>
              <a:defRPr sz="1400" b="0">
                <a:solidFill>
                  <a:schemeClr val="tx2">
                    <a:lumMod val="75000"/>
                  </a:schemeClr>
                </a:solidFill>
              </a:defRPr>
            </a:lvl6pPr>
            <a:lvl7pPr marL="536575" indent="-171450">
              <a:spcBef>
                <a:spcPts val="200"/>
              </a:spcBef>
              <a:spcAft>
                <a:spcPts val="0"/>
              </a:spcAft>
              <a:buFont typeface="Arial" charset="0"/>
              <a:buChar char="•"/>
              <a:tabLst/>
              <a:defRPr sz="1200">
                <a:solidFill>
                  <a:schemeClr val="tx2"/>
                </a:solidFill>
              </a:defRPr>
            </a:lvl7pPr>
            <a:lvl8pPr marL="439737" indent="-171450">
              <a:buFont typeface="Arial" charset="0"/>
              <a:buChar char="•"/>
              <a:tabLst/>
              <a:defRPr>
                <a:solidFill>
                  <a:schemeClr val="tx2"/>
                </a:solidFill>
              </a:defRPr>
            </a:lvl8pPr>
            <a:lvl9pPr marL="762000" indent="-209550">
              <a:spcBef>
                <a:spcPts val="200"/>
              </a:spcBef>
              <a:spcAft>
                <a:spcPts val="0"/>
              </a:spcAft>
              <a:buFont typeface="Arial" charset="0"/>
              <a:buChar char="•"/>
              <a:tabLst/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5"/>
            <a:r>
              <a:rPr lang="en-US" dirty="0"/>
              <a:t>Third level</a:t>
            </a:r>
          </a:p>
          <a:p>
            <a:pPr lvl="6"/>
            <a:r>
              <a:rPr lang="en-US" dirty="0"/>
              <a:t>Fourth level</a:t>
            </a:r>
          </a:p>
          <a:p>
            <a:pPr lvl="8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01853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879725" y="4867276"/>
            <a:ext cx="3384550" cy="1738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30" name="Slide Number Placeholder 30"/>
          <p:cNvSpPr>
            <a:spLocks noGrp="1"/>
          </p:cNvSpPr>
          <p:nvPr>
            <p:ph type="sldNum" sz="quarter" idx="4"/>
          </p:nvPr>
        </p:nvSpPr>
        <p:spPr>
          <a:xfrm>
            <a:off x="352144" y="4867275"/>
            <a:ext cx="412203" cy="17949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F4669F32-90E1-ED4F-B6D9-07697D6A4E9E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88603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99776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240030"/>
            <a:ext cx="69951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1148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25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6554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1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 userDrawn="1"/>
        </p:nvSpPr>
        <p:spPr>
          <a:xfrm>
            <a:off x="0" y="4435079"/>
            <a:ext cx="9144000" cy="7128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60000" y="276456"/>
            <a:ext cx="8424000" cy="6395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0000" y="1410891"/>
            <a:ext cx="8425225" cy="30241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8" name="Image 8"/>
          <p:cNvPicPr>
            <a:picLocks noChangeAspect="1"/>
          </p:cNvPicPr>
          <p:nvPr userDrawn="1"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80"/>
          <a:stretch/>
        </p:blipFill>
        <p:spPr bwMode="auto">
          <a:xfrm>
            <a:off x="7060992" y="4611515"/>
            <a:ext cx="1724233" cy="3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3"/>
          <p:cNvSpPr/>
          <p:nvPr userDrawn="1"/>
        </p:nvSpPr>
        <p:spPr>
          <a:xfrm>
            <a:off x="359999" y="-607101"/>
            <a:ext cx="2519726" cy="106805"/>
          </a:xfrm>
          <a:prstGeom prst="rect">
            <a:avLst/>
          </a:prstGeom>
          <a:pattFill prst="dkUpDiag">
            <a:fgClr>
              <a:schemeClr val="bg2"/>
            </a:fgClr>
            <a:bgClr>
              <a:schemeClr val="accent4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7" name="Rectangle 6"/>
          <p:cNvSpPr/>
          <p:nvPr userDrawn="1"/>
        </p:nvSpPr>
        <p:spPr>
          <a:xfrm>
            <a:off x="3312749" y="-607101"/>
            <a:ext cx="2519726" cy="106805"/>
          </a:xfrm>
          <a:prstGeom prst="rect">
            <a:avLst/>
          </a:prstGeom>
          <a:pattFill prst="dkUpDiag">
            <a:fgClr>
              <a:schemeClr val="bg2"/>
            </a:fgClr>
            <a:bgClr>
              <a:schemeClr val="accent4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6265499" y="-607101"/>
            <a:ext cx="2519726" cy="106805"/>
          </a:xfrm>
          <a:prstGeom prst="rect">
            <a:avLst/>
          </a:prstGeom>
          <a:pattFill prst="dkUpDiag">
            <a:fgClr>
              <a:schemeClr val="bg2"/>
            </a:fgClr>
            <a:bgClr>
              <a:schemeClr val="accent4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9" name="Rectangle 8"/>
          <p:cNvSpPr/>
          <p:nvPr userDrawn="1"/>
        </p:nvSpPr>
        <p:spPr>
          <a:xfrm flipH="1">
            <a:off x="2879725" y="-713946"/>
            <a:ext cx="433024" cy="106844"/>
          </a:xfrm>
          <a:prstGeom prst="rect">
            <a:avLst/>
          </a:prstGeom>
          <a:pattFill prst="dkUpDiag">
            <a:fgClr>
              <a:schemeClr val="bg2"/>
            </a:fgClr>
            <a:bgClr>
              <a:schemeClr val="accent4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10" name="Rectangle 9"/>
          <p:cNvSpPr/>
          <p:nvPr userDrawn="1"/>
        </p:nvSpPr>
        <p:spPr>
          <a:xfrm flipH="1">
            <a:off x="5832475" y="-713946"/>
            <a:ext cx="433024" cy="106844"/>
          </a:xfrm>
          <a:prstGeom prst="rect">
            <a:avLst/>
          </a:prstGeom>
          <a:pattFill prst="dkUpDiag">
            <a:fgClr>
              <a:schemeClr val="bg2"/>
            </a:fgClr>
            <a:bgClr>
              <a:schemeClr val="accent4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11" name="Rectangle 10"/>
          <p:cNvSpPr/>
          <p:nvPr userDrawn="1"/>
        </p:nvSpPr>
        <p:spPr>
          <a:xfrm flipH="1">
            <a:off x="-3" y="-713946"/>
            <a:ext cx="358775" cy="106844"/>
          </a:xfrm>
          <a:prstGeom prst="rect">
            <a:avLst/>
          </a:prstGeom>
          <a:pattFill prst="dkUpDiag">
            <a:fgClr>
              <a:schemeClr val="bg2"/>
            </a:fgClr>
            <a:bgClr>
              <a:schemeClr val="accent4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12" name="Rectangle 11"/>
          <p:cNvSpPr/>
          <p:nvPr userDrawn="1"/>
        </p:nvSpPr>
        <p:spPr>
          <a:xfrm flipH="1">
            <a:off x="8785223" y="-713946"/>
            <a:ext cx="358775" cy="106844"/>
          </a:xfrm>
          <a:prstGeom prst="rect">
            <a:avLst/>
          </a:prstGeom>
          <a:pattFill prst="dkUpDiag">
            <a:fgClr>
              <a:schemeClr val="bg2"/>
            </a:fgClr>
            <a:bgClr>
              <a:schemeClr val="accent4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13" name="Rectangle 12"/>
          <p:cNvSpPr/>
          <p:nvPr userDrawn="1"/>
        </p:nvSpPr>
        <p:spPr>
          <a:xfrm flipH="1">
            <a:off x="-791527" y="0"/>
            <a:ext cx="144000" cy="276225"/>
          </a:xfrm>
          <a:prstGeom prst="rect">
            <a:avLst/>
          </a:prstGeom>
          <a:pattFill prst="dkUpDiag">
            <a:fgClr>
              <a:schemeClr val="bg2"/>
            </a:fgClr>
            <a:bgClr>
              <a:schemeClr val="accent4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14" name="Rectangle 13"/>
          <p:cNvSpPr/>
          <p:nvPr userDrawn="1"/>
        </p:nvSpPr>
        <p:spPr>
          <a:xfrm flipH="1">
            <a:off x="-935527" y="4867275"/>
            <a:ext cx="144000" cy="276225"/>
          </a:xfrm>
          <a:prstGeom prst="rect">
            <a:avLst/>
          </a:prstGeom>
          <a:pattFill prst="dkUpDiag">
            <a:fgClr>
              <a:schemeClr val="bg2"/>
            </a:fgClr>
            <a:bgClr>
              <a:schemeClr val="accent4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15" name="Rectangle 14"/>
          <p:cNvSpPr/>
          <p:nvPr userDrawn="1"/>
        </p:nvSpPr>
        <p:spPr>
          <a:xfrm flipH="1">
            <a:off x="-791527" y="546496"/>
            <a:ext cx="144000" cy="621508"/>
          </a:xfrm>
          <a:prstGeom prst="rect">
            <a:avLst/>
          </a:prstGeom>
          <a:pattFill prst="dkUpDiag">
            <a:fgClr>
              <a:schemeClr val="bg2"/>
            </a:fgClr>
            <a:bgClr>
              <a:schemeClr val="accent4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18" name="Rectangle 17"/>
          <p:cNvSpPr/>
          <p:nvPr userDrawn="1"/>
        </p:nvSpPr>
        <p:spPr>
          <a:xfrm flipH="1">
            <a:off x="-935527" y="3679031"/>
            <a:ext cx="144000" cy="756048"/>
          </a:xfrm>
          <a:prstGeom prst="rect">
            <a:avLst/>
          </a:prstGeom>
          <a:pattFill prst="dkUpDiag">
            <a:fgClr>
              <a:schemeClr val="bg2"/>
            </a:fgClr>
            <a:bgClr>
              <a:schemeClr val="accent4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20" name="Rectangle 19"/>
          <p:cNvSpPr/>
          <p:nvPr userDrawn="1"/>
        </p:nvSpPr>
        <p:spPr>
          <a:xfrm flipH="1">
            <a:off x="-791527" y="2925269"/>
            <a:ext cx="144000" cy="756048"/>
          </a:xfrm>
          <a:prstGeom prst="rect">
            <a:avLst/>
          </a:prstGeom>
          <a:pattFill prst="dkUpDiag">
            <a:fgClr>
              <a:schemeClr val="bg2"/>
            </a:fgClr>
            <a:bgClr>
              <a:schemeClr val="accent4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21" name="Rectangle 20"/>
          <p:cNvSpPr/>
          <p:nvPr userDrawn="1"/>
        </p:nvSpPr>
        <p:spPr>
          <a:xfrm flipH="1">
            <a:off x="-935527" y="2164650"/>
            <a:ext cx="144000" cy="756048"/>
          </a:xfrm>
          <a:prstGeom prst="rect">
            <a:avLst/>
          </a:prstGeom>
          <a:pattFill prst="dkUpDiag">
            <a:fgClr>
              <a:schemeClr val="bg2"/>
            </a:fgClr>
            <a:bgClr>
              <a:schemeClr val="accent4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22" name="Rectangle 21"/>
          <p:cNvSpPr/>
          <p:nvPr userDrawn="1"/>
        </p:nvSpPr>
        <p:spPr>
          <a:xfrm flipH="1">
            <a:off x="-791527" y="1410889"/>
            <a:ext cx="144000" cy="756048"/>
          </a:xfrm>
          <a:prstGeom prst="rect">
            <a:avLst/>
          </a:prstGeom>
          <a:pattFill prst="dkUpDiag">
            <a:fgClr>
              <a:schemeClr val="bg2"/>
            </a:fgClr>
            <a:bgClr>
              <a:schemeClr val="accent4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23" name="Rectangle 22"/>
          <p:cNvSpPr/>
          <p:nvPr userDrawn="1"/>
        </p:nvSpPr>
        <p:spPr>
          <a:xfrm flipH="1">
            <a:off x="-935527" y="1168800"/>
            <a:ext cx="144000" cy="239804"/>
          </a:xfrm>
          <a:prstGeom prst="rect">
            <a:avLst/>
          </a:prstGeom>
          <a:pattFill prst="dkUpDiag">
            <a:fgClr>
              <a:schemeClr val="bg2"/>
            </a:fgClr>
            <a:bgClr>
              <a:schemeClr val="accent4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24" name="Rectangle 23"/>
          <p:cNvSpPr/>
          <p:nvPr userDrawn="1"/>
        </p:nvSpPr>
        <p:spPr>
          <a:xfrm flipH="1">
            <a:off x="-935527" y="276225"/>
            <a:ext cx="144000" cy="270272"/>
          </a:xfrm>
          <a:prstGeom prst="rect">
            <a:avLst/>
          </a:prstGeom>
          <a:pattFill prst="dkUpDiag">
            <a:fgClr>
              <a:schemeClr val="bg2"/>
            </a:fgClr>
            <a:bgClr>
              <a:schemeClr val="accent4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>
            <a:off x="-791527" y="4435078"/>
            <a:ext cx="144000" cy="432197"/>
          </a:xfrm>
          <a:prstGeom prst="rect">
            <a:avLst/>
          </a:prstGeom>
          <a:pattFill prst="dkUpDiag">
            <a:fgClr>
              <a:schemeClr val="bg2"/>
            </a:fgClr>
            <a:bgClr>
              <a:schemeClr val="accent4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28600" tIns="228600" rIns="228600" bIns="228600" rtlCol="0" anchor="ctr">
            <a:noAutofit/>
          </a:bodyPr>
          <a:lstStyle/>
          <a:p>
            <a:pPr algn="ctr"/>
            <a:endParaRPr lang="en-GB" sz="1400" dirty="0">
              <a:solidFill>
                <a:schemeClr val="bg1"/>
              </a:solidFill>
              <a:latin typeface="Franklin Gothic Demi Cond" panose="020B0706030402020204" pitchFamily="34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2879725" y="4867276"/>
            <a:ext cx="3384550" cy="1738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31" name="Slide Number Placeholder 30"/>
          <p:cNvSpPr>
            <a:spLocks noGrp="1"/>
          </p:cNvSpPr>
          <p:nvPr>
            <p:ph type="sldNum" sz="quarter" idx="4"/>
          </p:nvPr>
        </p:nvSpPr>
        <p:spPr>
          <a:xfrm>
            <a:off x="352144" y="4867275"/>
            <a:ext cx="412203" cy="17949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F4669F32-90E1-ED4F-B6D9-07697D6A4E9E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772971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65" r:id="rId2"/>
    <p:sldLayoutId id="2147483666" r:id="rId3"/>
    <p:sldLayoutId id="2147483658" r:id="rId4"/>
    <p:sldLayoutId id="2147483655" r:id="rId5"/>
    <p:sldLayoutId id="2147483652" r:id="rId6"/>
    <p:sldLayoutId id="2147483654" r:id="rId7"/>
    <p:sldLayoutId id="2147483651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6" r:id="rId15"/>
    <p:sldLayoutId id="2147483669" r:id="rId16"/>
    <p:sldLayoutId id="2147483670" r:id="rId17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800" b="0" i="0" kern="1200">
          <a:solidFill>
            <a:schemeClr val="tx2"/>
          </a:solidFill>
          <a:latin typeface="Bebas Neue Regular" charset="0"/>
          <a:ea typeface="Bebas Neue Regular" charset="0"/>
          <a:cs typeface="Bebas Neue Regular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sz="1600" b="1" i="0" kern="1200">
          <a:solidFill>
            <a:schemeClr val="accent1"/>
          </a:solidFill>
          <a:latin typeface="+mn-lt"/>
          <a:ea typeface="+mn-ea"/>
          <a:cs typeface="+mn-cs"/>
        </a:defRPr>
      </a:lvl1pPr>
      <a:lvl2pPr marL="179388" indent="-179388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360363" indent="-174625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100" kern="1200">
          <a:solidFill>
            <a:schemeClr val="tx2"/>
          </a:solidFill>
          <a:latin typeface="+mn-lt"/>
          <a:ea typeface="+mn-ea"/>
          <a:cs typeface="+mn-cs"/>
        </a:defRPr>
      </a:lvl3pPr>
      <a:lvl4pPr marL="533400" indent="-173038" algn="l" defTabSz="914400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Font typeface="Wingdings" panose="05000000000000000000" pitchFamily="2" charset="2"/>
        <a:buChar char="§"/>
        <a:tabLst/>
        <a:defRPr sz="1100" kern="1200">
          <a:solidFill>
            <a:schemeClr val="tx2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714375" indent="-180975" algn="l" defTabSz="914400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Font typeface="Wingdings" panose="05000000000000000000" pitchFamily="2" charset="2"/>
        <a:buChar char="§"/>
        <a:tabLst/>
        <a:defRPr sz="1100" kern="1200">
          <a:solidFill>
            <a:schemeClr val="tx2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​"/>
        <a:defRPr sz="1100" b="1" kern="1200">
          <a:solidFill>
            <a:schemeClr val="bg2">
              <a:lumMod val="90000"/>
            </a:schemeClr>
          </a:solidFill>
          <a:latin typeface="+mj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​"/>
        <a:defRPr sz="1100" kern="1200">
          <a:solidFill>
            <a:schemeClr val="bg2">
              <a:lumMod val="90000"/>
            </a:schemeClr>
          </a:solidFill>
          <a:latin typeface="+mj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​"/>
        <a:defRPr sz="1100" kern="1200">
          <a:solidFill>
            <a:schemeClr val="accent1"/>
          </a:solidFill>
          <a:latin typeface="+mj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​"/>
        <a:defRPr sz="1100" kern="1200">
          <a:solidFill>
            <a:schemeClr val="accent3"/>
          </a:solidFill>
          <a:latin typeface="+mj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4" userDrawn="1">
          <p15:clr>
            <a:srgbClr val="F26B43"/>
          </p15:clr>
        </p15:guide>
        <p15:guide id="2" orient="horz" pos="577" userDrawn="1">
          <p15:clr>
            <a:srgbClr val="F26B43"/>
          </p15:clr>
        </p15:guide>
        <p15:guide id="3" orient="horz" pos="735" userDrawn="1">
          <p15:clr>
            <a:srgbClr val="F26B43"/>
          </p15:clr>
        </p15:guide>
        <p15:guide id="4" orient="horz" pos="889" userDrawn="1">
          <p15:clr>
            <a:srgbClr val="F26B43"/>
          </p15:clr>
        </p15:guide>
        <p15:guide id="5" orient="horz" pos="1365" userDrawn="1">
          <p15:clr>
            <a:srgbClr val="F26B43"/>
          </p15:clr>
        </p15:guide>
        <p15:guide id="6" orient="horz" pos="1841" userDrawn="1">
          <p15:clr>
            <a:srgbClr val="F26B43"/>
          </p15:clr>
        </p15:guide>
        <p15:guide id="7" orient="horz" pos="2794" userDrawn="1">
          <p15:clr>
            <a:srgbClr val="F26B43"/>
          </p15:clr>
        </p15:guide>
        <p15:guide id="8" orient="horz" pos="2318" userDrawn="1">
          <p15:clr>
            <a:srgbClr val="F26B43"/>
          </p15:clr>
        </p15:guide>
        <p15:guide id="9" orient="horz" pos="3066" userDrawn="1">
          <p15:clr>
            <a:srgbClr val="F26B43"/>
          </p15:clr>
        </p15:guide>
        <p15:guide id="10" pos="226" userDrawn="1">
          <p15:clr>
            <a:srgbClr val="F26B43"/>
          </p15:clr>
        </p15:guide>
        <p15:guide id="11" pos="1814" userDrawn="1">
          <p15:clr>
            <a:srgbClr val="F26B43"/>
          </p15:clr>
        </p15:guide>
        <p15:guide id="12" pos="2086" userDrawn="1">
          <p15:clr>
            <a:srgbClr val="F26B43"/>
          </p15:clr>
        </p15:guide>
        <p15:guide id="13" pos="3674" userDrawn="1">
          <p15:clr>
            <a:srgbClr val="F26B43"/>
          </p15:clr>
        </p15:guide>
        <p15:guide id="14" pos="3946" userDrawn="1">
          <p15:clr>
            <a:srgbClr val="F26B43"/>
          </p15:clr>
        </p15:guide>
        <p15:guide id="15" pos="553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microsoft.com/office/2007/relationships/hdphoto" Target="../media/hdphoto1.wdp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2800" dirty="0"/>
            </a:br>
            <a:r>
              <a:rPr lang="en-US" sz="2800" dirty="0"/>
              <a:t>Aptamer-Based Detection of Enteric Viruses in </a:t>
            </a:r>
            <a:r>
              <a:rPr lang="en-US" sz="2800" dirty="0" err="1"/>
              <a:t>Faecal Samples</a:t>
            </a:r>
            <a:r>
              <a:rPr lang="en-US" sz="2800" dirty="0"/>
              <a:t>: A Novel Platform to Assess the Viral Risk of </a:t>
            </a:r>
            <a:r>
              <a:rPr lang="en-US" sz="2800" dirty="0" err="1"/>
              <a:t>Faecal Microbiota</a:t>
            </a:r>
            <a:r>
              <a:rPr lang="en-US" sz="2800" dirty="0"/>
              <a:t> Transplants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Nazanin KHAZALI</a:t>
            </a:r>
            <a:br>
              <a:rPr lang="en-US" dirty="0"/>
            </a:br>
            <a:r>
              <a:rPr lang="en-US" dirty="0"/>
              <a:t>PhD student </a:t>
            </a:r>
          </a:p>
          <a:p>
            <a:endParaRPr lang="en-US" dirty="0"/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Supervisor: Dr. Leslie OGORZALY</a:t>
            </a:r>
          </a:p>
          <a:p>
            <a:pPr lvl="1"/>
            <a:endParaRPr lang="en-US" dirty="0"/>
          </a:p>
          <a:p>
            <a:pPr lvl="1"/>
            <a:br>
              <a:rPr lang="en-US" dirty="0"/>
            </a:br>
            <a:endParaRPr lang="en-US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07567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000" y="276456"/>
            <a:ext cx="8424000" cy="639532"/>
          </a:xfrm>
        </p:spPr>
        <p:txBody>
          <a:bodyPr/>
          <a:lstStyle/>
          <a:p>
            <a:r>
              <a:rPr lang="en-US" b="1" dirty="0"/>
              <a:t>Why we need a rapid test?</a:t>
            </a:r>
            <a:br>
              <a:rPr lang="en-US" b="1" cap="all" dirty="0"/>
            </a:br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4"/>
          </p:nvPr>
        </p:nvSpPr>
        <p:spPr>
          <a:xfrm>
            <a:off x="360000" y="4846320"/>
            <a:ext cx="457200" cy="182880"/>
          </a:xfrm>
        </p:spPr>
        <p:txBody>
          <a:bodyPr/>
          <a:lstStyle/>
          <a:p>
            <a:fld id="{F4669F32-90E1-ED4F-B6D9-07697D6A4E9E}" type="slidenum">
              <a:rPr lang="en-GB" smtClean="0"/>
              <a:pPr/>
              <a:t>2</a:t>
            </a:fld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117397-EDF2-D071-C14C-78C2456D97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144" y="915988"/>
            <a:ext cx="8425225" cy="3593886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AC5B4A-CF38-B3DA-50FE-F86D13DFF598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7946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0F576-2C29-BB0B-1770-1B4E219B8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276456"/>
            <a:ext cx="8424000" cy="639532"/>
          </a:xfrm>
        </p:spPr>
        <p:txBody>
          <a:bodyPr/>
          <a:lstStyle/>
          <a:p>
            <a:r>
              <a:rPr lang="en-US" b="1" dirty="0"/>
              <a:t>Why norovirus?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9790777-1BB5-0170-F4F8-9E6BC8E693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9E5E2DA-915B-06B8-230D-161874119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60000" y="4846320"/>
            <a:ext cx="457200" cy="182880"/>
          </a:xfrm>
        </p:spPr>
        <p:txBody>
          <a:bodyPr/>
          <a:lstStyle/>
          <a:p>
            <a:fld id="{F4669F32-90E1-ED4F-B6D9-07697D6A4E9E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EE76D8-0D42-B669-3C11-C599273CB592}"/>
              </a:ext>
            </a:extLst>
          </p:cNvPr>
          <p:cNvSpPr txBox="1"/>
          <p:nvPr/>
        </p:nvSpPr>
        <p:spPr>
          <a:xfrm>
            <a:off x="421445" y="1110126"/>
            <a:ext cx="6379200" cy="344709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Global leading cause</a:t>
            </a:r>
            <a:endParaRPr lang="en-US" sz="1600" b="1" dirty="0"/>
          </a:p>
          <a:p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of acute gastroenteritis across all age groups</a:t>
            </a:r>
          </a:p>
          <a:p>
            <a:endParaRPr lang="en-US" sz="160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Outbreak hotspots</a:t>
            </a:r>
            <a:endParaRPr lang="en-US" sz="1600" dirty="0"/>
          </a:p>
          <a:p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hospitals, care homes, schools, cruise ships, military &amp; food industry</a:t>
            </a:r>
          </a:p>
          <a:p>
            <a:endParaRPr lang="en-US" sz="160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Extremely low infectious dose</a:t>
            </a:r>
            <a:endParaRPr lang="en-US" sz="1600" dirty="0"/>
          </a:p>
          <a:p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as few as ~18 viral particles can cause infection</a:t>
            </a:r>
          </a:p>
          <a:p>
            <a:endParaRPr lang="en-US" sz="160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Massive viral shedding</a:t>
            </a:r>
            <a:endParaRPr lang="en-US" sz="1600" dirty="0"/>
          </a:p>
          <a:p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billions of copies per gram of stool</a:t>
            </a:r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E0533D2-6D26-7036-EAB5-5FD9EF75A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4356" y="2623436"/>
            <a:ext cx="3272578" cy="1812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547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360000" y="276456"/>
            <a:ext cx="8424000" cy="63953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dirty="0" b="1"/>
              <a:t>Three work packages</a:t>
            </a:r>
          </a:p>
        </p:txBody>
      </p:sp>
      <p:sp>
        <p:nvSpPr>
          <p:cNvPr id="3" name="Shape 1"/>
          <p:cNvSpPr/>
          <p:nvPr/>
        </p:nvSpPr>
        <p:spPr>
          <a:xfrm>
            <a:off x="1303020" y="2160270"/>
            <a:ext cx="6515100" cy="0"/>
          </a:xfrm>
          <a:prstGeom prst="line">
            <a:avLst/>
          </a:prstGeom>
          <a:noFill/>
          <a:ln w="50800">
            <a:solidFill>
              <a:schemeClr val="accent5"/>
            </a:solidFill>
            <a:prstDash val="dash"/>
          </a:ln>
        </p:spPr>
        <p:txBody>
          <a:bodyPr/>
          <a:lstStyle/>
          <a:p>
            <a:endParaRPr lang="en-US" sz="1350"/>
          </a:p>
        </p:txBody>
      </p:sp>
      <p:sp>
        <p:nvSpPr>
          <p:cNvPr id="4" name="roadmap-WP1"/>
          <p:cNvSpPr/>
          <p:nvPr/>
        </p:nvSpPr>
        <p:spPr>
          <a:xfrm>
            <a:off x="1303020" y="1611630"/>
            <a:ext cx="1097280" cy="1097280"/>
          </a:xfrm>
          <a:prstGeom prst="ellipse">
            <a:avLst/>
          </a:prstGeom>
          <a:solidFill>
            <a:schemeClr val="accent1"/>
          </a:solidFill>
          <a:ln w="508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" name="Text 3"/>
          <p:cNvSpPr txBox="1"/>
          <p:nvPr/>
        </p:nvSpPr>
        <p:spPr>
          <a:xfrm>
            <a:off x="1303020" y="161163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b="1" dirty="0">
                <a:solidFill>
                  <a:schemeClr val="bg1"/>
                </a:solidFill>
              </a:rPr>
              <a:t>WP1</a:t>
            </a:r>
            <a:endParaRPr lang="en-US" sz="19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948940"/>
            <a:ext cx="23317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350" b="1" dirty="0"/>
              <a:t>How much does the viral picture change across the interval?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71900"/>
            <a:ext cx="23317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25" i="1" dirty="0">
                <a:solidFill>
                  <a:schemeClr val="tx2"/>
                </a:solidFill>
              </a:rPr>
              <a:t>how large is the gap</a:t>
            </a:r>
            <a:endParaRPr lang="en-US" sz="1125" dirty="0"/>
          </a:p>
        </p:txBody>
      </p:sp>
      <p:sp>
        <p:nvSpPr>
          <p:cNvPr id="8" name="roadmap-WP2"/>
          <p:cNvSpPr/>
          <p:nvPr/>
        </p:nvSpPr>
        <p:spPr>
          <a:xfrm>
            <a:off x="4114800" y="1611630"/>
            <a:ext cx="1097280" cy="1097280"/>
          </a:xfrm>
          <a:prstGeom prst="ellipse">
            <a:avLst/>
          </a:prstGeom>
          <a:solidFill>
            <a:schemeClr val="accent2"/>
          </a:solidFill>
          <a:ln w="508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9" name="Text 7"/>
          <p:cNvSpPr txBox="1"/>
          <p:nvPr/>
        </p:nvSpPr>
        <p:spPr>
          <a:xfrm>
            <a:off x="4114800" y="161163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b="1" dirty="0">
                <a:solidFill>
                  <a:schemeClr val="bg1"/>
                </a:solidFill>
              </a:rPr>
              <a:t>WP2</a:t>
            </a:r>
            <a:endParaRPr lang="en-US" sz="1950" dirty="0"/>
          </a:p>
        </p:txBody>
      </p:sp>
      <p:sp>
        <p:nvSpPr>
          <p:cNvPr id="10" name="Text 8"/>
          <p:cNvSpPr txBox="1"/>
          <p:nvPr/>
        </p:nvSpPr>
        <p:spPr>
          <a:xfrm>
            <a:off x="3497580" y="2948940"/>
            <a:ext cx="23317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350" b="1" dirty="0"/>
              <a:t>How do our aptamers recognise the virus — in buffer and in stool?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97580" y="3771900"/>
            <a:ext cx="23317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25" i="1" dirty="0">
                <a:solidFill>
                  <a:schemeClr val="tx2"/>
                </a:solidFill>
              </a:rPr>
              <a:t>the recognition</a:t>
            </a:r>
            <a:endParaRPr lang="en-US" sz="1125" dirty="0"/>
          </a:p>
        </p:txBody>
      </p:sp>
      <p:sp>
        <p:nvSpPr>
          <p:cNvPr id="12" name="roadmap-WP3"/>
          <p:cNvSpPr/>
          <p:nvPr/>
        </p:nvSpPr>
        <p:spPr>
          <a:xfrm>
            <a:off x="6926580" y="1611630"/>
            <a:ext cx="1097280" cy="1097280"/>
          </a:xfrm>
          <a:prstGeom prst="ellipse">
            <a:avLst/>
          </a:prstGeom>
          <a:solidFill>
            <a:schemeClr val="accent4"/>
          </a:solidFill>
          <a:ln w="508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3" name="Text 11"/>
          <p:cNvSpPr txBox="1"/>
          <p:nvPr/>
        </p:nvSpPr>
        <p:spPr>
          <a:xfrm>
            <a:off x="6926580" y="161163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b="1" dirty="0">
                <a:solidFill>
                  <a:schemeClr val="bg1"/>
                </a:solidFill>
              </a:rPr>
              <a:t>WP3</a:t>
            </a:r>
            <a:endParaRPr lang="en-US" sz="195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948940"/>
            <a:ext cx="23317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350" b="1" dirty="0"/>
              <a:t>Can that recognition become a visible line on a strip?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71900"/>
            <a:ext cx="23317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25" i="1" dirty="0">
                <a:solidFill>
                  <a:schemeClr val="tx2"/>
                </a:solidFill>
              </a:rPr>
              <a:t>the test</a:t>
            </a:r>
            <a:endParaRPr lang="en-US" sz="11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0000" y="4846320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25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D82A6-17DD-B909-6878-55BDA370C8BC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360000" y="276456"/>
            <a:ext cx="8424000" cy="639532"/>
          </a:xfrm>
        </p:spPr>
        <p:txBody>
          <a:bodyPr/>
          <a:lstStyle/>
          <a:p>
            <a:r>
              <a:rPr lang="en-US" dirty="0" b="1"/>
              <a:t>Work package 1: How much does the viral picture change across the interval?</a:t>
            </a:r>
            <a:br>
              <a:rPr lang="en-US" dirty="0"/>
            </a:b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DE48B-690E-71B9-6095-A70E0C367E5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360000" y="4846320"/>
            <a:ext cx="457200" cy="182880"/>
          </a:xfrm>
        </p:spPr>
        <p:txBody>
          <a:bodyPr/>
          <a:lstStyle/>
          <a:p>
            <a:pPr algn="l"/>
            <a:fld id="{F7021451-1387-4CA6-816F-3879F97B5CBC}" type="slidenum">
              <a:rPr lang="en-US" b="0" smtClean="0"/>
              <a:t>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6EDD99-3628-DB0C-0B54-6106380A6A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620" y="1254362"/>
            <a:ext cx="8254741" cy="2634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566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0096B-A681-DD0B-9EE8-ECF2011E5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276456"/>
            <a:ext cx="8424000" cy="639532"/>
          </a:xfrm>
        </p:spPr>
        <p:txBody>
          <a:bodyPr/>
          <a:lstStyle/>
          <a:p>
            <a:r>
              <a:rPr lang="en-US" b="1" dirty="0"/>
              <a:t>How do our aptamers </a:t>
            </a:r>
            <a:r>
              <a:rPr lang="en-US" b="1" dirty="0" err="1"/>
              <a:t>recognise</a:t>
            </a:r>
            <a:r>
              <a:rPr lang="en-US" b="1" dirty="0"/>
              <a:t> the virus — in buffer and in stool?</a:t>
            </a:r>
            <a:br>
              <a:rPr lang="en-US" dirty="0"/>
            </a:br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F22DF26-6B71-0D09-6026-C2B60E9AC8A8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63" y="1361287"/>
            <a:ext cx="8598677" cy="2866225"/>
          </a:xfrm>
          <a:prstGeom prst="rect">
            <a:avLst/>
          </a:prstGeom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0293998-4826-B67E-85BF-B7AAD91E0D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93DABDB-1FBB-3E97-82B4-E77E453E4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60000" y="4846320"/>
            <a:ext cx="457200" cy="182880"/>
          </a:xfrm>
        </p:spPr>
        <p:txBody>
          <a:bodyPr/>
          <a:lstStyle/>
          <a:p>
            <a:fld id="{F4669F32-90E1-ED4F-B6D9-07697D6A4E9E}" type="slidenum">
              <a:rPr lang="en-GB" smtClean="0"/>
              <a:pPr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29107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/>
          <p:nvPr/>
        </p:nvSpPr>
        <p:spPr>
          <a:xfrm>
            <a:off x="360000" y="1024128"/>
            <a:ext cx="842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4A5F5D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How the candidate aptamers were generated — my panel deliberately spans all four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4023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7ECEA"/>
            </a:solidFill>
            <a:prstDash val="solid"/>
          </a:ln>
          <a:effectLst>
            <a:outerShdw blurRad="50800" dist="12700" dir="5400000" algn="bl" rotWithShape="0">
              <a:srgbClr val="0E4F4C">
                <a:alpha val="11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3959352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D7ECE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85800" y="1645920"/>
            <a:ext cx="475488" cy="475488"/>
          </a:xfrm>
          <a:prstGeom prst="ellipse">
            <a:avLst/>
          </a:prstGeom>
          <a:solidFill>
            <a:schemeClr val="accent2"/>
          </a:solidFill>
          <a:ln/>
          <a:effectLst>
            <a:outerShdw blurRad="63500" dist="25400" dir="5400000" algn="bl" rotWithShape="0">
              <a:srgbClr val="0E4F4C">
                <a:alpha val="22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Image 1" descr="icons/w_puzz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1764792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162763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0E4F4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Recombinant P-domain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7"/>
          <p:cNvSpPr/>
          <p:nvPr/>
        </p:nvSpPr>
        <p:spPr>
          <a:xfrm>
            <a:off x="704088" y="2176272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4A5F5D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most antigenically variable part of the capsid — easy to express &amp; purify as a target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704088" y="2615184"/>
            <a:ext cx="398678" cy="237744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704088" y="2615184"/>
            <a:ext cx="3986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1212494" y="2615184"/>
            <a:ext cx="541325" cy="237744"/>
          </a:xfrm>
          <a:prstGeom prst="roundRect">
            <a:avLst>
              <a:gd name="adj" fmla="val 19231"/>
            </a:avLst>
          </a:prstGeom>
          <a:solidFill>
            <a:srgbClr val="FFFF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1212494" y="2615184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M6-2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1863547" y="2615184"/>
            <a:ext cx="612648" cy="237744"/>
          </a:xfrm>
          <a:prstGeom prst="roundRect">
            <a:avLst>
              <a:gd name="adj" fmla="val 19231"/>
            </a:avLst>
          </a:prstGeom>
          <a:solidFill>
            <a:srgbClr val="FFFF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1863547" y="2615184"/>
            <a:ext cx="61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Buf-2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4709160" y="1463040"/>
            <a:ext cx="4023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7ECEA"/>
            </a:solidFill>
            <a:prstDash val="solid"/>
          </a:ln>
          <a:effectLst>
            <a:outerShdw blurRad="50800" dist="12700" dir="5400000" algn="bl" rotWithShape="0">
              <a:srgbClr val="0E4F4C">
                <a:alpha val="11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8165592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D7ECE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4892040" y="1645920"/>
            <a:ext cx="475488" cy="475488"/>
          </a:xfrm>
          <a:prstGeom prst="ellipse">
            <a:avLst/>
          </a:prstGeom>
          <a:solidFill>
            <a:schemeClr val="accent2"/>
          </a:solidFill>
          <a:ln/>
          <a:effectLst>
            <a:outerShdw blurRad="63500" dist="25400" dir="5400000" algn="bl" rotWithShape="0">
              <a:srgbClr val="0E4F4C">
                <a:alpha val="22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1" name="Image 2" descr="icons/w_viru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1764792"/>
            <a:ext cx="237744" cy="23774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486400" y="162763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0E4F4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Whole VP1 capsid protein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4910328" y="2176272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4A5F5D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His-tagged full capsid — the aptamer sees the entire fold, including the conserved S-domain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4910328" y="2615184"/>
            <a:ext cx="612648" cy="237744"/>
          </a:xfrm>
          <a:prstGeom prst="roundRect">
            <a:avLst>
              <a:gd name="adj" fmla="val 19231"/>
            </a:avLst>
          </a:prstGeom>
          <a:solidFill>
            <a:srgbClr val="FFFF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4910328" y="2615184"/>
            <a:ext cx="61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Beier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1"/>
          <p:cNvSpPr/>
          <p:nvPr/>
        </p:nvSpPr>
        <p:spPr>
          <a:xfrm>
            <a:off x="502920" y="3035808"/>
            <a:ext cx="4023360" cy="1481328"/>
          </a:xfrm>
          <a:prstGeom prst="roundRect">
            <a:avLst>
              <a:gd name="adj" fmla="val 555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rgbClr val="FF8A6B"/>
            </a:solidFill>
            <a:prstDash val="solid"/>
          </a:ln>
          <a:effectLst>
            <a:outerShdw blurRad="50800" dist="12700" dir="5400000" algn="bl" rotWithShape="0">
              <a:srgbClr val="0E4F4C">
                <a:alpha val="11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3959352" y="3108960"/>
            <a:ext cx="457200" cy="4572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8A6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3"/>
          <p:cNvSpPr/>
          <p:nvPr/>
        </p:nvSpPr>
        <p:spPr>
          <a:xfrm>
            <a:off x="685800" y="3218688"/>
            <a:ext cx="475488" cy="475488"/>
          </a:xfrm>
          <a:prstGeom prst="ellipse">
            <a:avLst/>
          </a:prstGeom>
          <a:solidFill>
            <a:srgbClr val="E85A3C"/>
          </a:solidFill>
          <a:ln/>
          <a:effectLst>
            <a:outerShdw blurRad="63500" dist="25400" dir="5400000" algn="bl" rotWithShape="0">
              <a:srgbClr val="0E4F4C">
                <a:alpha val="22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9" name="Image 3" descr="icons/w_via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3337560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28016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0E4F4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Whole virus from stool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5"/>
          <p:cNvSpPr/>
          <p:nvPr/>
        </p:nvSpPr>
        <p:spPr>
          <a:xfrm>
            <a:off x="704088" y="374904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4A5F5D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Selected on real stool particles — the most clinically realistic context in the literature, no recombinant stand-in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26"/>
          <p:cNvSpPr/>
          <p:nvPr/>
        </p:nvSpPr>
        <p:spPr>
          <a:xfrm>
            <a:off x="704088" y="4187952"/>
            <a:ext cx="969264" cy="237744"/>
          </a:xfrm>
          <a:prstGeom prst="roundRect">
            <a:avLst>
              <a:gd name="adj" fmla="val 19231"/>
            </a:avLst>
          </a:prstGeom>
          <a:solidFill>
            <a:srgbClr val="E85A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27"/>
          <p:cNvSpPr/>
          <p:nvPr/>
        </p:nvSpPr>
        <p:spPr>
          <a:xfrm>
            <a:off x="704088" y="4187952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SMV-series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28"/>
          <p:cNvSpPr/>
          <p:nvPr/>
        </p:nvSpPr>
        <p:spPr>
          <a:xfrm>
            <a:off x="1783080" y="4187952"/>
            <a:ext cx="612648" cy="237744"/>
          </a:xfrm>
          <a:prstGeom prst="roundRect">
            <a:avLst>
              <a:gd name="adj" fmla="val 19231"/>
            </a:avLst>
          </a:prstGeom>
          <a:solidFill>
            <a:srgbClr val="FFFF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29"/>
          <p:cNvSpPr/>
          <p:nvPr/>
        </p:nvSpPr>
        <p:spPr>
          <a:xfrm>
            <a:off x="1783080" y="4187952"/>
            <a:ext cx="61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SMV25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0"/>
          <p:cNvSpPr/>
          <p:nvPr/>
        </p:nvSpPr>
        <p:spPr>
          <a:xfrm>
            <a:off x="4709160" y="3035808"/>
            <a:ext cx="4023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7ECEA"/>
            </a:solidFill>
            <a:prstDash val="solid"/>
          </a:ln>
          <a:effectLst>
            <a:outerShdw blurRad="50800" dist="12700" dir="5400000" algn="bl" rotWithShape="0">
              <a:srgbClr val="0E4F4C">
                <a:alpha val="11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1"/>
          <p:cNvSpPr/>
          <p:nvPr/>
        </p:nvSpPr>
        <p:spPr>
          <a:xfrm>
            <a:off x="8165592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D7ECE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2"/>
          <p:cNvSpPr/>
          <p:nvPr/>
        </p:nvSpPr>
        <p:spPr>
          <a:xfrm>
            <a:off x="4892040" y="3218688"/>
            <a:ext cx="475488" cy="475488"/>
          </a:xfrm>
          <a:prstGeom prst="ellipse">
            <a:avLst/>
          </a:prstGeom>
          <a:solidFill>
            <a:schemeClr val="accent2"/>
          </a:solidFill>
          <a:ln/>
          <a:effectLst>
            <a:outerShdw blurRad="63500" dist="25400" dir="5400000" algn="bl" rotWithShape="0">
              <a:srgbClr val="0E4F4C">
                <a:alpha val="22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9" name="Image 4" descr="icons/w_bran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10912" y="3337560"/>
            <a:ext cx="237744" cy="237744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548640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0E4F4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Parallel SELEX + redesign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4"/>
          <p:cNvSpPr/>
          <p:nvPr/>
        </p:nvSpPr>
        <p:spPr>
          <a:xfrm>
            <a:off x="4910328" y="374904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4A5F5D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Two genotypes selected at once, then winning sequences computationally re-engineered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35"/>
          <p:cNvSpPr/>
          <p:nvPr/>
        </p:nvSpPr>
        <p:spPr>
          <a:xfrm>
            <a:off x="4910328" y="4187952"/>
            <a:ext cx="612648" cy="237744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36"/>
          <p:cNvSpPr/>
          <p:nvPr/>
        </p:nvSpPr>
        <p:spPr>
          <a:xfrm>
            <a:off x="4910328" y="4187952"/>
            <a:ext cx="61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AP4-2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37"/>
          <p:cNvSpPr/>
          <p:nvPr/>
        </p:nvSpPr>
        <p:spPr>
          <a:xfrm>
            <a:off x="5632704" y="4187952"/>
            <a:ext cx="683971" cy="237744"/>
          </a:xfrm>
          <a:prstGeom prst="roundRect">
            <a:avLst>
              <a:gd name="adj" fmla="val 19231"/>
            </a:avLst>
          </a:prstGeom>
          <a:solidFill>
            <a:srgbClr val="FFFF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38"/>
          <p:cNvSpPr/>
          <p:nvPr/>
        </p:nvSpPr>
        <p:spPr>
          <a:xfrm>
            <a:off x="5632704" y="4187952"/>
            <a:ext cx="6839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AP17-4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39"/>
          <p:cNvSpPr/>
          <p:nvPr/>
        </p:nvSpPr>
        <p:spPr>
          <a:xfrm>
            <a:off x="6426403" y="4187952"/>
            <a:ext cx="683971" cy="237744"/>
          </a:xfrm>
          <a:prstGeom prst="roundRect">
            <a:avLst>
              <a:gd name="adj" fmla="val 19231"/>
            </a:avLst>
          </a:prstGeom>
          <a:solidFill>
            <a:srgbClr val="FFFF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0"/>
          <p:cNvSpPr/>
          <p:nvPr/>
        </p:nvSpPr>
        <p:spPr>
          <a:xfrm>
            <a:off x="6426403" y="4187952"/>
            <a:ext cx="6839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AP4-11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4064F18-C233-98C9-6B01-DDAB843DAFE8}"/>
              </a:ext>
            </a:extLst>
          </p:cNvPr>
          <p:cNvGrpSpPr/>
          <p:nvPr/>
        </p:nvGrpSpPr>
        <p:grpSpPr>
          <a:xfrm>
            <a:off x="238137" y="2376996"/>
            <a:ext cx="1240372" cy="991556"/>
            <a:chOff x="238137" y="2376996"/>
            <a:chExt cx="1240372" cy="991556"/>
          </a:xfrm>
          <a:solidFill>
            <a:schemeClr val="accent2"/>
          </a:solidFill>
        </p:grpSpPr>
        <p:sp>
          <p:nvSpPr>
            <p:cNvPr id="50" name="Arrow: Bent 49">
              <a:extLst>
                <a:ext uri="{FF2B5EF4-FFF2-40B4-BE49-F238E27FC236}">
                  <a16:creationId xmlns:a16="http://schemas.microsoft.com/office/drawing/2014/main" id="{504D0D2F-4120-87A2-391A-DDE53EFF273C}"/>
                </a:ext>
              </a:extLst>
            </p:cNvPr>
            <p:cNvSpPr/>
            <p:nvPr/>
          </p:nvSpPr>
          <p:spPr>
            <a:xfrm rot="10800000">
              <a:off x="439306" y="2852928"/>
              <a:ext cx="1039203" cy="173736"/>
            </a:xfrm>
            <a:prstGeom prst="bentArrow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35739B0-223E-7872-4E0C-6D62DA12F106}"/>
                </a:ext>
              </a:extLst>
            </p:cNvPr>
            <p:cNvSpPr txBox="1"/>
            <p:nvPr/>
          </p:nvSpPr>
          <p:spPr>
            <a:xfrm rot="16200000">
              <a:off x="-173002" y="2788135"/>
              <a:ext cx="991556" cy="1692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500" dirty="0"/>
                <a:t>broadest genotype reactivity</a:t>
              </a:r>
            </a:p>
          </p:txBody>
        </p:sp>
      </p:grpSp>
      <p:pic>
        <p:nvPicPr>
          <p:cNvPr id="54" name="Picture 53">
            <a:extLst>
              <a:ext uri="{FF2B5EF4-FFF2-40B4-BE49-F238E27FC236}">
                <a16:creationId xmlns:a16="http://schemas.microsoft.com/office/drawing/2014/main" id="{A0306B09-AB7D-8A19-5707-9297A27A21D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3599" b="91774" l="5750" r="91250">
                        <a14:foregroundMark x1="41500" y1="10540" x2="42000" y2="5913"/>
                        <a14:foregroundMark x1="39250" y1="7969" x2="48750" y2="7969"/>
                        <a14:foregroundMark x1="48750" y1="7969" x2="49250" y2="7969"/>
                        <a14:foregroundMark x1="38750" y1="7969" x2="42250" y2="4884"/>
                        <a14:foregroundMark x1="37750" y1="7969" x2="41000" y2="4370"/>
                        <a14:foregroundMark x1="10750" y1="68638" x2="6750" y2="78406"/>
                        <a14:foregroundMark x1="6750" y1="78406" x2="12000" y2="91517"/>
                        <a14:foregroundMark x1="12000" y1="91517" x2="37500" y2="89717"/>
                        <a14:foregroundMark x1="7750" y1="70694" x2="5750" y2="80206"/>
                        <a14:foregroundMark x1="5750" y1="80206" x2="8000" y2="88175"/>
                        <a14:foregroundMark x1="45250" y1="91003" x2="56250" y2="92288"/>
                        <a14:foregroundMark x1="56250" y1="92288" x2="77250" y2="91774"/>
                        <a14:foregroundMark x1="77250" y1="91774" x2="80000" y2="91774"/>
                        <a14:foregroundMark x1="91750" y1="73522" x2="91250" y2="83290"/>
                        <a14:foregroundMark x1="91250" y1="83290" x2="91250" y2="83548"/>
                        <a14:foregroundMark x1="35500" y1="53985" x2="35500" y2="50386"/>
                        <a14:foregroundMark x1="35250" y1="50129" x2="37000" y2="50129"/>
                        <a14:foregroundMark x1="38250" y1="5913" x2="38250" y2="5913"/>
                        <a14:foregroundMark x1="38000" y1="5656" x2="39000" y2="6427"/>
                        <a14:foregroundMark x1="40500" y1="48586" x2="40750" y2="60925"/>
                        <a14:foregroundMark x1="40750" y1="60925" x2="29250" y2="62725"/>
                        <a14:foregroundMark x1="29250" y1="62725" x2="27250" y2="47558"/>
                        <a14:foregroundMark x1="27250" y1="47558" x2="37000" y2="44730"/>
                        <a14:foregroundMark x1="37000" y1="44730" x2="40750" y2="47044"/>
                        <a14:foregroundMark x1="37500" y1="51928" x2="36500" y2="55270"/>
                        <a14:foregroundMark x1="35750" y1="55270" x2="38500" y2="59126"/>
                        <a14:foregroundMark x1="63250" y1="52185" x2="59000" y2="58869"/>
                        <a14:foregroundMark x1="59250" y1="65039" x2="56750" y2="55527"/>
                        <a14:foregroundMark x1="56750" y1="55527" x2="67000" y2="47815"/>
                        <a14:foregroundMark x1="67000" y1="47815" x2="71250" y2="57841"/>
                        <a14:foregroundMark x1="71250" y1="57841" x2="65500" y2="65039"/>
                        <a14:foregroundMark x1="58250" y1="54242" x2="64250" y2="45758"/>
                        <a14:foregroundMark x1="64250" y1="45758" x2="55000" y2="48072"/>
                        <a14:foregroundMark x1="55000" y1="48072" x2="53500" y2="53213"/>
                        <a14:foregroundMark x1="38000" y1="73779" x2="50250" y2="77121"/>
                        <a14:foregroundMark x1="50250" y1="77121" x2="46500" y2="77121"/>
                        <a14:foregroundMark x1="46000" y1="72751" x2="56500" y2="77635"/>
                        <a14:foregroundMark x1="56500" y1="77635" x2="55250" y2="781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59913" y="4261104"/>
            <a:ext cx="216282" cy="210334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C1783D1E-637D-77F2-C1CD-4A8B1BB0081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3599" b="91774" l="5750" r="91250">
                        <a14:foregroundMark x1="41500" y1="10540" x2="42000" y2="5913"/>
                        <a14:foregroundMark x1="39250" y1="7969" x2="48750" y2="7969"/>
                        <a14:foregroundMark x1="48750" y1="7969" x2="49250" y2="7969"/>
                        <a14:foregroundMark x1="38750" y1="7969" x2="42250" y2="4884"/>
                        <a14:foregroundMark x1="37750" y1="7969" x2="41000" y2="4370"/>
                        <a14:foregroundMark x1="10750" y1="68638" x2="6750" y2="78406"/>
                        <a14:foregroundMark x1="6750" y1="78406" x2="12000" y2="91517"/>
                        <a14:foregroundMark x1="12000" y1="91517" x2="37500" y2="89717"/>
                        <a14:foregroundMark x1="7750" y1="70694" x2="5750" y2="80206"/>
                        <a14:foregroundMark x1="5750" y1="80206" x2="8000" y2="88175"/>
                        <a14:foregroundMark x1="45250" y1="91003" x2="56250" y2="92288"/>
                        <a14:foregroundMark x1="56250" y1="92288" x2="77250" y2="91774"/>
                        <a14:foregroundMark x1="77250" y1="91774" x2="80000" y2="91774"/>
                        <a14:foregroundMark x1="91750" y1="73522" x2="91250" y2="83290"/>
                        <a14:foregroundMark x1="91250" y1="83290" x2="91250" y2="83548"/>
                        <a14:foregroundMark x1="35500" y1="53985" x2="35500" y2="50386"/>
                        <a14:foregroundMark x1="35250" y1="50129" x2="37000" y2="50129"/>
                        <a14:foregroundMark x1="38250" y1="5913" x2="38250" y2="5913"/>
                        <a14:foregroundMark x1="38000" y1="5656" x2="39000" y2="6427"/>
                        <a14:foregroundMark x1="40500" y1="48586" x2="40750" y2="60925"/>
                        <a14:foregroundMark x1="40750" y1="60925" x2="29250" y2="62725"/>
                        <a14:foregroundMark x1="29250" y1="62725" x2="27250" y2="47558"/>
                        <a14:foregroundMark x1="27250" y1="47558" x2="37000" y2="44730"/>
                        <a14:foregroundMark x1="37000" y1="44730" x2="40750" y2="47044"/>
                        <a14:foregroundMark x1="37500" y1="51928" x2="36500" y2="55270"/>
                        <a14:foregroundMark x1="35750" y1="55270" x2="38500" y2="59126"/>
                        <a14:foregroundMark x1="63250" y1="52185" x2="59000" y2="58869"/>
                        <a14:foregroundMark x1="59250" y1="65039" x2="56750" y2="55527"/>
                        <a14:foregroundMark x1="56750" y1="55527" x2="67000" y2="47815"/>
                        <a14:foregroundMark x1="67000" y1="47815" x2="71250" y2="57841"/>
                        <a14:foregroundMark x1="71250" y1="57841" x2="65500" y2="65039"/>
                        <a14:foregroundMark x1="58250" y1="54242" x2="64250" y2="45758"/>
                        <a14:foregroundMark x1="64250" y1="45758" x2="55000" y2="48072"/>
                        <a14:foregroundMark x1="55000" y1="48072" x2="53500" y2="53213"/>
                        <a14:foregroundMark x1="38000" y1="73779" x2="50250" y2="77121"/>
                        <a14:foregroundMark x1="50250" y1="77121" x2="46500" y2="77121"/>
                        <a14:foregroundMark x1="46000" y1="72751" x2="56500" y2="77635"/>
                        <a14:foregroundMark x1="56500" y1="77635" x2="55250" y2="781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91917" y="2683764"/>
            <a:ext cx="192753" cy="187452"/>
          </a:xfrm>
          <a:prstGeom prst="rect">
            <a:avLst/>
          </a:prstGeom>
        </p:spPr>
      </p:pic>
      <p:sp>
        <p:nvSpPr>
          <p:cNvPr id="56" name="Arrow: Bent 55">
            <a:extLst>
              <a:ext uri="{FF2B5EF4-FFF2-40B4-BE49-F238E27FC236}">
                <a16:creationId xmlns:a16="http://schemas.microsoft.com/office/drawing/2014/main" id="{A241DAE7-310E-C408-F04C-47C0714EDFCE}"/>
              </a:ext>
            </a:extLst>
          </p:cNvPr>
          <p:cNvSpPr/>
          <p:nvPr/>
        </p:nvSpPr>
        <p:spPr>
          <a:xfrm rot="10800000">
            <a:off x="2089404" y="4366270"/>
            <a:ext cx="60781" cy="333745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0854119-278F-1053-996B-413F6A900E49}"/>
              </a:ext>
            </a:extLst>
          </p:cNvPr>
          <p:cNvSpPr txBox="1"/>
          <p:nvPr/>
        </p:nvSpPr>
        <p:spPr>
          <a:xfrm>
            <a:off x="2286000" y="4663440"/>
            <a:ext cx="365760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Selex against the whole extracted human norovirus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E0F576-2C29-BB0B-1770-1B4E219B8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276456"/>
            <a:ext cx="8424000" cy="639532"/>
          </a:xfrm>
        </p:spPr>
        <p:txBody>
          <a:bodyPr/>
          <a:lstStyle/>
          <a:p>
            <a:r>
              <a:rPr lang="en-US" b="1" dirty="0"/>
              <a:t>Which aptamer to choose? Four selection strategies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9E5E2DA-915B-06B8-230D-161874119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60000" y="4846320"/>
            <a:ext cx="457200" cy="182880"/>
          </a:xfrm>
        </p:spPr>
        <p:txBody>
          <a:bodyPr/>
          <a:lstStyle/>
          <a:p>
            <a:fld id="{F4669F32-90E1-ED4F-B6D9-07697D6A4E9E}" type="slidenum">
              <a:rPr lang="en-GB" smtClean="0"/>
              <a:pPr/>
              <a:t>3</a:t>
            </a:fld>
            <a:endParaRPr lang="en-GB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AA1E7-8B87-03D4-76DD-9AAAC2436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276456"/>
            <a:ext cx="8424000" cy="639532"/>
          </a:xfrm>
        </p:spPr>
        <p:txBody>
          <a:bodyPr/>
          <a:lstStyle/>
          <a:p>
            <a:r>
              <a:rPr lang="en-US" dirty="0" b="1"/>
              <a:t>Six candidate with sequences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608B20-3150-42D4-7D48-F183D0B79711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744C9B-0D76-1B0C-0855-61B66BAFFC3E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9F6AAE9-8974-39EC-C534-F218E1B00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E3FD542-61E9-F20F-7753-2179C5F8B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60000" y="4846320"/>
            <a:ext cx="457200" cy="182880"/>
          </a:xfrm>
        </p:spPr>
        <p:txBody>
          <a:bodyPr/>
          <a:lstStyle/>
          <a:p>
            <a:fld id="{F4669F32-90E1-ED4F-B6D9-07697D6A4E9E}" type="slidenum">
              <a:rPr lang="en-GB" smtClean="0"/>
              <a:pPr/>
              <a:t>8</a:t>
            </a:fld>
            <a:endParaRPr lang="en-GB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ECB0118-EAAE-32B2-784E-7DB7482DB5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46147"/>
              </p:ext>
            </p:extLst>
          </p:nvPr>
        </p:nvGraphicFramePr>
        <p:xfrm>
          <a:off x="926756" y="1044055"/>
          <a:ext cx="7289195" cy="3403873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345059">
                  <a:extLst>
                    <a:ext uri="{9D8B030D-6E8A-4147-A177-3AD203B41FA5}">
                      <a16:colId xmlns:a16="http://schemas.microsoft.com/office/drawing/2014/main" val="1542483916"/>
                    </a:ext>
                  </a:extLst>
                </a:gridCol>
                <a:gridCol w="713548">
                  <a:extLst>
                    <a:ext uri="{9D8B030D-6E8A-4147-A177-3AD203B41FA5}">
                      <a16:colId xmlns:a16="http://schemas.microsoft.com/office/drawing/2014/main" val="4273713537"/>
                    </a:ext>
                  </a:extLst>
                </a:gridCol>
                <a:gridCol w="5560182">
                  <a:extLst>
                    <a:ext uri="{9D8B030D-6E8A-4147-A177-3AD203B41FA5}">
                      <a16:colId xmlns:a16="http://schemas.microsoft.com/office/drawing/2014/main" val="2797373775"/>
                    </a:ext>
                  </a:extLst>
                </a:gridCol>
                <a:gridCol w="670406">
                  <a:extLst>
                    <a:ext uri="{9D8B030D-6E8A-4147-A177-3AD203B41FA5}">
                      <a16:colId xmlns:a16="http://schemas.microsoft.com/office/drawing/2014/main" val="220353448"/>
                    </a:ext>
                  </a:extLst>
                </a:gridCol>
              </a:tblGrid>
              <a:tr h="261837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effectLst/>
                        </a:rPr>
                        <a:t>#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effectLst/>
                        </a:rPr>
                        <a:t>Sequence (5′→3′)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effectLst/>
                        </a:rPr>
                        <a:t>Length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extLst>
                  <a:ext uri="{0D108BD9-81ED-4DB2-BD59-A6C34878D82A}">
                    <a16:rowId xmlns:a16="http://schemas.microsoft.com/office/drawing/2014/main" val="1947159348"/>
                  </a:ext>
                </a:extLst>
              </a:tr>
              <a:tr h="3972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>
                          <a:solidFill>
                            <a:srgbClr val="333333"/>
                          </a:solidFill>
                          <a:effectLst/>
                        </a:rPr>
                        <a:t>1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effectLst/>
                        </a:rPr>
                        <a:t>Beier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</a:rPr>
                        <a:t>GTCTGTAGTAGGGAGGATGGTCCGGGGCCCCGAGACGACGTTATCAGGC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effectLst/>
                        </a:rPr>
                        <a:t>49 </a:t>
                      </a:r>
                      <a:r>
                        <a:rPr lang="en-US" sz="800" dirty="0" err="1">
                          <a:solidFill>
                            <a:srgbClr val="333333"/>
                          </a:solidFill>
                          <a:effectLst/>
                        </a:rPr>
                        <a:t>nt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extLst>
                  <a:ext uri="{0D108BD9-81ED-4DB2-BD59-A6C34878D82A}">
                    <a16:rowId xmlns:a16="http://schemas.microsoft.com/office/drawing/2014/main" val="2531016085"/>
                  </a:ext>
                </a:extLst>
              </a:tr>
              <a:tr h="388306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effectLst/>
                        </a:rPr>
                        <a:t>2a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effectLst/>
                        </a:rPr>
                        <a:t>SMV25 (FL)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</a:rPr>
                        <a:t>AGTATACGTATTACCTGCAGCCATCTGTGTGAAGACTATATGGCGCTCACATATTTCTTTCCGATATCTCGGAGATCTTGC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effectLst/>
                        </a:rPr>
                        <a:t>81 </a:t>
                      </a:r>
                      <a:r>
                        <a:rPr lang="en-US" sz="800" dirty="0" err="1">
                          <a:solidFill>
                            <a:srgbClr val="333333"/>
                          </a:solidFill>
                          <a:effectLst/>
                        </a:rPr>
                        <a:t>nt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extLst>
                  <a:ext uri="{0D108BD9-81ED-4DB2-BD59-A6C34878D82A}">
                    <a16:rowId xmlns:a16="http://schemas.microsoft.com/office/drawing/2014/main" val="1223861480"/>
                  </a:ext>
                </a:extLst>
              </a:tr>
              <a:tr h="3972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>
                          <a:solidFill>
                            <a:srgbClr val="333333"/>
                          </a:solidFill>
                          <a:effectLst/>
                        </a:rPr>
                        <a:t>2b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>
                          <a:solidFill>
                            <a:srgbClr val="333333"/>
                          </a:solidFill>
                          <a:effectLst/>
                        </a:rPr>
                        <a:t>SMV25 (VR)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</a:rPr>
                        <a:t>CATCTGTGTGAAGACTATATGGCGCTCACATATTTCTTTCC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>
                          <a:solidFill>
                            <a:srgbClr val="333333"/>
                          </a:solidFill>
                          <a:effectLst/>
                        </a:rPr>
                        <a:t>40 nt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extLst>
                  <a:ext uri="{0D108BD9-81ED-4DB2-BD59-A6C34878D82A}">
                    <a16:rowId xmlns:a16="http://schemas.microsoft.com/office/drawing/2014/main" val="482467391"/>
                  </a:ext>
                </a:extLst>
              </a:tr>
              <a:tr h="388306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effectLst/>
                        </a:rPr>
                        <a:t>3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effectLst/>
                        </a:rPr>
                        <a:t>AP4-11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</a:rPr>
                        <a:t>AACACGACCCACGTACCTGTGCGAGACACAGACCACCAAGGTGGGC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effectLst/>
                        </a:rPr>
                        <a:t>46 </a:t>
                      </a:r>
                      <a:r>
                        <a:rPr lang="en-US" sz="800" dirty="0" err="1">
                          <a:solidFill>
                            <a:srgbClr val="333333"/>
                          </a:solidFill>
                          <a:effectLst/>
                        </a:rPr>
                        <a:t>nt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extLst>
                  <a:ext uri="{0D108BD9-81ED-4DB2-BD59-A6C34878D82A}">
                    <a16:rowId xmlns:a16="http://schemas.microsoft.com/office/drawing/2014/main" val="2547221502"/>
                  </a:ext>
                </a:extLst>
              </a:tr>
              <a:tr h="3972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>
                          <a:solidFill>
                            <a:srgbClr val="333333"/>
                          </a:solidFill>
                          <a:effectLst/>
                        </a:rPr>
                        <a:t>4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>
                          <a:solidFill>
                            <a:srgbClr val="333333"/>
                          </a:solidFill>
                          <a:effectLst/>
                        </a:rPr>
                        <a:t>AP17-4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</a:rPr>
                        <a:t>GGAACACGACCCGTCTGTGGCCATCACAGTACAGCATCGTCGTG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>
                          <a:solidFill>
                            <a:srgbClr val="333333"/>
                          </a:solidFill>
                          <a:effectLst/>
                        </a:rPr>
                        <a:t>44 nt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extLst>
                  <a:ext uri="{0D108BD9-81ED-4DB2-BD59-A6C34878D82A}">
                    <a16:rowId xmlns:a16="http://schemas.microsoft.com/office/drawing/2014/main" val="4201736410"/>
                  </a:ext>
                </a:extLst>
              </a:tr>
              <a:tr h="388306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effectLst/>
                        </a:rPr>
                        <a:t>5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effectLst/>
                        </a:rPr>
                        <a:t>Buf-2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</a:rPr>
                        <a:t>GAAATTGGGTTCGGGTTTGGGTTGGGATTACTTAGCGATG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effectLst/>
                        </a:rPr>
                        <a:t>40 </a:t>
                      </a:r>
                      <a:r>
                        <a:rPr lang="en-US" sz="800" dirty="0" err="1">
                          <a:solidFill>
                            <a:srgbClr val="333333"/>
                          </a:solidFill>
                          <a:effectLst/>
                        </a:rPr>
                        <a:t>nt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extLst>
                  <a:ext uri="{0D108BD9-81ED-4DB2-BD59-A6C34878D82A}">
                    <a16:rowId xmlns:a16="http://schemas.microsoft.com/office/drawing/2014/main" val="257673478"/>
                  </a:ext>
                </a:extLst>
              </a:tr>
              <a:tr h="3972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>
                          <a:solidFill>
                            <a:srgbClr val="333333"/>
                          </a:solidFill>
                          <a:effectLst/>
                        </a:rPr>
                        <a:t>6a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>
                          <a:solidFill>
                            <a:srgbClr val="333333"/>
                          </a:solidFill>
                          <a:effectLst/>
                        </a:rPr>
                        <a:t>M6-2 (FL)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effectLst/>
                        </a:rPr>
                        <a:t>AGTATACGTATTACCTGCAGCTGGGAAGAGGTCCGGTAAATGCAGGGTCAGCCCGGAGAGCGATATCTCGGAGATCTTGC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>
                          <a:solidFill>
                            <a:srgbClr val="333333"/>
                          </a:solidFill>
                          <a:effectLst/>
                        </a:rPr>
                        <a:t>80 nt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extLst>
                  <a:ext uri="{0D108BD9-81ED-4DB2-BD59-A6C34878D82A}">
                    <a16:rowId xmlns:a16="http://schemas.microsoft.com/office/drawing/2014/main" val="2156852771"/>
                  </a:ext>
                </a:extLst>
              </a:tr>
              <a:tr h="388306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effectLst/>
                        </a:rPr>
                        <a:t>6b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effectLst/>
                        </a:rPr>
                        <a:t>M6-2 (VR)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effectLst/>
                        </a:rPr>
                        <a:t>TGGGAAGAGGTCCGGTAAATGCAGGGTCAGCCCGGAGAG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effectLst/>
                        </a:rPr>
                        <a:t>39 </a:t>
                      </a:r>
                      <a:r>
                        <a:rPr lang="en-US" sz="800" dirty="0" err="1">
                          <a:solidFill>
                            <a:srgbClr val="333333"/>
                          </a:solidFill>
                          <a:effectLst/>
                        </a:rPr>
                        <a:t>nt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8728" marR="48728" marT="30455" marB="30455"/>
                </a:tc>
                <a:extLst>
                  <a:ext uri="{0D108BD9-81ED-4DB2-BD59-A6C34878D82A}">
                    <a16:rowId xmlns:a16="http://schemas.microsoft.com/office/drawing/2014/main" val="18771417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2342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B0C9-210C-5350-B957-84E7DBA71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276456"/>
            <a:ext cx="8424000" cy="639532"/>
          </a:xfrm>
        </p:spPr>
        <p:txBody>
          <a:bodyPr/>
          <a:lstStyle/>
          <a:p>
            <a:r>
              <a:rPr lang="en-US" dirty="0" b="1"/>
              <a:t>Result of the </a:t>
            </a:r>
            <a:r>
              <a:rPr lang="en-US" dirty="0" err="1" b="1"/>
              <a:t>elasa</a:t>
            </a:r>
            <a:r>
              <a:rPr lang="en-US" dirty="0" b="1"/>
              <a:t>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5B1F1-EDE7-52E2-1CE0-4E360B8A99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01C594-480B-17F1-D259-06A3DB3A4947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B1B8D7-B26F-5DF5-56DC-371A1E69F9E0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FA6243C-CE6E-63CD-B5EA-F7667AB7A665}"/>
              </a:ext>
            </a:extLst>
          </p:cNvPr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98705BE-6969-D22C-EEE5-94A1EF0C49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0C3E3C-9F9B-C9A6-3253-302F96C566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60000" y="4846320"/>
            <a:ext cx="457200" cy="182880"/>
          </a:xfrm>
        </p:spPr>
        <p:txBody>
          <a:bodyPr/>
          <a:lstStyle/>
          <a:p>
            <a:fld id="{F4669F32-90E1-ED4F-B6D9-07697D6A4E9E}" type="slidenum">
              <a:rPr lang="en-GB" smtClean="0"/>
              <a:pPr/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980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DE84E-CD22-9DA7-8C19-AE22DCADE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276456"/>
            <a:ext cx="8424000" cy="639532"/>
          </a:xfrm>
        </p:spPr>
        <p:txBody>
          <a:bodyPr/>
          <a:lstStyle/>
          <a:p>
            <a:r>
              <a:rPr lang="en-US" dirty="0" b="1"/>
              <a:t>Why comparing is difficult?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81A1F-60E6-9447-29E6-A2FD3208A488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CEF578-AEF8-1F0A-57EE-E651072375A3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37E3335-4AB1-5DF1-DE99-955F421D021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6457C76-4C59-E3E2-F9B3-FEF3D6473C1F}"/>
              </a:ext>
            </a:extLst>
          </p:cNvPr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F1CC6A0-EFDB-8D21-B49E-4FAF6A38EC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3F102D1-C6A7-E3A7-48C9-321DDEC6A6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60000" y="4846320"/>
            <a:ext cx="457200" cy="182880"/>
          </a:xfrm>
        </p:spPr>
        <p:txBody>
          <a:bodyPr/>
          <a:lstStyle/>
          <a:p>
            <a:fld id="{F4669F32-90E1-ED4F-B6D9-07697D6A4E9E}" type="slidenum">
              <a:rPr lang="en-GB" smtClean="0"/>
              <a:pPr/>
              <a:t>10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650956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FA5F2-00C3-E544-C9C9-CFA39D61A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276456"/>
            <a:ext cx="8424000" cy="639532"/>
          </a:xfrm>
        </p:spPr>
        <p:txBody>
          <a:bodyPr/>
          <a:lstStyle/>
          <a:p>
            <a:r>
              <a:rPr lang="en-US" dirty="0" err="1" b="1"/>
              <a:t>Fluorscence</a:t>
            </a:r>
            <a:r>
              <a:rPr lang="en-US" dirty="0" b="1"/>
              <a:t> polarization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A7D221FC-E238-427F-6360-83CEBCE7F6C7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20" b="14642"/>
          <a:stretch>
            <a:fillRect/>
          </a:stretch>
        </p:blipFill>
        <p:spPr>
          <a:xfrm>
            <a:off x="853058" y="1158478"/>
            <a:ext cx="7275559" cy="31715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5CA951-1337-88F1-5B24-DBB170443FBA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DBDCAF-F24B-2C43-2762-9C381D3E8F96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2B1FDBB-7F8B-C94C-BDAB-5D18200A75D0}"/>
              </a:ext>
            </a:extLst>
          </p:cNvPr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4F5C69D-ED4F-D633-3354-DC7DEAE980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AA2A7C1-8217-CEF1-209D-3D442BD7D6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60000" y="4846320"/>
            <a:ext cx="457200" cy="182880"/>
          </a:xfrm>
        </p:spPr>
        <p:txBody>
          <a:bodyPr/>
          <a:lstStyle/>
          <a:p>
            <a:fld id="{F4669F32-90E1-ED4F-B6D9-07697D6A4E9E}" type="slidenum">
              <a:rPr lang="en-GB" smtClean="0"/>
              <a:pPr/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7619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067E4-A544-1F87-125D-03513C2FF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276456"/>
            <a:ext cx="8424000" cy="639532"/>
          </a:xfrm>
        </p:spPr>
        <p:txBody>
          <a:bodyPr/>
          <a:lstStyle/>
          <a:p>
            <a:r>
              <a:rPr b="1"/>
              <a:t>From recognition to a visible line on a strip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A3A604-CC29-201F-67AC-5DAAFCD0985C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208768-8267-F738-9C35-2796D9D7ACFD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55174F-FAD6-0457-F1FC-8F8E40546122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5FAFD48-4147-D41D-3972-2910B629E572}"/>
              </a:ext>
            </a:extLst>
          </p:cNvPr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5081E81-B44E-E2B6-07E6-E94549660A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618404B-FE47-15DC-8427-52767ED49A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60000" y="4846320"/>
            <a:ext cx="457200" cy="182880"/>
          </a:xfrm>
        </p:spPr>
        <p:txBody>
          <a:bodyPr/>
          <a:lstStyle/>
          <a:p>
            <a:fld id="{F4669F32-90E1-ED4F-B6D9-07697D6A4E9E}" type="slidenum">
              <a:rPr lang="en-GB" smtClean="0"/>
              <a:pPr/>
              <a:t>12</a:t>
            </a:fld>
            <a:endParaRPr lang="en-GB" dirty="0"/>
          </a:p>
        </p:txBody>
      </p:sp>
      <p:pic>
        <p:nvPicPr>
          <p:cNvPr id="10" name="Lateral flow strip anatomy" descr="Lateral flow strip anatomy">
            <a:extLst>
              <a:ext uri="{FF2B5EF4-FFF2-40B4-BE49-F238E27FC236}">
                <a16:creationId xmlns:a16="http://schemas.microsoft.com/office/drawing/2014/main" id="{C57A06EB-E37E-9FD0-ACF7-155345C3B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873"/>
          <a:stretch>
            <a:fillRect/>
          </a:stretch>
        </p:blipFill>
        <p:spPr>
          <a:xfrm>
            <a:off x="1051560" y="2236763"/>
            <a:ext cx="7375252" cy="237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7484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6BA19-27D8-4B98-DFA3-46FE820D876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0464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9E8BC-E6AC-4576-6BF7-F012D26FF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cap="all" dirty="0"/>
              <a:t>Identifying aptamers suitable for stool testing</a:t>
            </a:r>
            <a:br>
              <a:rPr lang="en-US" b="1" cap="all" dirty="0"/>
            </a:b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FB386C3-5E9E-8F6D-0793-8FBFE112A299}"/>
              </a:ext>
            </a:extLst>
          </p:cNvPr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rPr lang="en-US" b="0" dirty="0"/>
              <a:t>Determine whether our aptamers can </a:t>
            </a:r>
            <a:r>
              <a:rPr lang="en-US" b="0" dirty="0" err="1"/>
              <a:t>recognise</a:t>
            </a:r>
            <a:r>
              <a:rPr lang="en-US" b="0" dirty="0"/>
              <a:t> the target viruses specifically and retain useful binding in a complex </a:t>
            </a:r>
            <a:r>
              <a:rPr lang="en-US" b="0" dirty="0" err="1"/>
              <a:t>faecal</a:t>
            </a:r>
            <a:r>
              <a:rPr lang="en-US" b="0" dirty="0"/>
              <a:t> matrix.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EA61654-299D-7C78-C65E-F584AC9114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0228CA-C088-D1E8-F28B-DCF81032E5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69F32-90E1-ED4F-B6D9-07697D6A4E9E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E1E9D5-EE9E-C037-4C5D-FFF4157DC879}"/>
              </a:ext>
            </a:extLst>
          </p:cNvPr>
          <p:cNvSpPr txBox="1"/>
          <p:nvPr/>
        </p:nvSpPr>
        <p:spPr>
          <a:xfrm>
            <a:off x="429906" y="1734528"/>
            <a:ext cx="2313296" cy="261610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b="1" cap="all" dirty="0"/>
              <a:t>Purpose</a:t>
            </a:r>
            <a:endParaRPr lang="en-US" sz="800" dirty="0"/>
          </a:p>
          <a:p>
            <a:r>
              <a:rPr lang="en-US" b="1" cap="all" dirty="0"/>
              <a:t>Translate recognition into detection</a:t>
            </a:r>
          </a:p>
          <a:p>
            <a:r>
              <a:rPr lang="en-US" dirty="0"/>
              <a:t>Integrate the selected aptamers into a strip-based assay that generates a visible detection signal.</a:t>
            </a:r>
          </a:p>
          <a:p>
            <a:pPr algn="l"/>
            <a:endParaRPr lang="en-US" sz="800" dirty="0">
              <a:solidFill>
                <a:schemeClr val="tx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CCD53F-BFF1-5367-2F81-3FEB6F347893}"/>
              </a:ext>
            </a:extLst>
          </p:cNvPr>
          <p:cNvSpPr txBox="1"/>
          <p:nvPr/>
        </p:nvSpPr>
        <p:spPr>
          <a:xfrm>
            <a:off x="3439236" y="1399121"/>
            <a:ext cx="2393239" cy="28931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b="1" cap="all" dirty="0"/>
              <a:t>General approach</a:t>
            </a:r>
            <a:endParaRPr lang="en-US" sz="800" dirty="0"/>
          </a:p>
          <a:p>
            <a:r>
              <a:rPr lang="en-US" b="1" cap="all" dirty="0"/>
              <a:t>Build, </a:t>
            </a:r>
            <a:r>
              <a:rPr lang="en-US" b="1" cap="all" dirty="0" err="1"/>
              <a:t>optimise</a:t>
            </a:r>
            <a:r>
              <a:rPr lang="en-US" b="1" cap="all" dirty="0"/>
              <a:t> and validate</a:t>
            </a:r>
          </a:p>
          <a:p>
            <a:r>
              <a:rPr lang="en-US" dirty="0"/>
              <a:t>Develop the prototype, resolve stool-related flow and background problems, and evaluate analytical performance against RT-qPCR.</a:t>
            </a:r>
          </a:p>
          <a:p>
            <a:pPr algn="l"/>
            <a:endParaRPr lang="en-US" sz="800" dirty="0">
              <a:solidFill>
                <a:schemeClr val="tx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5E2D56-B858-9EB8-D208-EA4CD6E6B16E}"/>
              </a:ext>
            </a:extLst>
          </p:cNvPr>
          <p:cNvSpPr txBox="1"/>
          <p:nvPr/>
        </p:nvSpPr>
        <p:spPr>
          <a:xfrm>
            <a:off x="6353033" y="1168400"/>
            <a:ext cx="2265529" cy="344709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b="1" cap="all" dirty="0"/>
              <a:t>Expected contribution</a:t>
            </a:r>
            <a:endParaRPr lang="en-US" sz="800" dirty="0"/>
          </a:p>
          <a:p>
            <a:r>
              <a:rPr lang="en-US" b="1" cap="all" dirty="0"/>
              <a:t>Establish a modular platform</a:t>
            </a:r>
          </a:p>
          <a:p>
            <a:r>
              <a:rPr lang="en-US" dirty="0"/>
              <a:t>Validate the norovirus assay, assess multiplex feasibility and explore performance on naturally positive samples.</a:t>
            </a:r>
          </a:p>
          <a:p>
            <a:pPr algn="l"/>
            <a:endParaRPr lang="en-US" sz="800" dirty="0">
              <a:solidFill>
                <a:schemeClr val="tx2">
                  <a:lumMod val="60000"/>
                  <a:lumOff val="4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522651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87CC9-06CC-5480-3348-CDB2D107F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make them comparable?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09D477B-8F00-FA0B-E0DD-14ABB3EC576E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08" b="14874"/>
          <a:stretch>
            <a:fillRect/>
          </a:stretch>
        </p:blipFill>
        <p:spPr>
          <a:xfrm>
            <a:off x="764347" y="926795"/>
            <a:ext cx="7274719" cy="382737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264D2-DE13-B86C-407F-26E9B3139F49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A08483C-0498-6A49-BC72-51CAD0E90D52}"/>
              </a:ext>
            </a:extLst>
          </p:cNvPr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rPr lang="en-US" dirty="0"/>
              <a:t>the buffer can affect the structure of the aptamer</a:t>
            </a:r>
          </a:p>
          <a:p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C9ADA3-A052-10F7-15F1-B229338CFF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AA92431-F10B-199C-3BBA-6FCCE43CB0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69F32-90E1-ED4F-B6D9-07697D6A4E9E}" type="slidenum">
              <a:rPr lang="en-GB" smtClean="0"/>
              <a:pPr/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751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65F37-CCE7-44D1-6604-5F632DA7B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How does salt affect aptamer binding?</a:t>
            </a:r>
            <a:br>
              <a:rPr lang="en-US" b="1" dirty="0"/>
            </a:br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FD228FA6-8DD6-9503-FDBC-F0F28CABDFC8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49" b="20878"/>
          <a:stretch>
            <a:fillRect/>
          </a:stretch>
        </p:blipFill>
        <p:spPr>
          <a:xfrm>
            <a:off x="505797" y="1158478"/>
            <a:ext cx="8132406" cy="3266679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CD0499-3B1C-078E-51EE-8C330D694AFE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291FA0-CE15-605C-F447-3D11455D5984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89C406-9B84-883A-94B1-78C61011001C}"/>
              </a:ext>
            </a:extLst>
          </p:cNvPr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0FF9BC2-8F85-7A6B-9E83-1B84BB357C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417FCB8-5F71-5C35-098F-B2CAF522E0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69F32-90E1-ED4F-B6D9-07697D6A4E9E}" type="slidenum">
              <a:rPr lang="en-GB" smtClean="0"/>
              <a:pPr/>
              <a:t>16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76214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33961-054B-5F97-84A9-25A60BD8B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type of the ion matter 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01E53F06-1976-E033-F833-38EFFEE5283C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50" b="14888"/>
          <a:stretch>
            <a:fillRect/>
          </a:stretch>
        </p:blipFill>
        <p:spPr>
          <a:xfrm>
            <a:off x="764347" y="1279235"/>
            <a:ext cx="7341832" cy="298584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BC36E3-871A-FA4C-2250-D8CAE80E67C8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640B92-1DEA-AD79-6F32-C04B0D0BA723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4A479BB-7070-AC02-8DA5-C961CD76A20F}"/>
              </a:ext>
            </a:extLst>
          </p:cNvPr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3D66FA-DCCE-2FAE-0214-E754159BA5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29B662-8B7E-183C-3D50-7C2574EDD5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69F32-90E1-ED4F-B6D9-07697D6A4E9E}" type="slidenum">
              <a:rPr lang="en-GB" smtClean="0"/>
              <a:pPr/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08404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39EBE-5BE0-DCCA-1462-3AB4C6A86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F28B6A98-45FC-E041-4CD9-7D24A00AB43E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446"/>
          <a:stretch>
            <a:fillRect/>
          </a:stretch>
        </p:blipFill>
        <p:spPr>
          <a:xfrm>
            <a:off x="558245" y="915988"/>
            <a:ext cx="7863136" cy="3345510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1140868-3962-93AC-CE5A-4506F9194E34}"/>
              </a:ext>
            </a:extLst>
          </p:cNvPr>
          <p:cNvSpPr>
            <a:spLocks noGrp="1"/>
          </p:cNvSpPr>
          <p:nvPr>
            <p:ph type="body" idx="28"/>
          </p:nvPr>
        </p:nvSpPr>
        <p:spPr>
          <a:xfrm>
            <a:off x="361225" y="658268"/>
            <a:ext cx="8424000" cy="25241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1695457-5B13-315E-10B9-36A68FAEDE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CAF7CF-A8BB-A8CD-C3D6-E22AC8BDD5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69F32-90E1-ED4F-B6D9-07697D6A4E9E}" type="slidenum">
              <a:rPr lang="en-GB" smtClean="0"/>
              <a:pPr/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60265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BE262-5972-3FA1-C6CE-B2742E93A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cap="all" dirty="0"/>
              <a:t>Assessing viral risk in healthy adults’ stools</a:t>
            </a:r>
            <a:br>
              <a:rPr lang="en-US" b="1" cap="all" dirty="0"/>
            </a:b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B7DB56D-D059-4BA5-27BF-9702DFF96592}"/>
              </a:ext>
            </a:extLst>
          </p:cNvPr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rPr lang="en-US" b="0" dirty="0"/>
              <a:t>Establish the biological context for the rapid test: which viruses need to be detected, and at what levels?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25121C9-00D5-3AED-D72F-D82B0A0DA8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A68C72-732E-71AF-BAB9-D75D31D036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69F32-90E1-ED4F-B6D9-07697D6A4E9E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2BEA5A-0132-135D-D3B8-90DB4A16FA13}"/>
              </a:ext>
            </a:extLst>
          </p:cNvPr>
          <p:cNvSpPr txBox="1"/>
          <p:nvPr/>
        </p:nvSpPr>
        <p:spPr>
          <a:xfrm>
            <a:off x="558245" y="1537990"/>
            <a:ext cx="2183641" cy="2769989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b="1" cap="all" dirty="0"/>
              <a:t>Purpose</a:t>
            </a:r>
            <a:endParaRPr lang="en-US" sz="800" dirty="0"/>
          </a:p>
          <a:p>
            <a:r>
              <a:rPr lang="en-US" b="1" cap="all" dirty="0" err="1"/>
              <a:t>Characterise</a:t>
            </a:r>
            <a:r>
              <a:rPr lang="en-US" b="1" cap="all" dirty="0"/>
              <a:t> the viral burden</a:t>
            </a:r>
          </a:p>
          <a:p>
            <a:r>
              <a:rPr lang="en-US" dirty="0"/>
              <a:t>Assess the presence and viral loads of enteric viruses in stool samples from healthy, asymptomatic adults.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C193DE-3BCC-6BA5-5FE7-894F70440853}"/>
              </a:ext>
            </a:extLst>
          </p:cNvPr>
          <p:cNvSpPr txBox="1"/>
          <p:nvPr/>
        </p:nvSpPr>
        <p:spPr>
          <a:xfrm>
            <a:off x="3321287" y="1415339"/>
            <a:ext cx="2511188" cy="28931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b="1" cap="all" dirty="0"/>
              <a:t>General approach</a:t>
            </a:r>
            <a:endParaRPr lang="en-US" sz="800" dirty="0"/>
          </a:p>
          <a:p>
            <a:r>
              <a:rPr lang="en-US" b="1" cap="all" dirty="0"/>
              <a:t>Targeted and broader screening</a:t>
            </a:r>
          </a:p>
          <a:p>
            <a:r>
              <a:rPr lang="en-US" dirty="0"/>
              <a:t>Use RT-</a:t>
            </a:r>
            <a:r>
              <a:rPr lang="en-US" dirty="0" err="1"/>
              <a:t>ddPCR</a:t>
            </a:r>
            <a:r>
              <a:rPr lang="en-US" dirty="0"/>
              <a:t> for selected viruses and viral metagenomics on a subset to explore viruses beyond the targeted panel.</a:t>
            </a:r>
          </a:p>
          <a:p>
            <a:pPr algn="l"/>
            <a:endParaRPr lang="en-US" sz="800" dirty="0">
              <a:solidFill>
                <a:schemeClr val="tx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B6CB08-43BB-B59F-DE9D-54887781BE96}"/>
              </a:ext>
            </a:extLst>
          </p:cNvPr>
          <p:cNvSpPr txBox="1"/>
          <p:nvPr/>
        </p:nvSpPr>
        <p:spPr>
          <a:xfrm>
            <a:off x="6346161" y="1476038"/>
            <a:ext cx="2511188" cy="28931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b="1" cap="all" dirty="0"/>
              <a:t>Expected contribution</a:t>
            </a:r>
            <a:endParaRPr lang="en-US" sz="800" dirty="0"/>
          </a:p>
          <a:p>
            <a:r>
              <a:rPr lang="en-US" b="1" cap="all" dirty="0"/>
              <a:t>Inform diagnostic needs</a:t>
            </a:r>
          </a:p>
          <a:p>
            <a:r>
              <a:rPr lang="en-US" dirty="0"/>
              <a:t>Provide viral-load data and naturally positive samples to inform the development and evaluation of the rapid assay.</a:t>
            </a:r>
          </a:p>
          <a:p>
            <a:pPr algn="l"/>
            <a:endParaRPr lang="en-US" sz="800" dirty="0">
              <a:solidFill>
                <a:schemeClr val="tx2">
                  <a:lumMod val="60000"/>
                  <a:lumOff val="4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584012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62EB9-AAA4-BF84-3401-23B7DBDB9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indent="0">
              <a:spcBef>
                <a:spcPts val="1200"/>
              </a:spcBef>
              <a:spcAft>
                <a:spcPts val="1200"/>
              </a:spcAft>
            </a:pPr>
            <a:r>
              <a:rPr lang="en-US" sz="2800" b="1" i="0" cap="all" dirty="0">
                <a:solidFill>
                  <a:srgbClr val="537992"/>
                </a:solidFill>
                <a:effectLst/>
                <a:latin typeface="Bebas Neue" panose="020B0606020202050201" pitchFamily="34" charset="0"/>
              </a:rPr>
              <a:t>Selecting aptamers that can work in stool</a:t>
            </a:r>
            <a:br>
              <a:rPr lang="en-US" sz="2800" b="1" i="0" cap="all" dirty="0">
                <a:solidFill>
                  <a:srgbClr val="537992"/>
                </a:solidFill>
                <a:effectLst/>
                <a:latin typeface="Bebas Neue" panose="020B0606020202050201" pitchFamily="34" charset="0"/>
              </a:rPr>
            </a:b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3640D0-BA59-7C30-7B79-EC82658019D0}"/>
              </a:ext>
            </a:extLst>
          </p:cNvPr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rPr lang="en-US" b="0" dirty="0"/>
              <a:t>Before building a rapid test, we need recognition tools that remain functional in the sample we actually want to test.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37B9E92-56FF-3269-4E06-12A9A6C1E5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61F444-D58F-CAB4-FAF9-3F75587D9B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69F32-90E1-ED4F-B6D9-07697D6A4E9E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B5EF9C-99E2-161B-1CCE-4EF65D118430}"/>
              </a:ext>
            </a:extLst>
          </p:cNvPr>
          <p:cNvSpPr txBox="1"/>
          <p:nvPr/>
        </p:nvSpPr>
        <p:spPr>
          <a:xfrm>
            <a:off x="477672" y="1848286"/>
            <a:ext cx="2204113" cy="233910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b="1" dirty="0"/>
              <a:t>01 · ESTABLISH</a:t>
            </a:r>
            <a:endParaRPr lang="en-US" sz="800" dirty="0"/>
          </a:p>
          <a:p>
            <a:r>
              <a:rPr lang="en-US" b="1" cap="all" dirty="0"/>
              <a:t>Recognition in buffer</a:t>
            </a:r>
          </a:p>
          <a:p>
            <a:r>
              <a:rPr lang="en-US" dirty="0"/>
              <a:t>Compare candidate aptamers for target binding and specificity under controlled conditions.</a:t>
            </a:r>
          </a:p>
          <a:p>
            <a:pPr algn="l"/>
            <a:endParaRPr lang="en-US" sz="800" dirty="0">
              <a:solidFill>
                <a:schemeClr val="tx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411FD5-C272-574E-DA8A-DA3A187ACF32}"/>
              </a:ext>
            </a:extLst>
          </p:cNvPr>
          <p:cNvSpPr txBox="1"/>
          <p:nvPr/>
        </p:nvSpPr>
        <p:spPr>
          <a:xfrm>
            <a:off x="3405116" y="1853771"/>
            <a:ext cx="2518777" cy="2062103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b="1" dirty="0"/>
              <a:t>02 · CHALLENGE</a:t>
            </a:r>
            <a:endParaRPr lang="en-US" sz="800" dirty="0"/>
          </a:p>
          <a:p>
            <a:r>
              <a:rPr lang="en-US" b="1" cap="all" dirty="0"/>
              <a:t>Performance in stool</a:t>
            </a:r>
          </a:p>
          <a:p>
            <a:r>
              <a:rPr lang="en-US" dirty="0"/>
              <a:t>Determine whether binding is retained when the </a:t>
            </a:r>
            <a:r>
              <a:rPr lang="en-US" dirty="0" err="1"/>
              <a:t>faecal</a:t>
            </a:r>
            <a:r>
              <a:rPr lang="en-US" dirty="0"/>
              <a:t> matrix is introduced.</a:t>
            </a:r>
          </a:p>
          <a:p>
            <a:pPr algn="l"/>
            <a:endParaRPr lang="en-US" sz="800" dirty="0">
              <a:solidFill>
                <a:schemeClr val="tx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4CF25A-C09B-B968-CD2D-6A5F89F27208}"/>
              </a:ext>
            </a:extLst>
          </p:cNvPr>
          <p:cNvSpPr txBox="1"/>
          <p:nvPr/>
        </p:nvSpPr>
        <p:spPr>
          <a:xfrm>
            <a:off x="6383172" y="1590190"/>
            <a:ext cx="2402053" cy="28931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b="1" cap="all" dirty="0"/>
              <a:t>Expected contribution</a:t>
            </a:r>
            <a:endParaRPr lang="en-US" sz="800" dirty="0"/>
          </a:p>
          <a:p>
            <a:r>
              <a:rPr lang="en-US" b="1" cap="all" dirty="0"/>
              <a:t>Prepare the inputs for WP3</a:t>
            </a:r>
          </a:p>
          <a:p>
            <a:r>
              <a:rPr lang="en-US" dirty="0"/>
              <a:t>Select lead aptamers and workable sample conditions, supported by testing on naturally positive samples where available.</a:t>
            </a:r>
          </a:p>
          <a:p>
            <a:pPr algn="l"/>
            <a:endParaRPr lang="en-US" sz="800" dirty="0">
              <a:solidFill>
                <a:schemeClr val="tx2">
                  <a:lumMod val="60000"/>
                  <a:lumOff val="4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21379762"/>
      </p:ext>
    </p:extLst>
  </p:cSld>
  <p:clrMapOvr>
    <a:masterClrMapping/>
  </p:clrMapOvr>
</p:sld>
</file>

<file path=ppt/theme/theme1.xml><?xml version="1.0" encoding="utf-8"?>
<a:theme xmlns:a="http://schemas.openxmlformats.org/drawingml/2006/main" name="LIST 2019_Multiple Slide Types Template">
  <a:themeElements>
    <a:clrScheme name="2019_LIST_Corporate_ColorTheme_CMYK">
      <a:dk1>
        <a:srgbClr val="141313"/>
      </a:dk1>
      <a:lt1>
        <a:srgbClr val="FFFFFF"/>
      </a:lt1>
      <a:dk2>
        <a:srgbClr val="537992"/>
      </a:dk2>
      <a:lt2>
        <a:srgbClr val="DFF1F0"/>
      </a:lt2>
      <a:accent1>
        <a:srgbClr val="00AEBC"/>
      </a:accent1>
      <a:accent2>
        <a:srgbClr val="2A6D81"/>
      </a:accent2>
      <a:accent3>
        <a:srgbClr val="A2C7C4"/>
      </a:accent3>
      <a:accent4>
        <a:srgbClr val="BDD8D6"/>
      </a:accent4>
      <a:accent5>
        <a:srgbClr val="AFAFAF"/>
      </a:accent5>
      <a:accent6>
        <a:srgbClr val="E50051"/>
      </a:accent6>
      <a:hlink>
        <a:srgbClr val="00AFC8"/>
      </a:hlink>
      <a:folHlink>
        <a:srgbClr val="96969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pattFill prst="dkUpDiag">
          <a:fgClr>
            <a:schemeClr val="bg2">
              <a:lumMod val="50000"/>
            </a:schemeClr>
          </a:fgClr>
          <a:bgClr>
            <a:schemeClr val="bg2">
              <a:lumMod val="65000"/>
            </a:schemeClr>
          </a:bgClr>
        </a:pattFill>
        <a:ln>
          <a:noFill/>
        </a:ln>
      </a:spPr>
      <a:bodyPr wrap="none" lIns="228600" tIns="228600" rIns="228600" bIns="228600" rtlCol="0" anchor="ctr">
        <a:noAutofit/>
      </a:bodyPr>
      <a:lstStyle>
        <a:defPPr algn="ctr">
          <a:defRPr sz="1400" dirty="0" smtClean="0">
            <a:solidFill>
              <a:schemeClr val="bg1"/>
            </a:solidFill>
            <a:latin typeface="Franklin Gothic Demi Cond" panose="020B07060304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 anchor="b">
        <a:spAutoFit/>
      </a:bodyPr>
      <a:lstStyle>
        <a:defPPr algn="l">
          <a:defRPr sz="800" smtClean="0">
            <a:solidFill>
              <a:schemeClr val="tx2">
                <a:lumMod val="60000"/>
                <a:lumOff val="40000"/>
              </a:schemeClr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2021_LIST_PPT_Template" id="{B4E95B73-79EF-C646-9D58-03712CAF85DB}" vid="{32BA748C-80FD-4F47-A7AC-82D5B85E8CD5}"/>
    </a:ext>
  </a:extLst>
</a:theme>
</file>

<file path=ppt/theme/theme2.xml><?xml version="1.0" encoding="utf-8"?>
<a:theme xmlns:a="http://schemas.openxmlformats.org/drawingml/2006/main" name="Office Theme">
  <a:themeElements>
    <a:clrScheme name="Sophisticated Business">
      <a:dk1>
        <a:sysClr val="windowText" lastClr="000000"/>
      </a:dk1>
      <a:lt1>
        <a:sysClr val="window" lastClr="FFFFFF"/>
      </a:lt1>
      <a:dk2>
        <a:srgbClr val="897C57"/>
      </a:dk2>
      <a:lt2>
        <a:srgbClr val="FFFFFF"/>
      </a:lt2>
      <a:accent1>
        <a:srgbClr val="3C8689"/>
      </a:accent1>
      <a:accent2>
        <a:srgbClr val="E2BA41"/>
      </a:accent2>
      <a:accent3>
        <a:srgbClr val="C8904D"/>
      </a:accent3>
      <a:accent4>
        <a:srgbClr val="66AF9E"/>
      </a:accent4>
      <a:accent5>
        <a:srgbClr val="897C57"/>
      </a:accent5>
      <a:accent6>
        <a:srgbClr val="AF9D66"/>
      </a:accent6>
      <a:hlink>
        <a:srgbClr val="3C8689"/>
      </a:hlink>
      <a:folHlink>
        <a:srgbClr val="897C57"/>
      </a:folHlink>
    </a:clrScheme>
    <a:fontScheme name="Sophisticated Business">
      <a:majorFont>
        <a:latin typeface="Franklin Gothic Book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Sophisticated Business">
      <a:dk1>
        <a:sysClr val="windowText" lastClr="000000"/>
      </a:dk1>
      <a:lt1>
        <a:sysClr val="window" lastClr="FFFFFF"/>
      </a:lt1>
      <a:dk2>
        <a:srgbClr val="897C57"/>
      </a:dk2>
      <a:lt2>
        <a:srgbClr val="FFFFFF"/>
      </a:lt2>
      <a:accent1>
        <a:srgbClr val="3C8689"/>
      </a:accent1>
      <a:accent2>
        <a:srgbClr val="E2BA41"/>
      </a:accent2>
      <a:accent3>
        <a:srgbClr val="C8904D"/>
      </a:accent3>
      <a:accent4>
        <a:srgbClr val="66AF9E"/>
      </a:accent4>
      <a:accent5>
        <a:srgbClr val="897C57"/>
      </a:accent5>
      <a:accent6>
        <a:srgbClr val="AF9D66"/>
      </a:accent6>
      <a:hlink>
        <a:srgbClr val="3C8689"/>
      </a:hlink>
      <a:folHlink>
        <a:srgbClr val="897C57"/>
      </a:folHlink>
    </a:clrScheme>
    <a:fontScheme name="Sophisticated Business">
      <a:majorFont>
        <a:latin typeface="Franklin Gothic Book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2021_LIST_PPT_Template (1)</Template>
  <TotalTime>0</TotalTime>
  <Words>763</Words>
  <Application>Microsoft Office PowerPoint</Application>
  <PresentationFormat>On-screen Show (16:9)</PresentationFormat>
  <Paragraphs>159</Paragraphs>
  <Slides>20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Aptos</vt:lpstr>
      <vt:lpstr>Arial</vt:lpstr>
      <vt:lpstr>Bebas Neue</vt:lpstr>
      <vt:lpstr>Bebas Neue Regular</vt:lpstr>
      <vt:lpstr>Calibri</vt:lpstr>
      <vt:lpstr>Cambria</vt:lpstr>
      <vt:lpstr>Franklin Gothic Book</vt:lpstr>
      <vt:lpstr>Franklin Gothic Demi Cond</vt:lpstr>
      <vt:lpstr>Wingdings</vt:lpstr>
      <vt:lpstr>LIST 2019_Multiple Slide Types Template</vt:lpstr>
      <vt:lpstr> Aptamer-Based Detection of Enteric Viruses in FaecalSamples: A Novel Platform to Assess the Viral Risk of FaecalMicrobiota Transplants</vt:lpstr>
      <vt:lpstr>Why we need a rapid test? </vt:lpstr>
      <vt:lpstr>Why norovirus?</vt:lpstr>
      <vt:lpstr>Three work packages</vt:lpstr>
      <vt:lpstr>Work package 1: How much does the viral picture change across the interval? </vt:lpstr>
      <vt:lpstr>How do our aptamers recognise the virus — in buffer and in stool? </vt:lpstr>
      <vt:lpstr>PowerPoint Presentation</vt:lpstr>
      <vt:lpstr>Six candidate with sequences</vt:lpstr>
      <vt:lpstr>Result of the elasa experiments</vt:lpstr>
      <vt:lpstr>Why comparing is difficult?</vt:lpstr>
      <vt:lpstr>Fluorscence polarization</vt:lpstr>
      <vt:lpstr>PowerPoint Presentation</vt:lpstr>
      <vt:lpstr>PowerPoint Presentation</vt:lpstr>
      <vt:lpstr>Identifying aptamers suitable for stool testing </vt:lpstr>
      <vt:lpstr>How to make them comparable?</vt:lpstr>
      <vt:lpstr>How does salt affect aptamer binding? </vt:lpstr>
      <vt:lpstr>The type of the ion matter </vt:lpstr>
      <vt:lpstr>PowerPoint Presentation</vt:lpstr>
      <vt:lpstr>Assessing viral risk in healthy adults’ stools </vt:lpstr>
      <vt:lpstr>Selecting aptamers that can work in stool </vt:lpstr>
    </vt:vector>
  </TitlesOfParts>
  <Company>LIST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Nazanin KHAZALI</dc:creator>
  <cp:lastModifiedBy>Nazanin KHAZALI</cp:lastModifiedBy>
  <cp:revision>8</cp:revision>
  <dcterms:created xsi:type="dcterms:W3CDTF">2026-10-13T11:02:47Z</dcterms:created>
  <dcterms:modified xsi:type="dcterms:W3CDTF">2026-10-20T19:27:07Z</dcterms:modified>
</cp:coreProperties>
</file>