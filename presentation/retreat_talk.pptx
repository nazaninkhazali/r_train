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problem" id="{bf9b7ad7-2546-39d6-b8e0-29ef73702381}">
          <p14:sldIdLst>
            <p14:sldId id="256"/>
            <p14:sldId id="257"/>
            <p14:sldId id="258"/>
            <p14:sldId id="259"/>
            <p14:sldId id="260"/>
            <p14:sldId id="261"/>
          </p14:sldIdLst>
        </p14:section>
        <p14:section name="Roadmap" id="{43a8754d-db08-20a7-6525-c2746091b6a3}">
          <p14:sldIdLst>
            <p14:sldId id="262"/>
          </p14:sldIdLst>
        </p14:section>
        <p14:section name="WP1" id="{efd0d409-1a9f-9e81-8646-90cee961335d}">
          <p14:sldIdLst>
            <p14:sldId id="263"/>
          </p14:sldIdLst>
        </p14:section>
        <p14:section name="WP2" id="{d390d06c-ffc1-9c0e-1bdd-adaad3a6343b}">
          <p14:sldIdLst>
            <p14:sldId id="264"/>
            <p14:sldId id="265"/>
            <p14:sldId id="266"/>
            <p14:sldId id="267"/>
          </p14:sldIdLst>
        </p14:section>
        <p14:section name="WP3" id="{a6e506fa-13b3-ee61-b7d5-20510cabddf2}">
          <p14:sldIdLst>
            <p14:sldId id="268"/>
          </p14:sldIdLst>
        </p14:section>
        <p14:section name="Close" id="{10180317-1fc2-5787-9953-36d960ec1664}">
          <p14:sldIdLst>
            <p14:sldId id="269"/>
            <p14:sldId id="270"/>
          </p14:sldIdLst>
        </p14:section>
        <p14:section name="Backup" id="{9ffc6c67-4514-fa71-6811-8faa9674f7ba}">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I want to start with the question that drives my whole project: the donor has been screened — but what about the donation made today? To explain why that question matters, let me set the scene.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Faecal microbiota transplantation transfers a healthy donor's gut microbiota to a patient. The recipients are often elderly, on antibiotics or immunocompromised, so an infection passed on through the donation can be serious. And here is the thing that makes this different from most other transplanted material: you cannot sterilise it. The living microbial community is the active ingredient — if you kill it, you have no medicine. That means the donor screen is the main safety barrier.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So how are donors screened? Before someone becomes a donor they fill in a questionnaire about health, medication, symptoms, travel and possible exposure to infection, and then blood and stool samples are tested for relevant pathogens. But passing those tests does not guarantee that every later donation is free from infection. In the workflow I'm discussing, testing brackets a donation period: donors are screened at the beginning and re-assessed at the end, and the exact schedule varies between stool banks. Between those two points a donor could acquire an enteric virus, shed it in a donation, and recover before the next assessment. They might even shed without any symptoms. The donor has been screened — but the donation made today has not been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Why don't we simply test every donation with the confirmatory method? RT-qPCR is sensitive and specific — it is the right tool for a definitive answer. But it needs sample preparation, equipment, trained staff and time. It is not practical to run on every single donation, and that is precisely why screening happens at intervals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So what would a rapid test actually add? A fast, simple test applied donation by donation could flag suspicious donations for further testing before they are used. I want to be precise about this, because it is easy to oversell: it would not replace laboratory confirmation, and it would not declare a donation safe by itself. Its job is triage — narrowing the window in which an infected donation can go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Why norovirus? It is a major cause of acute gastroenteritis and a good example of exactly this problem. It can be shed in very large quantities, it needs a very low infectious dose, and it can be shed without symptoms or after someone has recovered. In immunocompromised recipients, infection may become prolonged. On top of that, existing rapid antigen tests perform poorly for norovirus compared with other enteric viruses — so there is a real gap to fill. And conveniently, several aptamers already exist that could serve as recognition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My project has three work packages. First, measure how much the viral picture actually changes across a screening interval. Second, understand how aptamers recognise the virus, in buffer and then in stool. Third, turn that recognition into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We do not yet know how much changes inside that interval — and that is Work Package 1. We plan to study stool samples collected from the same person across a screening interval, and look at how the diversity of the viruses present changes over time. The point is to find out whether the viral picture at the start of the interval still describes the donations made later. In other words, WP1 measures how large the gap really is. This is planned work, so I have no results to show you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In WP2 we first ask whether our aptamers can recognise their viral targets reliably. We begin in buffer, where conditions are controlled, and compare the candidates to understand their binding strength, their specificity, and — for norovirus — their ability to recognise different genotypes. Norovirus is our priority, while aptamers for astrovirus, rotavirus and adenovirus are also investigated.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But recognising a target in buffer is only the beginning — and "the target" is not one single thing. We compare different target models: virus-like particles, recombinant capsid protein, and murine norovirus. Each is a different compromise between how easy it is to work with and how close it is to the real virus, and the form of the target influences recognition. So rather than assume they agree, we compare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Then we move into stool, where the challenge becomes more complex. The signal decreases — but why? Is the aptamer being degraded, or are stool components interfering with its binding? These two explanations look the same on a plate reader, but they call for completely different solutions. So rather than simply adjusting conditions until the signal improves, we investigate the mechanisms behind that loss. Degradation we can test by following the integrity of the aptamer over time; interference we can probe with spike-in and dilution experiments. Understanding which one we are facing should help us identify suitable strategies to preserve aptamer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All of this needs a method where the solution is the only thing that changes. Fluorescence polarization gives us that. We put a fluorescent tag on the aptamer and excite it with polarized light. The polarization reflects how fast the molecule tumbles: a free aptamer is small and tumbles fast, so polarization is low; bound to the large norovirus particle it tumbles slowly, so polarization rises. That rise is the binding signal. Why it suits this question: everything happens in solution, with nothing immobilised and no surface to stick to. There is no wash step, so the aptamer stays in one defined buffer from start to finish and the measurement is an equilibrium. And the same plate can scan ion identity, concentration and pH for every aptamer under one method. Paired with circular dichroism, it helps us separate a change in fold from a change at the interface. That last point is the subject of my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WP3 takes that knowledge and turns it into a practical detection platform: a lateral flow assay, aiming to translate aptamer–virus binding into a visible coloured signal on a test strip, starting with norovirus. We investigate how to immobilise the aptamers on the membrane, how to preserve their binding after drying, and how to use gold nanoparticles to generate the readout. Then we optimise the assay for stool and assess whether its detection limit is compatible with the viral loads observed in WP1, benchmarking against RT-qPCR. If the results from WP2 support it, we add a test line for a second virus. A validated norovirus assay is the minimum technological objective; multiplex detection is the next goal, and testing on naturally positive samples is the ambitious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To bring it together: we will first measure how the viral picture changes across the screening interval; then understand how our aptamers recognise the virus, in buffer and in stool; and then build a test that can say something about each individual donation — as triage, not as a verdict. Which brings me back to where I started: the donor has been screened — but what about the donation made today? If you want to hear why comparing six aptamers fairly is harder than it sounds, and what salt has to do with it, come to my poster.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Thank you —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237744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2377440"/>
          </a:xfrm>
          <a:prstGeom prst="rect">
            <a:avLst/>
          </a:prstGeom>
          <a:noFill/>
          <a:ln/>
        </p:spPr>
        <p:txBody>
          <a:bodyPr wrap="square" rtlCol="0" anchor="t"/>
          <a:lstStyle/>
          <a:p>
            <a:pPr algn="l" indent="0" marL="0">
              <a:buNone/>
            </a:pPr>
            <a:r>
              <a:rPr lang="en-US" sz="4200" b="1" dirty="0">
                <a:solidFill>
                  <a:schemeClr val="bg1"/>
                </a:solidFill>
              </a:rPr>
              <a:t>The donor has been screened — but what about the donation made today?</a:t>
            </a:r>
            <a:endParaRPr lang="en-US" sz="4200" dirty="0"/>
          </a:p>
        </p:txBody>
      </p:sp>
      <p:sp>
        <p:nvSpPr>
          <p:cNvPr id="3" name="Text 1"/>
          <p:cNvSpPr txBox="1"/>
          <p:nvPr/>
        </p:nvSpPr>
        <p:spPr>
          <a:xfrm>
            <a:off x="640080" y="4023360"/>
            <a:ext cx="5852160" cy="731520"/>
          </a:xfrm>
          <a:prstGeom prst="rect">
            <a:avLst/>
          </a:prstGeom>
          <a:noFill/>
          <a:ln/>
        </p:spPr>
        <p:txBody>
          <a:bodyPr wrap="square" lIns="0" tIns="0" rIns="0" bIns="0" rtlCol="0" anchor="t"/>
          <a:lstStyle/>
          <a:p>
            <a:pPr indent="0" marL="0">
              <a:buNone/>
            </a:pPr>
            <a:r>
              <a:rPr lang="en-US" sz="2100" dirty="0">
                <a:solidFill>
                  <a:schemeClr val="accent5"/>
                </a:solidFill>
              </a:rPr>
              <a:t>A rapid aptamer-based test for enteric viruses in FMT donor stool</a:t>
            </a:r>
            <a:endParaRPr lang="en-US" sz="2100" dirty="0"/>
          </a:p>
        </p:txBody>
      </p:sp>
      <p:sp>
        <p:nvSpPr>
          <p:cNvPr id="4" name="Text 2"/>
          <p:cNvSpPr txBox="1"/>
          <p:nvPr/>
        </p:nvSpPr>
        <p:spPr>
          <a:xfrm>
            <a:off x="640080" y="5852160"/>
            <a:ext cx="5852160" cy="365760"/>
          </a:xfrm>
          <a:prstGeom prst="rect">
            <a:avLst/>
          </a:prstGeom>
          <a:noFill/>
          <a:ln/>
        </p:spPr>
        <p:txBody>
          <a:bodyPr wrap="square" lIns="0" tIns="0" rIns="0" bIns="0" rtlCol="0" anchor="t"/>
          <a:lstStyle/>
          <a:p>
            <a:pPr indent="0" marL="0">
              <a:buNone/>
            </a:pPr>
            <a:r>
              <a:rPr lang="en-US" sz="1500" dirty="0">
                <a:solidFill>
                  <a:schemeClr val="bg2"/>
                </a:solidFill>
              </a:rPr>
              <a:t>[Your name]  ·  [Lab / supervisors]  ·  PhD Retreat 2026</a:t>
            </a:r>
            <a:endParaRPr lang="en-US" sz="1500" dirty="0"/>
          </a:p>
        </p:txBody>
      </p:sp>
      <p:sp>
        <p:nvSpPr>
          <p:cNvPr id="5" name="Shape 3"/>
          <p:cNvSpPr/>
          <p:nvPr/>
        </p:nvSpPr>
        <p:spPr>
          <a:xfrm>
            <a:off x="6858000" y="2103120"/>
            <a:ext cx="4846320" cy="2377440"/>
          </a:xfrm>
          <a:prstGeom prst="roundRect">
            <a:avLst>
              <a:gd name="adj" fmla="val 7692"/>
            </a:avLst>
          </a:prstGeom>
          <a:solidFill>
            <a:schemeClr val="bg1"/>
          </a:solidFill>
          <a:ln w="12700">
            <a:solidFill>
              <a:schemeClr val="bg1"/>
            </a:solidFill>
            <a:prstDash val="solid"/>
          </a:ln>
        </p:spPr>
      </p:sp>
      <p:pic>
        <p:nvPicPr>
          <p:cNvPr id="6" name="Donor, donations over time with today's unmarked, and patient" descr="Donor, donations over time with today's unmarked, and patient">    </p:cNvPr>
          <p:cNvPicPr>
            <a:picLocks noChangeAspect="1"/>
          </p:cNvPicPr>
          <p:nvPr/>
        </p:nvPicPr>
        <p:blipFill>
          <a:blip r:embed="rId1"/>
          <a:stretch>
            <a:fillRect/>
          </a:stretch>
        </p:blipFill>
        <p:spPr>
          <a:xfrm>
            <a:off x="7040880" y="2286000"/>
            <a:ext cx="4480560" cy="179222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The donation cannot be sterilised — the microbes are the medicine</a:t>
            </a:r>
            <a:endParaRPr lang="en-US" sz="3200" dirty="0"/>
          </a:p>
        </p:txBody>
      </p:sp>
      <p:pic>
        <p:nvPicPr>
          <p:cNvPr id="3" name="Living microbial community that cannot be sterilised" descr="Living microbial community that cannot be sterilised">    </p:cNvPr>
          <p:cNvPicPr>
            <a:picLocks noChangeAspect="1"/>
          </p:cNvPicPr>
          <p:nvPr/>
        </p:nvPicPr>
        <p:blipFill>
          <a:blip r:embed="rId1"/>
          <a:stretch>
            <a:fillRect/>
          </a:stretch>
        </p:blipFill>
        <p:spPr>
          <a:xfrm>
            <a:off x="640080" y="1600200"/>
            <a:ext cx="6583680" cy="3072384"/>
          </a:xfrm>
          <a:prstGeom prst="rect">
            <a:avLst/>
          </a:prstGeom>
        </p:spPr>
      </p:pic>
      <p:sp>
        <p:nvSpPr>
          <p:cNvPr id="4" name="Shape 1"/>
          <p:cNvSpPr/>
          <p:nvPr/>
        </p:nvSpPr>
        <p:spPr>
          <a:xfrm>
            <a:off x="7589520" y="1600200"/>
            <a:ext cx="4023360" cy="1463040"/>
          </a:xfrm>
          <a:prstGeom prst="roundRect">
            <a:avLst>
              <a:gd name="adj" fmla="val 7500"/>
            </a:avLst>
          </a:prstGeom>
          <a:solidFill>
            <a:schemeClr val="bg2"/>
          </a:solidFill>
          <a:ln w="12700">
            <a:solidFill>
              <a:schemeClr val="bg2"/>
            </a:solidFill>
            <a:prstDash val="solid"/>
          </a:ln>
        </p:spPr>
      </p:sp>
      <p:sp>
        <p:nvSpPr>
          <p:cNvPr id="5" name="Text 2"/>
          <p:cNvSpPr txBox="1"/>
          <p:nvPr/>
        </p:nvSpPr>
        <p:spPr>
          <a:xfrm>
            <a:off x="7772400" y="1737360"/>
            <a:ext cx="3657600" cy="118872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FMT in one line</a:t>
            </a:r>
            <a:endParaRPr lang="en-US" sz="1600" dirty="0"/>
          </a:p>
          <a:p>
            <a:pPr indent="0" marL="0">
              <a:spcAft>
                <a:spcPts val="400"/>
              </a:spcAft>
              <a:buNone/>
            </a:pPr>
            <a:r>
              <a:rPr lang="en-US" sz="1500" dirty="0">
                <a:solidFill>
                  <a:schemeClr val="tx1"/>
                </a:solidFill>
              </a:rPr>
              <a:t>A healthy donor's gut microbiota is transferred to a patient</a:t>
            </a:r>
            <a:endParaRPr lang="en-US" sz="1600" dirty="0"/>
          </a:p>
        </p:txBody>
      </p:sp>
      <p:sp>
        <p:nvSpPr>
          <p:cNvPr id="6" name="Shape 3"/>
          <p:cNvSpPr/>
          <p:nvPr/>
        </p:nvSpPr>
        <p:spPr>
          <a:xfrm>
            <a:off x="7589520" y="3246120"/>
            <a:ext cx="4023360" cy="1463040"/>
          </a:xfrm>
          <a:prstGeom prst="roundRect">
            <a:avLst>
              <a:gd name="adj" fmla="val 7500"/>
            </a:avLst>
          </a:prstGeom>
          <a:solidFill>
            <a:schemeClr val="bg2"/>
          </a:solidFill>
          <a:ln w="12700">
            <a:solidFill>
              <a:schemeClr val="bg2"/>
            </a:solidFill>
            <a:prstDash val="solid"/>
          </a:ln>
        </p:spPr>
      </p:sp>
      <p:sp>
        <p:nvSpPr>
          <p:cNvPr id="7" name="Text 4"/>
          <p:cNvSpPr txBox="1"/>
          <p:nvPr/>
        </p:nvSpPr>
        <p:spPr>
          <a:xfrm>
            <a:off x="7772400" y="3383280"/>
            <a:ext cx="3657600" cy="118872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Who receives it</a:t>
            </a:r>
            <a:endParaRPr lang="en-US" sz="1600" dirty="0"/>
          </a:p>
          <a:p>
            <a:pPr indent="0" marL="0">
              <a:spcAft>
                <a:spcPts val="400"/>
              </a:spcAft>
              <a:buNone/>
            </a:pPr>
            <a:r>
              <a:rPr lang="en-US" sz="1500" dirty="0">
                <a:solidFill>
                  <a:schemeClr val="tx1"/>
                </a:solidFill>
              </a:rPr>
              <a:t>Often elderly, on antibiotics or immunocompromised — an infection passed on can be serious</a:t>
            </a:r>
            <a:endParaRPr lang="en-US" sz="1600" dirty="0"/>
          </a:p>
        </p:txBody>
      </p:sp>
      <p:sp>
        <p:nvSpPr>
          <p:cNvPr id="8" name="Shape 5"/>
          <p:cNvSpPr/>
          <p:nvPr/>
        </p:nvSpPr>
        <p:spPr>
          <a:xfrm>
            <a:off x="7589520" y="4892040"/>
            <a:ext cx="4023360" cy="1143000"/>
          </a:xfrm>
          <a:prstGeom prst="roundRect">
            <a:avLst>
              <a:gd name="adj" fmla="val 9600"/>
            </a:avLst>
          </a:prstGeom>
          <a:solidFill>
            <a:schemeClr val="tx1"/>
          </a:solidFill>
          <a:ln w="12700">
            <a:solidFill>
              <a:schemeClr val="tx1"/>
            </a:solidFill>
            <a:prstDash val="solid"/>
          </a:ln>
        </p:spPr>
      </p:sp>
      <p:sp>
        <p:nvSpPr>
          <p:cNvPr id="9" name="Text 6"/>
          <p:cNvSpPr txBox="1"/>
          <p:nvPr/>
        </p:nvSpPr>
        <p:spPr>
          <a:xfrm>
            <a:off x="7772400" y="4892040"/>
            <a:ext cx="3657600" cy="1143000"/>
          </a:xfrm>
          <a:prstGeom prst="rect">
            <a:avLst/>
          </a:prstGeom>
          <a:noFill/>
          <a:ln/>
        </p:spPr>
        <p:txBody>
          <a:bodyPr wrap="square" lIns="0" tIns="0" rIns="0" bIns="0" rtlCol="0" anchor="ctr"/>
          <a:lstStyle/>
          <a:p>
            <a:pPr indent="0" marL="0">
              <a:buNone/>
            </a:pPr>
            <a:r>
              <a:rPr lang="en-US" sz="1800" b="1" dirty="0">
                <a:solidFill>
                  <a:schemeClr val="bg1"/>
                </a:solidFill>
              </a:rPr>
              <a:t>So the donor screen is the main safety barrier</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Screening brackets a donation period — the donations in between are untested</a:t>
            </a:r>
            <a:endParaRPr lang="en-US" sz="3200" dirty="0"/>
          </a:p>
        </p:txBody>
      </p:sp>
      <p:pic>
        <p:nvPicPr>
          <p:cNvPr id="3" name="Screening at both ends of an interval with a shedding episode in between" descr="Screening at both ends of an interval with a shedding episode in between">    </p:cNvPr>
          <p:cNvPicPr>
            <a:picLocks noChangeAspect="1"/>
          </p:cNvPicPr>
          <p:nvPr/>
        </p:nvPicPr>
        <p:blipFill>
          <a:blip r:embed="rId1"/>
          <a:stretch>
            <a:fillRect/>
          </a:stretch>
        </p:blipFill>
        <p:spPr>
          <a:xfrm>
            <a:off x="457200" y="1371600"/>
            <a:ext cx="8412480" cy="4037990"/>
          </a:xfrm>
          <a:prstGeom prst="rect">
            <a:avLst/>
          </a:prstGeom>
        </p:spPr>
      </p:pic>
      <p:sp>
        <p:nvSpPr>
          <p:cNvPr id="4" name="Shape 1"/>
          <p:cNvSpPr/>
          <p:nvPr/>
        </p:nvSpPr>
        <p:spPr>
          <a:xfrm>
            <a:off x="9052560" y="1371600"/>
            <a:ext cx="2606040" cy="1737360"/>
          </a:xfrm>
          <a:prstGeom prst="roundRect">
            <a:avLst>
              <a:gd name="adj" fmla="val 6316"/>
            </a:avLst>
          </a:prstGeom>
          <a:solidFill>
            <a:schemeClr val="bg2"/>
          </a:solidFill>
          <a:ln w="12700">
            <a:solidFill>
              <a:schemeClr val="bg2"/>
            </a:solidFill>
            <a:prstDash val="solid"/>
          </a:ln>
        </p:spPr>
      </p:sp>
      <p:sp>
        <p:nvSpPr>
          <p:cNvPr id="5" name="Text 2"/>
          <p:cNvSpPr txBox="1"/>
          <p:nvPr/>
        </p:nvSpPr>
        <p:spPr>
          <a:xfrm>
            <a:off x="9235440" y="1508760"/>
            <a:ext cx="2240280" cy="14630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Before donating</a:t>
            </a:r>
            <a:endParaRPr lang="en-US" sz="1600" dirty="0"/>
          </a:p>
          <a:p>
            <a:pPr indent="0" marL="0">
              <a:spcAft>
                <a:spcPts val="400"/>
              </a:spcAft>
              <a:buNone/>
            </a:pPr>
            <a:r>
              <a:rPr lang="en-US" sz="1500" dirty="0">
                <a:solidFill>
                  <a:schemeClr val="tx1"/>
                </a:solidFill>
              </a:rPr>
              <a:t>Questionnaire on health, medication, symptoms, travel, exposure + blood and stool tests</a:t>
            </a:r>
            <a:endParaRPr lang="en-US" sz="1600" dirty="0"/>
          </a:p>
        </p:txBody>
      </p:sp>
      <p:sp>
        <p:nvSpPr>
          <p:cNvPr id="6" name="Shape 3"/>
          <p:cNvSpPr/>
          <p:nvPr/>
        </p:nvSpPr>
        <p:spPr>
          <a:xfrm>
            <a:off x="9052560" y="3291840"/>
            <a:ext cx="2606040" cy="1463040"/>
          </a:xfrm>
          <a:prstGeom prst="roundRect">
            <a:avLst>
              <a:gd name="adj" fmla="val 7500"/>
            </a:avLst>
          </a:prstGeom>
          <a:solidFill>
            <a:schemeClr val="bg2"/>
          </a:solidFill>
          <a:ln w="12700">
            <a:solidFill>
              <a:schemeClr val="bg2"/>
            </a:solidFill>
            <a:prstDash val="solid"/>
          </a:ln>
        </p:spPr>
      </p:sp>
      <p:sp>
        <p:nvSpPr>
          <p:cNvPr id="7" name="Text 4"/>
          <p:cNvSpPr txBox="1"/>
          <p:nvPr/>
        </p:nvSpPr>
        <p:spPr>
          <a:xfrm>
            <a:off x="9235440" y="3429000"/>
            <a:ext cx="2240280" cy="118872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Then</a:t>
            </a:r>
            <a:endParaRPr lang="en-US" sz="1600" dirty="0"/>
          </a:p>
          <a:p>
            <a:pPr indent="0" marL="0">
              <a:spcAft>
                <a:spcPts val="400"/>
              </a:spcAft>
              <a:buNone/>
            </a:pPr>
            <a:r>
              <a:rPr lang="en-US" sz="1500" dirty="0">
                <a:solidFill>
                  <a:schemeClr val="tx1"/>
                </a:solidFill>
              </a:rPr>
              <a:t>Screened at the start of the period, re-assessed at the end [schedule varies by stool bank]</a:t>
            </a:r>
            <a:endParaRPr lang="en-US" sz="1600" dirty="0"/>
          </a:p>
        </p:txBody>
      </p:sp>
      <p:sp>
        <p:nvSpPr>
          <p:cNvPr id="8" name="Shape 5"/>
          <p:cNvSpPr/>
          <p:nvPr/>
        </p:nvSpPr>
        <p:spPr>
          <a:xfrm>
            <a:off x="9052560" y="4937760"/>
            <a:ext cx="2606040" cy="1371600"/>
          </a:xfrm>
          <a:prstGeom prst="roundRect">
            <a:avLst>
              <a:gd name="adj" fmla="val 8000"/>
            </a:avLst>
          </a:prstGeom>
          <a:solidFill>
            <a:schemeClr val="bg2"/>
          </a:solidFill>
          <a:ln w="12700">
            <a:solidFill>
              <a:schemeClr val="bg2"/>
            </a:solidFill>
            <a:prstDash val="solid"/>
          </a:ln>
        </p:spPr>
      </p:sp>
      <p:sp>
        <p:nvSpPr>
          <p:cNvPr id="9" name="Text 6"/>
          <p:cNvSpPr txBox="1"/>
          <p:nvPr/>
        </p:nvSpPr>
        <p:spPr>
          <a:xfrm>
            <a:off x="9235440" y="5074920"/>
            <a:ext cx="2240280" cy="109728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The gap</a:t>
            </a:r>
            <a:endParaRPr lang="en-US" sz="1600" dirty="0"/>
          </a:p>
          <a:p>
            <a:pPr indent="0" marL="0">
              <a:spcAft>
                <a:spcPts val="400"/>
              </a:spcAft>
              <a:buNone/>
            </a:pPr>
            <a:r>
              <a:rPr lang="en-US" sz="1500" dirty="0">
                <a:solidFill>
                  <a:schemeClr val="tx1"/>
                </a:solidFill>
              </a:rPr>
              <a:t>A donor can acquire a virus, shed it, and recover between the two tests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RT-qPCR is excellent — but not for every single donation</a:t>
            </a:r>
            <a:endParaRPr lang="en-US" sz="3200" dirty="0"/>
          </a:p>
        </p:txBody>
      </p:sp>
      <p:sp>
        <p:nvSpPr>
          <p:cNvPr id="3" name="Shape 1"/>
          <p:cNvSpPr/>
          <p:nvPr/>
        </p:nvSpPr>
        <p:spPr>
          <a:xfrm>
            <a:off x="640080" y="1645920"/>
            <a:ext cx="5029200" cy="1097280"/>
          </a:xfrm>
          <a:prstGeom prst="roundRect">
            <a:avLst>
              <a:gd name="adj" fmla="val 10000"/>
            </a:avLst>
          </a:prstGeom>
          <a:solidFill>
            <a:schemeClr val="bg2"/>
          </a:solidFill>
          <a:ln w="12700">
            <a:solidFill>
              <a:schemeClr val="bg2"/>
            </a:solidFill>
            <a:prstDash val="solid"/>
          </a:ln>
        </p:spPr>
      </p:sp>
      <p:sp>
        <p:nvSpPr>
          <p:cNvPr id="4" name="Text 2"/>
          <p:cNvSpPr txBox="1"/>
          <p:nvPr/>
        </p:nvSpPr>
        <p:spPr>
          <a:xfrm>
            <a:off x="822960" y="1783080"/>
            <a:ext cx="4663440" cy="82296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Sensitive</a:t>
            </a:r>
            <a:endParaRPr lang="en-US" sz="1600" dirty="0"/>
          </a:p>
          <a:p>
            <a:pPr indent="0" marL="0">
              <a:spcAft>
                <a:spcPts val="400"/>
              </a:spcAft>
              <a:buNone/>
            </a:pPr>
            <a:r>
              <a:rPr lang="en-US" sz="1500" dirty="0">
                <a:solidFill>
                  <a:schemeClr val="tx1"/>
                </a:solidFill>
              </a:rPr>
              <a:t>detects very low viral loads</a:t>
            </a:r>
            <a:endParaRPr lang="en-US" sz="1600" dirty="0"/>
          </a:p>
        </p:txBody>
      </p:sp>
      <p:sp>
        <p:nvSpPr>
          <p:cNvPr id="5" name="Shape 3"/>
          <p:cNvSpPr/>
          <p:nvPr/>
        </p:nvSpPr>
        <p:spPr>
          <a:xfrm>
            <a:off x="640080" y="2926080"/>
            <a:ext cx="5029200" cy="1097280"/>
          </a:xfrm>
          <a:prstGeom prst="roundRect">
            <a:avLst>
              <a:gd name="adj" fmla="val 10000"/>
            </a:avLst>
          </a:prstGeom>
          <a:solidFill>
            <a:schemeClr val="bg2"/>
          </a:solidFill>
          <a:ln w="12700">
            <a:solidFill>
              <a:schemeClr val="bg2"/>
            </a:solidFill>
            <a:prstDash val="solid"/>
          </a:ln>
        </p:spPr>
      </p:sp>
      <p:sp>
        <p:nvSpPr>
          <p:cNvPr id="6" name="Text 4"/>
          <p:cNvSpPr txBox="1"/>
          <p:nvPr/>
        </p:nvSpPr>
        <p:spPr>
          <a:xfrm>
            <a:off x="822960" y="3063240"/>
            <a:ext cx="4663440" cy="82296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Specific</a:t>
            </a:r>
            <a:endParaRPr lang="en-US" sz="1600" dirty="0"/>
          </a:p>
          <a:p>
            <a:pPr indent="0" marL="0">
              <a:spcAft>
                <a:spcPts val="400"/>
              </a:spcAft>
              <a:buNone/>
            </a:pPr>
            <a:r>
              <a:rPr lang="en-US" sz="1500" dirty="0">
                <a:solidFill>
                  <a:schemeClr val="tx1"/>
                </a:solidFill>
              </a:rPr>
              <a:t>identifies the virus precisely</a:t>
            </a:r>
            <a:endParaRPr lang="en-US" sz="1600" dirty="0"/>
          </a:p>
        </p:txBody>
      </p:sp>
      <p:sp>
        <p:nvSpPr>
          <p:cNvPr id="7" name="Shape 5"/>
          <p:cNvSpPr/>
          <p:nvPr/>
        </p:nvSpPr>
        <p:spPr>
          <a:xfrm>
            <a:off x="6217920" y="1645920"/>
            <a:ext cx="5394960" cy="1097280"/>
          </a:xfrm>
          <a:prstGeom prst="roundRect">
            <a:avLst>
              <a:gd name="adj" fmla="val 10000"/>
            </a:avLst>
          </a:prstGeom>
          <a:solidFill>
            <a:schemeClr val="bg2"/>
          </a:solidFill>
          <a:ln w="12700">
            <a:solidFill>
              <a:schemeClr val="bg2"/>
            </a:solidFill>
            <a:prstDash val="solid"/>
          </a:ln>
        </p:spPr>
      </p:sp>
      <p:sp>
        <p:nvSpPr>
          <p:cNvPr id="8" name="Text 6"/>
          <p:cNvSpPr txBox="1"/>
          <p:nvPr/>
        </p:nvSpPr>
        <p:spPr>
          <a:xfrm>
            <a:off x="6400800" y="1783080"/>
            <a:ext cx="5029200" cy="82296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Sample preparation</a:t>
            </a:r>
            <a:endParaRPr lang="en-US" sz="1600" dirty="0"/>
          </a:p>
          <a:p>
            <a:pPr indent="0" marL="0">
              <a:spcAft>
                <a:spcPts val="400"/>
              </a:spcAft>
              <a:buNone/>
            </a:pPr>
            <a:r>
              <a:rPr lang="en-US" sz="1500" dirty="0">
                <a:solidFill>
                  <a:schemeClr val="tx1"/>
                </a:solidFill>
              </a:rPr>
              <a:t>extraction, reagents, hands-on time</a:t>
            </a:r>
            <a:endParaRPr lang="en-US" sz="1600" dirty="0"/>
          </a:p>
        </p:txBody>
      </p:sp>
      <p:sp>
        <p:nvSpPr>
          <p:cNvPr id="9" name="Shape 7"/>
          <p:cNvSpPr/>
          <p:nvPr/>
        </p:nvSpPr>
        <p:spPr>
          <a:xfrm>
            <a:off x="6217920" y="2926080"/>
            <a:ext cx="5394960" cy="1097280"/>
          </a:xfrm>
          <a:prstGeom prst="roundRect">
            <a:avLst>
              <a:gd name="adj" fmla="val 10000"/>
            </a:avLst>
          </a:prstGeom>
          <a:solidFill>
            <a:schemeClr val="bg2"/>
          </a:solidFill>
          <a:ln w="12700">
            <a:solidFill>
              <a:schemeClr val="bg2"/>
            </a:solidFill>
            <a:prstDash val="solid"/>
          </a:ln>
        </p:spPr>
      </p:sp>
      <p:sp>
        <p:nvSpPr>
          <p:cNvPr id="10" name="Text 8"/>
          <p:cNvSpPr txBox="1"/>
          <p:nvPr/>
        </p:nvSpPr>
        <p:spPr>
          <a:xfrm>
            <a:off x="6400800" y="3063240"/>
            <a:ext cx="5029200" cy="82296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Equipment &amp; trained staff</a:t>
            </a:r>
            <a:endParaRPr lang="en-US" sz="1600" dirty="0"/>
          </a:p>
          <a:p>
            <a:pPr indent="0" marL="0">
              <a:spcAft>
                <a:spcPts val="400"/>
              </a:spcAft>
              <a:buNone/>
            </a:pPr>
            <a:r>
              <a:rPr lang="en-US" sz="1500" dirty="0">
                <a:solidFill>
                  <a:schemeClr val="tx1"/>
                </a:solidFill>
              </a:rPr>
              <a:t>a laboratory, not a donation room</a:t>
            </a:r>
            <a:endParaRPr lang="en-US" sz="1600" dirty="0"/>
          </a:p>
        </p:txBody>
      </p:sp>
      <p:sp>
        <p:nvSpPr>
          <p:cNvPr id="11" name="Shape 9"/>
          <p:cNvSpPr/>
          <p:nvPr/>
        </p:nvSpPr>
        <p:spPr>
          <a:xfrm>
            <a:off x="6217920" y="4206240"/>
            <a:ext cx="5394960" cy="1097280"/>
          </a:xfrm>
          <a:prstGeom prst="roundRect">
            <a:avLst>
              <a:gd name="adj" fmla="val 10000"/>
            </a:avLst>
          </a:prstGeom>
          <a:solidFill>
            <a:schemeClr val="bg2"/>
          </a:solidFill>
          <a:ln w="12700">
            <a:solidFill>
              <a:schemeClr val="bg2"/>
            </a:solidFill>
            <a:prstDash val="solid"/>
          </a:ln>
        </p:spPr>
      </p:sp>
      <p:sp>
        <p:nvSpPr>
          <p:cNvPr id="12" name="Text 10"/>
          <p:cNvSpPr txBox="1"/>
          <p:nvPr/>
        </p:nvSpPr>
        <p:spPr>
          <a:xfrm>
            <a:off x="6400800" y="4343400"/>
            <a:ext cx="5029200" cy="82296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Time</a:t>
            </a:r>
            <a:endParaRPr lang="en-US" sz="1600" dirty="0"/>
          </a:p>
          <a:p>
            <a:pPr indent="0" marL="0">
              <a:spcAft>
                <a:spcPts val="400"/>
              </a:spcAft>
              <a:buNone/>
            </a:pPr>
            <a:r>
              <a:rPr lang="en-US" sz="1500" dirty="0">
                <a:solidFill>
                  <a:schemeClr val="tx1"/>
                </a:solidFill>
              </a:rPr>
              <a:t>the donation waits for the result</a:t>
            </a:r>
            <a:endParaRPr lang="en-US" sz="1600" dirty="0"/>
          </a:p>
        </p:txBody>
      </p:sp>
      <p:sp>
        <p:nvSpPr>
          <p:cNvPr id="13" name="Text 11"/>
          <p:cNvSpPr txBox="1"/>
          <p:nvPr/>
        </p:nvSpPr>
        <p:spPr>
          <a:xfrm>
            <a:off x="640080" y="5577840"/>
            <a:ext cx="10972800" cy="548640"/>
          </a:xfrm>
          <a:prstGeom prst="rect">
            <a:avLst/>
          </a:prstGeom>
          <a:noFill/>
          <a:ln/>
        </p:spPr>
        <p:txBody>
          <a:bodyPr wrap="square" lIns="0" tIns="0" rIns="0" bIns="0" rtlCol="0" anchor="t"/>
          <a:lstStyle/>
          <a:p>
            <a:pPr indent="0" marL="0">
              <a:buNone/>
            </a:pPr>
            <a:r>
              <a:rPr lang="en-US" sz="1900" b="1" dirty="0">
                <a:solidFill>
                  <a:schemeClr val="tx1"/>
                </a:solidFill>
              </a:rPr>
              <a:t>That is exactly why screening happens at intervals rather than per donation</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What a rapid test adds: triage, not a verdict</a:t>
            </a:r>
            <a:endParaRPr lang="en-US" sz="3200" dirty="0"/>
          </a:p>
        </p:txBody>
      </p:sp>
      <p:pic>
        <p:nvPicPr>
          <p:cNvPr id="3" name="Every donation screened rapidly; flagged ones go to RT-qPCR" descr="Every donation screened rapidly; flagged ones go to RT-qPCR">    </p:cNvPr>
          <p:cNvPicPr>
            <a:picLocks noChangeAspect="1"/>
          </p:cNvPicPr>
          <p:nvPr/>
        </p:nvPicPr>
        <p:blipFill>
          <a:blip r:embed="rId1"/>
          <a:stretch>
            <a:fillRect/>
          </a:stretch>
        </p:blipFill>
        <p:spPr>
          <a:xfrm>
            <a:off x="1737360" y="1371600"/>
            <a:ext cx="8686800" cy="5385816"/>
          </a:xfrm>
          <a:prstGeom prst="rect">
            <a:avLst/>
          </a:prstGeom>
        </p:spPr>
      </p:pic>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Why norovirus</a:t>
            </a:r>
            <a:endParaRPr lang="en-US" sz="3200" dirty="0"/>
          </a:p>
        </p:txBody>
      </p:sp>
      <p:pic>
        <p:nvPicPr>
          <p:cNvPr id="3" name="Norovirus: low infectious dose, high shedding, silent shedding, prolonged in immunocompromised" descr="Norovirus: low infectious dose, high shedding, silent shedding, prolonged in immunocompromised">    </p:cNvPr>
          <p:cNvPicPr>
            <a:picLocks noChangeAspect="1"/>
          </p:cNvPicPr>
          <p:nvPr/>
        </p:nvPicPr>
        <p:blipFill>
          <a:blip r:embed="rId1"/>
          <a:stretch>
            <a:fillRect/>
          </a:stretch>
        </p:blipFill>
        <p:spPr>
          <a:xfrm>
            <a:off x="548640" y="1371600"/>
            <a:ext cx="8686800" cy="3459997"/>
          </a:xfrm>
          <a:prstGeom prst="rect">
            <a:avLst/>
          </a:prstGeom>
        </p:spPr>
      </p:pic>
      <p:sp>
        <p:nvSpPr>
          <p:cNvPr id="4" name="Shape 1"/>
          <p:cNvSpPr/>
          <p:nvPr/>
        </p:nvSpPr>
        <p:spPr>
          <a:xfrm>
            <a:off x="9509760" y="1371600"/>
            <a:ext cx="2148840" cy="1737360"/>
          </a:xfrm>
          <a:prstGeom prst="roundRect">
            <a:avLst>
              <a:gd name="adj" fmla="val 6316"/>
            </a:avLst>
          </a:prstGeom>
          <a:solidFill>
            <a:schemeClr val="bg2"/>
          </a:solidFill>
          <a:ln w="12700">
            <a:solidFill>
              <a:schemeClr val="bg2"/>
            </a:solidFill>
            <a:prstDash val="solid"/>
          </a:ln>
        </p:spPr>
      </p:sp>
      <p:sp>
        <p:nvSpPr>
          <p:cNvPr id="5" name="Text 2"/>
          <p:cNvSpPr txBox="1"/>
          <p:nvPr/>
        </p:nvSpPr>
        <p:spPr>
          <a:xfrm>
            <a:off x="9692640" y="1508760"/>
            <a:ext cx="1783080" cy="14630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Major cause</a:t>
            </a:r>
            <a:endParaRPr lang="en-US" sz="1600" dirty="0"/>
          </a:p>
          <a:p>
            <a:pPr indent="0" marL="0">
              <a:spcAft>
                <a:spcPts val="400"/>
              </a:spcAft>
              <a:buNone/>
            </a:pPr>
            <a:r>
              <a:rPr lang="en-US" sz="1500" dirty="0">
                <a:solidFill>
                  <a:schemeClr val="tx1"/>
                </a:solidFill>
              </a:rPr>
              <a:t>of acute gastroenteritis</a:t>
            </a:r>
            <a:endParaRPr lang="en-US" sz="1600" dirty="0"/>
          </a:p>
        </p:txBody>
      </p:sp>
      <p:sp>
        <p:nvSpPr>
          <p:cNvPr id="6" name="Shape 3"/>
          <p:cNvSpPr/>
          <p:nvPr/>
        </p:nvSpPr>
        <p:spPr>
          <a:xfrm>
            <a:off x="9509760" y="3291840"/>
            <a:ext cx="2148840" cy="1737360"/>
          </a:xfrm>
          <a:prstGeom prst="roundRect">
            <a:avLst>
              <a:gd name="adj" fmla="val 6316"/>
            </a:avLst>
          </a:prstGeom>
          <a:solidFill>
            <a:schemeClr val="bg2"/>
          </a:solidFill>
          <a:ln w="12700">
            <a:solidFill>
              <a:schemeClr val="bg2"/>
            </a:solidFill>
            <a:prstDash val="solid"/>
          </a:ln>
        </p:spPr>
      </p:sp>
      <p:sp>
        <p:nvSpPr>
          <p:cNvPr id="7" name="Text 4"/>
          <p:cNvSpPr txBox="1"/>
          <p:nvPr/>
        </p:nvSpPr>
        <p:spPr>
          <a:xfrm>
            <a:off x="9692640" y="3429000"/>
            <a:ext cx="1783080" cy="146304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Rapid antigen tests</a:t>
            </a:r>
            <a:endParaRPr lang="en-US" sz="1600" dirty="0"/>
          </a:p>
          <a:p>
            <a:pPr indent="0" marL="0">
              <a:spcAft>
                <a:spcPts val="400"/>
              </a:spcAft>
              <a:buNone/>
            </a:pPr>
            <a:r>
              <a:rPr lang="en-US" sz="1500" dirty="0">
                <a:solidFill>
                  <a:schemeClr val="tx1"/>
                </a:solidFill>
              </a:rPr>
              <a:t>perform poorly for it compared with other enteric viruses</a:t>
            </a:r>
            <a:endParaRPr lang="en-US" sz="1600" dirty="0"/>
          </a:p>
        </p:txBody>
      </p:sp>
      <p:sp>
        <p:nvSpPr>
          <p:cNvPr id="8" name="Shape 5"/>
          <p:cNvSpPr/>
          <p:nvPr/>
        </p:nvSpPr>
        <p:spPr>
          <a:xfrm>
            <a:off x="9509760" y="5212080"/>
            <a:ext cx="2148840" cy="1188720"/>
          </a:xfrm>
          <a:prstGeom prst="roundRect">
            <a:avLst>
              <a:gd name="adj" fmla="val 9231"/>
            </a:avLst>
          </a:prstGeom>
          <a:solidFill>
            <a:schemeClr val="bg2"/>
          </a:solidFill>
          <a:ln w="12700">
            <a:solidFill>
              <a:schemeClr val="bg2"/>
            </a:solidFill>
            <a:prstDash val="solid"/>
          </a:ln>
        </p:spPr>
      </p:sp>
      <p:sp>
        <p:nvSpPr>
          <p:cNvPr id="9" name="Text 6"/>
          <p:cNvSpPr txBox="1"/>
          <p:nvPr/>
        </p:nvSpPr>
        <p:spPr>
          <a:xfrm>
            <a:off x="9692640" y="5349240"/>
            <a:ext cx="1783080" cy="91440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Aptamers exist</a:t>
            </a:r>
            <a:endParaRPr lang="en-US" sz="1600" dirty="0"/>
          </a:p>
          <a:p>
            <a:pPr indent="0" marL="0">
              <a:spcAft>
                <a:spcPts val="400"/>
              </a:spcAft>
              <a:buNone/>
            </a:pPr>
            <a:r>
              <a:rPr lang="en-US" sz="1500" dirty="0">
                <a:solidFill>
                  <a:schemeClr val="tx1"/>
                </a:solidFill>
              </a:rPr>
              <a:t>several published candidates</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Three work packages</a:t>
            </a:r>
            <a:endParaRPr lang="en-US" sz="3200" dirty="0"/>
          </a:p>
        </p:txBody>
      </p:sp>
      <p:sp>
        <p:nvSpPr>
          <p:cNvPr id="3" name="Shape 1"/>
          <p:cNvSpPr/>
          <p:nvPr/>
        </p:nvSpPr>
        <p:spPr>
          <a:xfrm>
            <a:off x="1737360" y="2880360"/>
            <a:ext cx="8686800" cy="0"/>
          </a:xfrm>
          <a:prstGeom prst="line">
            <a:avLst/>
          </a:prstGeom>
          <a:noFill/>
          <a:ln w="50800">
            <a:solidFill>
              <a:schemeClr val="accent5"/>
            </a:solidFill>
            <a:prstDash val="dash"/>
          </a:ln>
        </p:spPr>
      </p:sp>
      <p:sp>
        <p:nvSpPr>
          <p:cNvPr id="4" name="roadmap-WP1"/>
          <p:cNvSpPr/>
          <p:nvPr/>
        </p:nvSpPr>
        <p:spPr>
          <a:xfrm>
            <a:off x="1737360" y="2148840"/>
            <a:ext cx="1463040" cy="1463040"/>
          </a:xfrm>
          <a:prstGeom prst="ellipse">
            <a:avLst/>
          </a:prstGeom>
          <a:solidFill>
            <a:schemeClr val="accent1"/>
          </a:solidFill>
          <a:ln w="50800">
            <a:solidFill>
              <a:schemeClr val="bg1"/>
            </a:solidFill>
            <a:prstDash val="solid"/>
          </a:ln>
        </p:spPr>
      </p:sp>
      <p:sp>
        <p:nvSpPr>
          <p:cNvPr id="5" name="Text 3"/>
          <p:cNvSpPr txBox="1"/>
          <p:nvPr/>
        </p:nvSpPr>
        <p:spPr>
          <a:xfrm>
            <a:off x="1737360" y="2148840"/>
            <a:ext cx="1463040" cy="1463040"/>
          </a:xfrm>
          <a:prstGeom prst="rect">
            <a:avLst/>
          </a:prstGeom>
          <a:noFill/>
          <a:ln/>
        </p:spPr>
        <p:txBody>
          <a:bodyPr wrap="square" lIns="0" tIns="0" rIns="0" bIns="0" rtlCol="0" anchor="ctr"/>
          <a:lstStyle/>
          <a:p>
            <a:pPr algn="ctr" indent="0" marL="0">
              <a:buNone/>
            </a:pPr>
            <a:r>
              <a:rPr lang="en-US" sz="2600" b="1" dirty="0">
                <a:solidFill>
                  <a:schemeClr val="bg1"/>
                </a:solidFill>
              </a:rPr>
              <a:t>WP1</a:t>
            </a:r>
            <a:endParaRPr lang="en-US" sz="2600" dirty="0"/>
          </a:p>
        </p:txBody>
      </p:sp>
      <p:sp>
        <p:nvSpPr>
          <p:cNvPr id="6" name="Text 4"/>
          <p:cNvSpPr txBox="1"/>
          <p:nvPr/>
        </p:nvSpPr>
        <p:spPr>
          <a:xfrm>
            <a:off x="914400" y="3931920"/>
            <a:ext cx="3108960" cy="1005840"/>
          </a:xfrm>
          <a:prstGeom prst="rect">
            <a:avLst/>
          </a:prstGeom>
          <a:noFill/>
          <a:ln/>
        </p:spPr>
        <p:txBody>
          <a:bodyPr wrap="square" lIns="0" tIns="0" rIns="0" bIns="0" rtlCol="0" anchor="t"/>
          <a:lstStyle/>
          <a:p>
            <a:pPr algn="ctr" indent="0" marL="0">
              <a:buNone/>
            </a:pPr>
            <a:r>
              <a:rPr lang="en-US" sz="1800" b="1" dirty="0">
                <a:solidFill>
                  <a:schemeClr val="tx1"/>
                </a:solidFill>
              </a:rPr>
              <a:t>How much does the viral picture change across the interval?</a:t>
            </a:r>
            <a:endParaRPr lang="en-US" sz="1800" dirty="0"/>
          </a:p>
        </p:txBody>
      </p:sp>
      <p:sp>
        <p:nvSpPr>
          <p:cNvPr id="7" name="Text 5"/>
          <p:cNvSpPr txBox="1"/>
          <p:nvPr/>
        </p:nvSpPr>
        <p:spPr>
          <a:xfrm>
            <a:off x="914400" y="5029200"/>
            <a:ext cx="3108960" cy="457200"/>
          </a:xfrm>
          <a:prstGeom prst="rect">
            <a:avLst/>
          </a:prstGeom>
          <a:noFill/>
          <a:ln/>
        </p:spPr>
        <p:txBody>
          <a:bodyPr wrap="square" lIns="0" tIns="0" rIns="0" bIns="0" rtlCol="0" anchor="t"/>
          <a:lstStyle/>
          <a:p>
            <a:pPr algn="ctr" indent="0" marL="0">
              <a:buNone/>
            </a:pPr>
            <a:r>
              <a:rPr lang="en-US" sz="1500" i="1" dirty="0">
                <a:solidFill>
                  <a:schemeClr val="tx2"/>
                </a:solidFill>
              </a:rPr>
              <a:t>how large is the gap</a:t>
            </a:r>
            <a:endParaRPr lang="en-US" sz="1500" dirty="0"/>
          </a:p>
        </p:txBody>
      </p:sp>
      <p:sp>
        <p:nvSpPr>
          <p:cNvPr id="8" name="roadmap-WP2"/>
          <p:cNvSpPr/>
          <p:nvPr/>
        </p:nvSpPr>
        <p:spPr>
          <a:xfrm>
            <a:off x="5486400" y="2148840"/>
            <a:ext cx="1463040" cy="1463040"/>
          </a:xfrm>
          <a:prstGeom prst="ellipse">
            <a:avLst/>
          </a:prstGeom>
          <a:solidFill>
            <a:schemeClr val="accent2"/>
          </a:solidFill>
          <a:ln w="50800">
            <a:solidFill>
              <a:schemeClr val="bg1"/>
            </a:solidFill>
            <a:prstDash val="solid"/>
          </a:ln>
        </p:spPr>
      </p:sp>
      <p:sp>
        <p:nvSpPr>
          <p:cNvPr id="9" name="Text 7"/>
          <p:cNvSpPr txBox="1"/>
          <p:nvPr/>
        </p:nvSpPr>
        <p:spPr>
          <a:xfrm>
            <a:off x="5486400" y="2148840"/>
            <a:ext cx="1463040" cy="1463040"/>
          </a:xfrm>
          <a:prstGeom prst="rect">
            <a:avLst/>
          </a:prstGeom>
          <a:noFill/>
          <a:ln/>
        </p:spPr>
        <p:txBody>
          <a:bodyPr wrap="square" lIns="0" tIns="0" rIns="0" bIns="0" rtlCol="0" anchor="ctr"/>
          <a:lstStyle/>
          <a:p>
            <a:pPr algn="ctr" indent="0" marL="0">
              <a:buNone/>
            </a:pPr>
            <a:r>
              <a:rPr lang="en-US" sz="2600" b="1" dirty="0">
                <a:solidFill>
                  <a:schemeClr val="bg1"/>
                </a:solidFill>
              </a:rPr>
              <a:t>WP2</a:t>
            </a:r>
            <a:endParaRPr lang="en-US" sz="2600" dirty="0"/>
          </a:p>
        </p:txBody>
      </p:sp>
      <p:sp>
        <p:nvSpPr>
          <p:cNvPr id="10" name="Text 8"/>
          <p:cNvSpPr txBox="1"/>
          <p:nvPr/>
        </p:nvSpPr>
        <p:spPr>
          <a:xfrm>
            <a:off x="4663440" y="3931920"/>
            <a:ext cx="3108960" cy="1005840"/>
          </a:xfrm>
          <a:prstGeom prst="rect">
            <a:avLst/>
          </a:prstGeom>
          <a:noFill/>
          <a:ln/>
        </p:spPr>
        <p:txBody>
          <a:bodyPr wrap="square" lIns="0" tIns="0" rIns="0" bIns="0" rtlCol="0" anchor="t"/>
          <a:lstStyle/>
          <a:p>
            <a:pPr algn="ctr" indent="0" marL="0">
              <a:buNone/>
            </a:pPr>
            <a:r>
              <a:rPr lang="en-US" sz="1800" b="1" dirty="0">
                <a:solidFill>
                  <a:schemeClr val="tx1"/>
                </a:solidFill>
              </a:rPr>
              <a:t>How do our aptamers recognise the virus — in buffer and in stool?</a:t>
            </a:r>
            <a:endParaRPr lang="en-US" sz="1800" dirty="0"/>
          </a:p>
        </p:txBody>
      </p:sp>
      <p:sp>
        <p:nvSpPr>
          <p:cNvPr id="11" name="Text 9"/>
          <p:cNvSpPr txBox="1"/>
          <p:nvPr/>
        </p:nvSpPr>
        <p:spPr>
          <a:xfrm>
            <a:off x="4663440" y="5029200"/>
            <a:ext cx="3108960" cy="457200"/>
          </a:xfrm>
          <a:prstGeom prst="rect">
            <a:avLst/>
          </a:prstGeom>
          <a:noFill/>
          <a:ln/>
        </p:spPr>
        <p:txBody>
          <a:bodyPr wrap="square" lIns="0" tIns="0" rIns="0" bIns="0" rtlCol="0" anchor="t"/>
          <a:lstStyle/>
          <a:p>
            <a:pPr algn="ctr" indent="0" marL="0">
              <a:buNone/>
            </a:pPr>
            <a:r>
              <a:rPr lang="en-US" sz="1500" i="1" dirty="0">
                <a:solidFill>
                  <a:schemeClr val="tx2"/>
                </a:solidFill>
              </a:rPr>
              <a:t>the recognition</a:t>
            </a:r>
            <a:endParaRPr lang="en-US" sz="1500" dirty="0"/>
          </a:p>
        </p:txBody>
      </p:sp>
      <p:sp>
        <p:nvSpPr>
          <p:cNvPr id="12" name="roadmap-WP3"/>
          <p:cNvSpPr/>
          <p:nvPr/>
        </p:nvSpPr>
        <p:spPr>
          <a:xfrm>
            <a:off x="9235440" y="2148840"/>
            <a:ext cx="1463040" cy="1463040"/>
          </a:xfrm>
          <a:prstGeom prst="ellipse">
            <a:avLst/>
          </a:prstGeom>
          <a:solidFill>
            <a:schemeClr val="accent4"/>
          </a:solidFill>
          <a:ln w="50800">
            <a:solidFill>
              <a:schemeClr val="bg1"/>
            </a:solidFill>
            <a:prstDash val="solid"/>
          </a:ln>
        </p:spPr>
      </p:sp>
      <p:sp>
        <p:nvSpPr>
          <p:cNvPr id="13" name="Text 11"/>
          <p:cNvSpPr txBox="1"/>
          <p:nvPr/>
        </p:nvSpPr>
        <p:spPr>
          <a:xfrm>
            <a:off x="9235440" y="2148840"/>
            <a:ext cx="1463040" cy="1463040"/>
          </a:xfrm>
          <a:prstGeom prst="rect">
            <a:avLst/>
          </a:prstGeom>
          <a:noFill/>
          <a:ln/>
        </p:spPr>
        <p:txBody>
          <a:bodyPr wrap="square" lIns="0" tIns="0" rIns="0" bIns="0" rtlCol="0" anchor="ctr"/>
          <a:lstStyle/>
          <a:p>
            <a:pPr algn="ctr" indent="0" marL="0">
              <a:buNone/>
            </a:pPr>
            <a:r>
              <a:rPr lang="en-US" sz="2600" b="1" dirty="0">
                <a:solidFill>
                  <a:schemeClr val="bg1"/>
                </a:solidFill>
              </a:rPr>
              <a:t>WP3</a:t>
            </a:r>
            <a:endParaRPr lang="en-US" sz="2600" dirty="0"/>
          </a:p>
        </p:txBody>
      </p:sp>
      <p:sp>
        <p:nvSpPr>
          <p:cNvPr id="14" name="Text 12"/>
          <p:cNvSpPr txBox="1"/>
          <p:nvPr/>
        </p:nvSpPr>
        <p:spPr>
          <a:xfrm>
            <a:off x="8412480" y="3931920"/>
            <a:ext cx="3108960" cy="1005840"/>
          </a:xfrm>
          <a:prstGeom prst="rect">
            <a:avLst/>
          </a:prstGeom>
          <a:noFill/>
          <a:ln/>
        </p:spPr>
        <p:txBody>
          <a:bodyPr wrap="square" lIns="0" tIns="0" rIns="0" bIns="0" rtlCol="0" anchor="t"/>
          <a:lstStyle/>
          <a:p>
            <a:pPr algn="ctr" indent="0" marL="0">
              <a:buNone/>
            </a:pPr>
            <a:r>
              <a:rPr lang="en-US" sz="1800" b="1" dirty="0">
                <a:solidFill>
                  <a:schemeClr val="tx1"/>
                </a:solidFill>
              </a:rPr>
              <a:t>Can that recognition become a visible line on a strip?</a:t>
            </a:r>
            <a:endParaRPr lang="en-US" sz="1800" dirty="0"/>
          </a:p>
        </p:txBody>
      </p:sp>
      <p:sp>
        <p:nvSpPr>
          <p:cNvPr id="15" name="Text 13"/>
          <p:cNvSpPr txBox="1"/>
          <p:nvPr/>
        </p:nvSpPr>
        <p:spPr>
          <a:xfrm>
            <a:off x="8412480" y="5029200"/>
            <a:ext cx="3108960" cy="457200"/>
          </a:xfrm>
          <a:prstGeom prst="rect">
            <a:avLst/>
          </a:prstGeom>
          <a:noFill/>
          <a:ln/>
        </p:spPr>
        <p:txBody>
          <a:bodyPr wrap="square" lIns="0" tIns="0" rIns="0" bIns="0" rtlCol="0" anchor="t"/>
          <a:lstStyle/>
          <a:p>
            <a:pPr algn="ctr" indent="0" marL="0">
              <a:buNone/>
            </a:pPr>
            <a:r>
              <a:rPr lang="en-US" sz="1500" i="1" dirty="0">
                <a:solidFill>
                  <a:schemeClr val="tx2"/>
                </a:solidFill>
              </a:rPr>
              <a:t>the test</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WP1: how much changes inside the interval?</a:t>
            </a:r>
            <a:endParaRPr lang="en-US" sz="3200" dirty="0"/>
          </a:p>
        </p:txBody>
      </p:sp>
      <p:sp>
        <p:nvSpPr>
          <p:cNvPr id="3" name="progress-WP1"/>
          <p:cNvSpPr/>
          <p:nvPr/>
        </p:nvSpPr>
        <p:spPr>
          <a:xfrm>
            <a:off x="10104120" y="548640"/>
            <a:ext cx="438912" cy="438912"/>
          </a:xfrm>
          <a:prstGeom prst="ellipse">
            <a:avLst/>
          </a:prstGeom>
          <a:solidFill>
            <a:schemeClr val="accent1"/>
          </a:solidFill>
          <a:ln w="12700">
            <a:solidFill>
              <a:schemeClr val="accent1"/>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progress-WP2"/>
          <p:cNvSpPr/>
          <p:nvPr/>
        </p:nvSpPr>
        <p:spPr>
          <a:xfrm>
            <a:off x="10671048" y="548640"/>
            <a:ext cx="438912" cy="438912"/>
          </a:xfrm>
          <a:prstGeom prst="ellipse">
            <a:avLst/>
          </a:prstGeom>
          <a:solidFill>
            <a:schemeClr val="bg2"/>
          </a:solidFill>
          <a:ln w="12700">
            <a:solidFill>
              <a:schemeClr val="accent5"/>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7" name="progress-WP3"/>
          <p:cNvSpPr/>
          <p:nvPr/>
        </p:nvSpPr>
        <p:spPr>
          <a:xfrm>
            <a:off x="11237976" y="548640"/>
            <a:ext cx="438912" cy="438912"/>
          </a:xfrm>
          <a:prstGeom prst="ellipse">
            <a:avLst/>
          </a:prstGeom>
          <a:solidFill>
            <a:schemeClr val="bg2"/>
          </a:solidFill>
          <a:ln w="12700">
            <a:solidFill>
              <a:schemeClr val="accent5"/>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pic>
        <p:nvPicPr>
          <p:cNvPr id="9" name="Same donor sampled repeatedly across one screening interval" descr="Same donor sampled repeatedly across one screening interval">    </p:cNvPr>
          <p:cNvPicPr>
            <a:picLocks noChangeAspect="1"/>
          </p:cNvPicPr>
          <p:nvPr/>
        </p:nvPicPr>
        <p:blipFill>
          <a:blip r:embed="rId1"/>
          <a:stretch>
            <a:fillRect/>
          </a:stretch>
        </p:blipFill>
        <p:spPr>
          <a:xfrm>
            <a:off x="457200" y="1463040"/>
            <a:ext cx="7315200" cy="3274423"/>
          </a:xfrm>
          <a:prstGeom prst="rect">
            <a:avLst/>
          </a:prstGeom>
        </p:spPr>
      </p:pic>
      <p:sp>
        <p:nvSpPr>
          <p:cNvPr id="10" name="Shape 7"/>
          <p:cNvSpPr/>
          <p:nvPr/>
        </p:nvSpPr>
        <p:spPr>
          <a:xfrm>
            <a:off x="8046720" y="1463040"/>
            <a:ext cx="3611880" cy="1371600"/>
          </a:xfrm>
          <a:prstGeom prst="roundRect">
            <a:avLst>
              <a:gd name="adj" fmla="val 8000"/>
            </a:avLst>
          </a:prstGeom>
          <a:solidFill>
            <a:schemeClr val="bg2"/>
          </a:solidFill>
          <a:ln w="12700">
            <a:solidFill>
              <a:schemeClr val="bg2"/>
            </a:solidFill>
            <a:prstDash val="solid"/>
          </a:ln>
        </p:spPr>
      </p:sp>
      <p:sp>
        <p:nvSpPr>
          <p:cNvPr id="11" name="Text 8"/>
          <p:cNvSpPr txBox="1"/>
          <p:nvPr/>
        </p:nvSpPr>
        <p:spPr>
          <a:xfrm>
            <a:off x="8229600" y="1600200"/>
            <a:ext cx="3246120" cy="109728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Design</a:t>
            </a:r>
            <a:endParaRPr lang="en-US" sz="1600" dirty="0"/>
          </a:p>
          <a:p>
            <a:pPr indent="0" marL="0">
              <a:spcAft>
                <a:spcPts val="400"/>
              </a:spcAft>
              <a:buNone/>
            </a:pPr>
            <a:r>
              <a:rPr lang="en-US" sz="1500" dirty="0">
                <a:solidFill>
                  <a:schemeClr val="tx1"/>
                </a:solidFill>
              </a:rPr>
              <a:t>Stool samples from the same person across a screening interval</a:t>
            </a:r>
            <a:endParaRPr lang="en-US" sz="1600" dirty="0"/>
          </a:p>
        </p:txBody>
      </p:sp>
      <p:sp>
        <p:nvSpPr>
          <p:cNvPr id="12" name="Shape 9"/>
          <p:cNvSpPr/>
          <p:nvPr/>
        </p:nvSpPr>
        <p:spPr>
          <a:xfrm>
            <a:off x="8046720" y="2971800"/>
            <a:ext cx="3611880" cy="1371600"/>
          </a:xfrm>
          <a:prstGeom prst="roundRect">
            <a:avLst>
              <a:gd name="adj" fmla="val 8000"/>
            </a:avLst>
          </a:prstGeom>
          <a:solidFill>
            <a:schemeClr val="bg2"/>
          </a:solidFill>
          <a:ln w="12700">
            <a:solidFill>
              <a:schemeClr val="bg2"/>
            </a:solidFill>
            <a:prstDash val="solid"/>
          </a:ln>
        </p:spPr>
      </p:sp>
      <p:sp>
        <p:nvSpPr>
          <p:cNvPr id="13" name="Text 10"/>
          <p:cNvSpPr txBox="1"/>
          <p:nvPr/>
        </p:nvSpPr>
        <p:spPr>
          <a:xfrm>
            <a:off x="8229600" y="3108960"/>
            <a:ext cx="3246120" cy="109728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Question</a:t>
            </a:r>
            <a:endParaRPr lang="en-US" sz="1600" dirty="0"/>
          </a:p>
          <a:p>
            <a:pPr indent="0" marL="0">
              <a:spcAft>
                <a:spcPts val="400"/>
              </a:spcAft>
              <a:buNone/>
            </a:pPr>
            <a:r>
              <a:rPr lang="en-US" sz="1500" dirty="0">
                <a:solidFill>
                  <a:schemeClr val="tx1"/>
                </a:solidFill>
              </a:rPr>
              <a:t>How does the diversity of viruses present change over time?</a:t>
            </a:r>
            <a:endParaRPr lang="en-US" sz="1600" dirty="0"/>
          </a:p>
        </p:txBody>
      </p:sp>
      <p:sp>
        <p:nvSpPr>
          <p:cNvPr id="14" name="Shape 11"/>
          <p:cNvSpPr/>
          <p:nvPr/>
        </p:nvSpPr>
        <p:spPr>
          <a:xfrm>
            <a:off x="8046720" y="4480560"/>
            <a:ext cx="3611880" cy="1645920"/>
          </a:xfrm>
          <a:prstGeom prst="roundRect">
            <a:avLst>
              <a:gd name="adj" fmla="val 6667"/>
            </a:avLst>
          </a:prstGeom>
          <a:solidFill>
            <a:schemeClr val="bg2"/>
          </a:solidFill>
          <a:ln w="12700">
            <a:solidFill>
              <a:schemeClr val="bg2"/>
            </a:solidFill>
            <a:prstDash val="solid"/>
          </a:ln>
        </p:spPr>
      </p:sp>
      <p:sp>
        <p:nvSpPr>
          <p:cNvPr id="15" name="Text 12"/>
          <p:cNvSpPr txBox="1"/>
          <p:nvPr/>
        </p:nvSpPr>
        <p:spPr>
          <a:xfrm>
            <a:off x="8229600" y="4617720"/>
            <a:ext cx="3246120" cy="1371600"/>
          </a:xfrm>
          <a:prstGeom prst="rect">
            <a:avLst/>
          </a:prstGeom>
          <a:noFill/>
          <a:ln/>
        </p:spPr>
        <p:txBody>
          <a:bodyPr wrap="square" lIns="0" tIns="0" rIns="0" bIns="0" rtlCol="0" anchor="t"/>
          <a:lstStyle/>
          <a:p>
            <a:pPr indent="0" marL="0">
              <a:spcAft>
                <a:spcPts val="400"/>
              </a:spcAft>
              <a:buNone/>
            </a:pPr>
            <a:r>
              <a:rPr lang="en-US" sz="1700" b="1" dirty="0">
                <a:solidFill>
                  <a:schemeClr val="accent2"/>
                </a:solidFill>
              </a:rPr>
              <a:t>Why it matters</a:t>
            </a:r>
            <a:endParaRPr lang="en-US" sz="1600" dirty="0"/>
          </a:p>
          <a:p>
            <a:pPr indent="0" marL="0">
              <a:spcAft>
                <a:spcPts val="400"/>
              </a:spcAft>
              <a:buNone/>
            </a:pPr>
            <a:r>
              <a:rPr lang="en-US" sz="1500" dirty="0">
                <a:solidFill>
                  <a:schemeClr val="tx1"/>
                </a:solidFill>
              </a:rPr>
              <a:t>Does the picture at the start still describe the donations made later?</a:t>
            </a:r>
            <a:endParaRPr lang="en-US" sz="1600" dirty="0"/>
          </a:p>
        </p:txBody>
      </p:sp>
      <p:sp>
        <p:nvSpPr>
          <p:cNvPr id="16" name="Text 13"/>
          <p:cNvSpPr txBox="1"/>
          <p:nvPr/>
        </p:nvSpPr>
        <p:spPr>
          <a:xfrm>
            <a:off x="457200" y="5760720"/>
            <a:ext cx="7315200" cy="457200"/>
          </a:xfrm>
          <a:prstGeom prst="rect">
            <a:avLst/>
          </a:prstGeom>
          <a:noFill/>
          <a:ln/>
        </p:spPr>
        <p:txBody>
          <a:bodyPr wrap="square" lIns="0" tIns="0" rIns="0" bIns="0" rtlCol="0" anchor="t"/>
          <a:lstStyle/>
          <a:p>
            <a:pPr indent="0" marL="0">
              <a:buNone/>
            </a:pPr>
            <a:r>
              <a:rPr lang="en-US" sz="1500" i="1" dirty="0">
                <a:solidFill>
                  <a:schemeClr val="tx2"/>
                </a:solidFill>
              </a:rPr>
              <a:t>Planned — [n donors × n time points, method]. This tells us how large the gap really is.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WP2: can our aptamers recognise their targets reliably?</a:t>
            </a:r>
            <a:endParaRPr lang="en-US" sz="3200" dirty="0"/>
          </a:p>
        </p:txBody>
      </p:sp>
      <p:sp>
        <p:nvSpPr>
          <p:cNvPr id="3" name="progress-WP1"/>
          <p:cNvSpPr/>
          <p:nvPr/>
        </p:nvSpPr>
        <p:spPr>
          <a:xfrm>
            <a:off x="10104120" y="548640"/>
            <a:ext cx="438912" cy="438912"/>
          </a:xfrm>
          <a:prstGeom prst="ellipse">
            <a:avLst/>
          </a:prstGeom>
          <a:solidFill>
            <a:schemeClr val="bg2"/>
          </a:solidFill>
          <a:ln w="12700">
            <a:solidFill>
              <a:schemeClr val="accent5"/>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progress-WP2"/>
          <p:cNvSpPr/>
          <p:nvPr/>
        </p:nvSpPr>
        <p:spPr>
          <a:xfrm>
            <a:off x="10671048" y="548640"/>
            <a:ext cx="438912" cy="438912"/>
          </a:xfrm>
          <a:prstGeom prst="ellipse">
            <a:avLst/>
          </a:prstGeom>
          <a:solidFill>
            <a:schemeClr val="accent1"/>
          </a:solidFill>
          <a:ln w="12700">
            <a:solidFill>
              <a:schemeClr val="accent1"/>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progress-WP3"/>
          <p:cNvSpPr/>
          <p:nvPr/>
        </p:nvSpPr>
        <p:spPr>
          <a:xfrm>
            <a:off x="11237976" y="548640"/>
            <a:ext cx="438912" cy="438912"/>
          </a:xfrm>
          <a:prstGeom prst="ellipse">
            <a:avLst/>
          </a:prstGeom>
          <a:solidFill>
            <a:schemeClr val="bg2"/>
          </a:solidFill>
          <a:ln w="12700">
            <a:solidFill>
              <a:schemeClr val="accent5"/>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pic>
        <p:nvPicPr>
          <p:cNvPr id="9" name="Six candidate aptamers" descr="Six candidate aptamers">    </p:cNvPr>
          <p:cNvPicPr>
            <a:picLocks noChangeAspect="1"/>
          </p:cNvPicPr>
          <p:nvPr/>
        </p:nvPicPr>
        <p:blipFill>
          <a:blip r:embed="rId1"/>
          <a:stretch>
            <a:fillRect/>
          </a:stretch>
        </p:blipFill>
        <p:spPr>
          <a:xfrm>
            <a:off x="457200" y="1600200"/>
            <a:ext cx="7680960" cy="2027773"/>
          </a:xfrm>
          <a:prstGeom prst="rect">
            <a:avLst/>
          </a:prstGeom>
        </p:spPr>
      </p:pic>
      <p:sp>
        <p:nvSpPr>
          <p:cNvPr id="10" name="Shape 7"/>
          <p:cNvSpPr/>
          <p:nvPr/>
        </p:nvSpPr>
        <p:spPr>
          <a:xfrm>
            <a:off x="8503920" y="1463040"/>
            <a:ext cx="3154680" cy="1280160"/>
          </a:xfrm>
          <a:prstGeom prst="roundRect">
            <a:avLst>
              <a:gd name="adj" fmla="val 8571"/>
            </a:avLst>
          </a:prstGeom>
          <a:solidFill>
            <a:schemeClr val="bg2"/>
          </a:solidFill>
          <a:ln w="12700">
            <a:solidFill>
              <a:schemeClr val="bg2"/>
            </a:solidFill>
            <a:prstDash val="solid"/>
          </a:ln>
        </p:spPr>
      </p:sp>
      <p:sp>
        <p:nvSpPr>
          <p:cNvPr id="11" name="Text 8"/>
          <p:cNvSpPr txBox="1"/>
          <p:nvPr/>
        </p:nvSpPr>
        <p:spPr>
          <a:xfrm>
            <a:off x="8686800" y="1600200"/>
            <a:ext cx="2788920" cy="10058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Binding strength</a:t>
            </a:r>
            <a:endParaRPr lang="en-US" sz="1600" dirty="0"/>
          </a:p>
          <a:p>
            <a:pPr indent="0" marL="0">
              <a:spcAft>
                <a:spcPts val="400"/>
              </a:spcAft>
              <a:buNone/>
            </a:pPr>
            <a:r>
              <a:rPr lang="en-US" sz="1500" dirty="0">
                <a:solidFill>
                  <a:schemeClr val="tx1"/>
                </a:solidFill>
              </a:rPr>
              <a:t>how tightly each one holds</a:t>
            </a:r>
            <a:endParaRPr lang="en-US" sz="1600" dirty="0"/>
          </a:p>
        </p:txBody>
      </p:sp>
      <p:sp>
        <p:nvSpPr>
          <p:cNvPr id="12" name="Shape 9"/>
          <p:cNvSpPr/>
          <p:nvPr/>
        </p:nvSpPr>
        <p:spPr>
          <a:xfrm>
            <a:off x="8503920" y="2880360"/>
            <a:ext cx="3154680" cy="1280160"/>
          </a:xfrm>
          <a:prstGeom prst="roundRect">
            <a:avLst>
              <a:gd name="adj" fmla="val 8571"/>
            </a:avLst>
          </a:prstGeom>
          <a:solidFill>
            <a:schemeClr val="bg2"/>
          </a:solidFill>
          <a:ln w="12700">
            <a:solidFill>
              <a:schemeClr val="bg2"/>
            </a:solidFill>
            <a:prstDash val="solid"/>
          </a:ln>
        </p:spPr>
      </p:sp>
      <p:sp>
        <p:nvSpPr>
          <p:cNvPr id="13" name="Text 10"/>
          <p:cNvSpPr txBox="1"/>
          <p:nvPr/>
        </p:nvSpPr>
        <p:spPr>
          <a:xfrm>
            <a:off x="8686800" y="3017520"/>
            <a:ext cx="2788920" cy="10058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Specificity</a:t>
            </a:r>
            <a:endParaRPr lang="en-US" sz="1600" dirty="0"/>
          </a:p>
          <a:p>
            <a:pPr indent="0" marL="0">
              <a:spcAft>
                <a:spcPts val="400"/>
              </a:spcAft>
              <a:buNone/>
            </a:pPr>
            <a:r>
              <a:rPr lang="en-US" sz="1500" dirty="0">
                <a:solidFill>
                  <a:schemeClr val="tx1"/>
                </a:solidFill>
              </a:rPr>
              <a:t>the target and not its neighbours</a:t>
            </a:r>
            <a:endParaRPr lang="en-US" sz="1600" dirty="0"/>
          </a:p>
        </p:txBody>
      </p:sp>
      <p:sp>
        <p:nvSpPr>
          <p:cNvPr id="14" name="Shape 11"/>
          <p:cNvSpPr/>
          <p:nvPr/>
        </p:nvSpPr>
        <p:spPr>
          <a:xfrm>
            <a:off x="8503920" y="4297680"/>
            <a:ext cx="3154680" cy="1463040"/>
          </a:xfrm>
          <a:prstGeom prst="roundRect">
            <a:avLst>
              <a:gd name="adj" fmla="val 7500"/>
            </a:avLst>
          </a:prstGeom>
          <a:solidFill>
            <a:schemeClr val="bg2"/>
          </a:solidFill>
          <a:ln w="12700">
            <a:solidFill>
              <a:schemeClr val="bg2"/>
            </a:solidFill>
            <a:prstDash val="solid"/>
          </a:ln>
        </p:spPr>
      </p:sp>
      <p:sp>
        <p:nvSpPr>
          <p:cNvPr id="15" name="Text 12"/>
          <p:cNvSpPr txBox="1"/>
          <p:nvPr/>
        </p:nvSpPr>
        <p:spPr>
          <a:xfrm>
            <a:off x="8686800" y="4434840"/>
            <a:ext cx="2788920" cy="118872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Genotypes</a:t>
            </a:r>
            <a:endParaRPr lang="en-US" sz="1600" dirty="0"/>
          </a:p>
          <a:p>
            <a:pPr indent="0" marL="0">
              <a:spcAft>
                <a:spcPts val="400"/>
              </a:spcAft>
              <a:buNone/>
            </a:pPr>
            <a:r>
              <a:rPr lang="en-US" sz="1500" dirty="0">
                <a:solidFill>
                  <a:schemeClr val="tx1"/>
                </a:solidFill>
              </a:rPr>
              <a:t>for norovirus: can it recognise different genotypes?</a:t>
            </a:r>
            <a:endParaRPr lang="en-US" sz="1600" dirty="0"/>
          </a:p>
        </p:txBody>
      </p:sp>
      <p:sp>
        <p:nvSpPr>
          <p:cNvPr id="16" name="Text 13"/>
          <p:cNvSpPr txBox="1"/>
          <p:nvPr/>
        </p:nvSpPr>
        <p:spPr>
          <a:xfrm>
            <a:off x="457200" y="5394960"/>
            <a:ext cx="7680960" cy="822960"/>
          </a:xfrm>
          <a:prstGeom prst="rect">
            <a:avLst/>
          </a:prstGeom>
          <a:noFill/>
          <a:ln/>
        </p:spPr>
        <p:txBody>
          <a:bodyPr wrap="square" lIns="0" tIns="0" rIns="0" bIns="0" rtlCol="0" anchor="t"/>
          <a:lstStyle/>
          <a:p>
            <a:pPr indent="0" marL="0">
              <a:buNone/>
            </a:pPr>
            <a:r>
              <a:rPr lang="en-US" sz="1600" i="1" dirty="0">
                <a:solidFill>
                  <a:schemeClr val="tx2"/>
                </a:solidFill>
              </a:rPr>
              <a:t>Start in buffer, where conditions are controlled  ·  Norovirus is the priority; astrovirus, rotavirus and adenovirus aptamers are also investigated</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Recognising what, exactly? The target itself is a choice</a:t>
            </a:r>
            <a:endParaRPr lang="en-US" sz="3200" dirty="0"/>
          </a:p>
        </p:txBody>
      </p:sp>
      <p:sp>
        <p:nvSpPr>
          <p:cNvPr id="3" name="progress-WP1"/>
          <p:cNvSpPr/>
          <p:nvPr/>
        </p:nvSpPr>
        <p:spPr>
          <a:xfrm>
            <a:off x="10104120" y="548640"/>
            <a:ext cx="438912" cy="438912"/>
          </a:xfrm>
          <a:prstGeom prst="ellipse">
            <a:avLst/>
          </a:prstGeom>
          <a:solidFill>
            <a:schemeClr val="bg2"/>
          </a:solidFill>
          <a:ln w="12700">
            <a:solidFill>
              <a:schemeClr val="accent5"/>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progress-WP2"/>
          <p:cNvSpPr/>
          <p:nvPr/>
        </p:nvSpPr>
        <p:spPr>
          <a:xfrm>
            <a:off x="10671048" y="548640"/>
            <a:ext cx="438912" cy="438912"/>
          </a:xfrm>
          <a:prstGeom prst="ellipse">
            <a:avLst/>
          </a:prstGeom>
          <a:solidFill>
            <a:schemeClr val="accent1"/>
          </a:solidFill>
          <a:ln w="12700">
            <a:solidFill>
              <a:schemeClr val="accent1"/>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progress-WP3"/>
          <p:cNvSpPr/>
          <p:nvPr/>
        </p:nvSpPr>
        <p:spPr>
          <a:xfrm>
            <a:off x="11237976" y="548640"/>
            <a:ext cx="438912" cy="438912"/>
          </a:xfrm>
          <a:prstGeom prst="ellipse">
            <a:avLst/>
          </a:prstGeom>
          <a:solidFill>
            <a:schemeClr val="bg2"/>
          </a:solidFill>
          <a:ln w="12700">
            <a:solidFill>
              <a:schemeClr val="accent5"/>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pic>
        <p:nvPicPr>
          <p:cNvPr id="9" name="Virus-like particle, recombinant capsid protein and murine norovirus" descr="Virus-like particle, recombinant capsid protein and murine norovirus">    </p:cNvPr>
          <p:cNvPicPr>
            <a:picLocks noChangeAspect="1"/>
          </p:cNvPicPr>
          <p:nvPr/>
        </p:nvPicPr>
        <p:blipFill>
          <a:blip r:embed="rId1"/>
          <a:stretch>
            <a:fillRect/>
          </a:stretch>
        </p:blipFill>
        <p:spPr>
          <a:xfrm>
            <a:off x="914400" y="1600200"/>
            <a:ext cx="10332720" cy="3773689"/>
          </a:xfrm>
          <a:prstGeom prst="rect">
            <a:avLst/>
          </a:prstGeom>
        </p:spPr>
      </p:pic>
      <p:sp>
        <p:nvSpPr>
          <p:cNvPr id="10" name="Text 7"/>
          <p:cNvSpPr txBox="1"/>
          <p:nvPr/>
        </p:nvSpPr>
        <p:spPr>
          <a:xfrm>
            <a:off x="914400" y="5440680"/>
            <a:ext cx="10332720" cy="640080"/>
          </a:xfrm>
          <a:prstGeom prst="rect">
            <a:avLst/>
          </a:prstGeom>
          <a:noFill/>
          <a:ln/>
        </p:spPr>
        <p:txBody>
          <a:bodyPr wrap="square" lIns="0" tIns="0" rIns="0" bIns="0" rtlCol="0" anchor="t"/>
          <a:lstStyle/>
          <a:p>
            <a:pPr algn="ctr" indent="0" marL="0">
              <a:buNone/>
            </a:pPr>
            <a:r>
              <a:rPr lang="en-US" sz="1900" b="1" dirty="0">
                <a:solidFill>
                  <a:schemeClr val="tx1"/>
                </a:solidFill>
              </a:rPr>
              <a:t>The form of the target influences recognition — so we compare the models rather than assume they agree</a:t>
            </a:r>
            <a:endParaRPr lang="en-US" sz="19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Then into stool — and the signal drops. Degraded, or interfered with?</a:t>
            </a:r>
            <a:endParaRPr lang="en-US" sz="3200" dirty="0"/>
          </a:p>
        </p:txBody>
      </p:sp>
      <p:sp>
        <p:nvSpPr>
          <p:cNvPr id="3" name="progress-WP1"/>
          <p:cNvSpPr/>
          <p:nvPr/>
        </p:nvSpPr>
        <p:spPr>
          <a:xfrm>
            <a:off x="10104120" y="548640"/>
            <a:ext cx="438912" cy="438912"/>
          </a:xfrm>
          <a:prstGeom prst="ellipse">
            <a:avLst/>
          </a:prstGeom>
          <a:solidFill>
            <a:schemeClr val="bg2"/>
          </a:solidFill>
          <a:ln w="12700">
            <a:solidFill>
              <a:schemeClr val="accent5"/>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progress-WP2"/>
          <p:cNvSpPr/>
          <p:nvPr/>
        </p:nvSpPr>
        <p:spPr>
          <a:xfrm>
            <a:off x="10671048" y="548640"/>
            <a:ext cx="438912" cy="438912"/>
          </a:xfrm>
          <a:prstGeom prst="ellipse">
            <a:avLst/>
          </a:prstGeom>
          <a:solidFill>
            <a:schemeClr val="accent1"/>
          </a:solidFill>
          <a:ln w="12700">
            <a:solidFill>
              <a:schemeClr val="accent1"/>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progress-WP3"/>
          <p:cNvSpPr/>
          <p:nvPr/>
        </p:nvSpPr>
        <p:spPr>
          <a:xfrm>
            <a:off x="11237976" y="548640"/>
            <a:ext cx="438912" cy="438912"/>
          </a:xfrm>
          <a:prstGeom prst="ellipse">
            <a:avLst/>
          </a:prstGeom>
          <a:solidFill>
            <a:schemeClr val="bg2"/>
          </a:solidFill>
          <a:ln w="12700">
            <a:solidFill>
              <a:schemeClr val="accent5"/>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pic>
        <p:nvPicPr>
          <p:cNvPr id="9" name="Signal loss in stool: degradation versus interference, each with its diagnostic" descr="Signal loss in stool: degradation versus interference, each with its diagnostic">    </p:cNvPr>
          <p:cNvPicPr>
            <a:picLocks noChangeAspect="1"/>
          </p:cNvPicPr>
          <p:nvPr/>
        </p:nvPicPr>
        <p:blipFill>
          <a:blip r:embed="rId1"/>
          <a:stretch>
            <a:fillRect/>
          </a:stretch>
        </p:blipFill>
        <p:spPr>
          <a:xfrm>
            <a:off x="1371600" y="1371600"/>
            <a:ext cx="8503920" cy="4141039"/>
          </a:xfrm>
          <a:prstGeom prst="rect">
            <a:avLst/>
          </a:prstGeom>
        </p:spPr>
      </p:pic>
      <p:sp>
        <p:nvSpPr>
          <p:cNvPr id="10" name="Shape 7"/>
          <p:cNvSpPr/>
          <p:nvPr/>
        </p:nvSpPr>
        <p:spPr>
          <a:xfrm>
            <a:off x="1371600" y="5577840"/>
            <a:ext cx="8503920" cy="777240"/>
          </a:xfrm>
          <a:prstGeom prst="roundRect">
            <a:avLst>
              <a:gd name="adj" fmla="val 14118"/>
            </a:avLst>
          </a:prstGeom>
          <a:solidFill>
            <a:schemeClr val="tx1"/>
          </a:solidFill>
          <a:ln w="12700">
            <a:solidFill>
              <a:schemeClr val="tx1"/>
            </a:solidFill>
            <a:prstDash val="solid"/>
          </a:ln>
        </p:spPr>
      </p:sp>
      <p:sp>
        <p:nvSpPr>
          <p:cNvPr id="11" name="Text 8"/>
          <p:cNvSpPr txBox="1"/>
          <p:nvPr/>
        </p:nvSpPr>
        <p:spPr>
          <a:xfrm>
            <a:off x="1645920" y="5577840"/>
            <a:ext cx="7955280" cy="777240"/>
          </a:xfrm>
          <a:prstGeom prst="rect">
            <a:avLst/>
          </a:prstGeom>
          <a:noFill/>
          <a:ln/>
        </p:spPr>
        <p:txBody>
          <a:bodyPr wrap="square" lIns="0" tIns="0" rIns="0" bIns="0" rtlCol="0" anchor="ctr"/>
          <a:lstStyle/>
          <a:p>
            <a:pPr indent="0" marL="0">
              <a:buNone/>
            </a:pPr>
            <a:r>
              <a:rPr lang="en-US" sz="1800" b="1" dirty="0">
                <a:solidFill>
                  <a:schemeClr val="bg1"/>
                </a:solidFill>
              </a:rPr>
              <a:t>Rather than adjusting conditions until the signal improves, we investigate the mechanism behind the loss</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To compare them fairly, the solution must be the only variable</a:t>
            </a:r>
            <a:endParaRPr lang="en-US" sz="3200" dirty="0"/>
          </a:p>
        </p:txBody>
      </p:sp>
      <p:sp>
        <p:nvSpPr>
          <p:cNvPr id="3" name="progress-WP1"/>
          <p:cNvSpPr/>
          <p:nvPr/>
        </p:nvSpPr>
        <p:spPr>
          <a:xfrm>
            <a:off x="10104120" y="548640"/>
            <a:ext cx="438912" cy="438912"/>
          </a:xfrm>
          <a:prstGeom prst="ellipse">
            <a:avLst/>
          </a:prstGeom>
          <a:solidFill>
            <a:schemeClr val="bg2"/>
          </a:solidFill>
          <a:ln w="12700">
            <a:solidFill>
              <a:schemeClr val="accent5"/>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progress-WP2"/>
          <p:cNvSpPr/>
          <p:nvPr/>
        </p:nvSpPr>
        <p:spPr>
          <a:xfrm>
            <a:off x="10671048" y="548640"/>
            <a:ext cx="438912" cy="438912"/>
          </a:xfrm>
          <a:prstGeom prst="ellipse">
            <a:avLst/>
          </a:prstGeom>
          <a:solidFill>
            <a:schemeClr val="accent1"/>
          </a:solidFill>
          <a:ln w="12700">
            <a:solidFill>
              <a:schemeClr val="accent1"/>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7" name="progress-WP3"/>
          <p:cNvSpPr/>
          <p:nvPr/>
        </p:nvSpPr>
        <p:spPr>
          <a:xfrm>
            <a:off x="11237976" y="548640"/>
            <a:ext cx="438912" cy="438912"/>
          </a:xfrm>
          <a:prstGeom prst="ellipse">
            <a:avLst/>
          </a:prstGeom>
          <a:solidFill>
            <a:schemeClr val="bg2"/>
          </a:solidFill>
          <a:ln w="12700">
            <a:solidFill>
              <a:schemeClr val="accent5"/>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pic>
        <p:nvPicPr>
          <p:cNvPr id="9" name="Fluorescence polarization: free aptamer tumbles fast, bound aptamer slowly" descr="Fluorescence polarization: free aptamer tumbles fast, bound aptamer slowly">    </p:cNvPr>
          <p:cNvPicPr>
            <a:picLocks noChangeAspect="1"/>
          </p:cNvPicPr>
          <p:nvPr/>
        </p:nvPicPr>
        <p:blipFill>
          <a:blip r:embed="rId1"/>
          <a:stretch>
            <a:fillRect/>
          </a:stretch>
        </p:blipFill>
        <p:spPr>
          <a:xfrm>
            <a:off x="457200" y="1371600"/>
            <a:ext cx="6949440" cy="3263215"/>
          </a:xfrm>
          <a:prstGeom prst="rect">
            <a:avLst/>
          </a:prstGeom>
        </p:spPr>
      </p:pic>
      <p:sp>
        <p:nvSpPr>
          <p:cNvPr id="10" name="Shape 7"/>
          <p:cNvSpPr/>
          <p:nvPr/>
        </p:nvSpPr>
        <p:spPr>
          <a:xfrm>
            <a:off x="7635240" y="1371600"/>
            <a:ext cx="4023360" cy="1051560"/>
          </a:xfrm>
          <a:prstGeom prst="roundRect">
            <a:avLst>
              <a:gd name="adj" fmla="val 10435"/>
            </a:avLst>
          </a:prstGeom>
          <a:solidFill>
            <a:schemeClr val="bg2"/>
          </a:solidFill>
          <a:ln w="12700">
            <a:solidFill>
              <a:schemeClr val="bg2"/>
            </a:solidFill>
            <a:prstDash val="solid"/>
          </a:ln>
        </p:spPr>
      </p:sp>
      <p:sp>
        <p:nvSpPr>
          <p:cNvPr id="11" name="Text 8"/>
          <p:cNvSpPr txBox="1"/>
          <p:nvPr/>
        </p:nvSpPr>
        <p:spPr>
          <a:xfrm>
            <a:off x="7818120" y="1508760"/>
            <a:ext cx="3657600" cy="7772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Nothing is immobilised</a:t>
            </a:r>
            <a:endParaRPr lang="en-US" sz="1600" dirty="0"/>
          </a:p>
          <a:p>
            <a:pPr indent="0" marL="0">
              <a:spcAft>
                <a:spcPts val="400"/>
              </a:spcAft>
              <a:buNone/>
            </a:pPr>
            <a:r>
              <a:rPr lang="en-US" sz="1500" dirty="0">
                <a:solidFill>
                  <a:schemeClr val="tx1"/>
                </a:solidFill>
              </a:rPr>
              <a:t>everything happens in solution</a:t>
            </a:r>
            <a:endParaRPr lang="en-US" sz="1600" dirty="0"/>
          </a:p>
        </p:txBody>
      </p:sp>
      <p:sp>
        <p:nvSpPr>
          <p:cNvPr id="12" name="Shape 9"/>
          <p:cNvSpPr/>
          <p:nvPr/>
        </p:nvSpPr>
        <p:spPr>
          <a:xfrm>
            <a:off x="7635240" y="2560320"/>
            <a:ext cx="4023360" cy="1051560"/>
          </a:xfrm>
          <a:prstGeom prst="roundRect">
            <a:avLst>
              <a:gd name="adj" fmla="val 10435"/>
            </a:avLst>
          </a:prstGeom>
          <a:solidFill>
            <a:schemeClr val="bg2"/>
          </a:solidFill>
          <a:ln w="12700">
            <a:solidFill>
              <a:schemeClr val="bg2"/>
            </a:solidFill>
            <a:prstDash val="solid"/>
          </a:ln>
        </p:spPr>
      </p:sp>
      <p:sp>
        <p:nvSpPr>
          <p:cNvPr id="13" name="Text 10"/>
          <p:cNvSpPr txBox="1"/>
          <p:nvPr/>
        </p:nvSpPr>
        <p:spPr>
          <a:xfrm>
            <a:off x="7818120" y="2697480"/>
            <a:ext cx="3657600" cy="7772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No wash step</a:t>
            </a:r>
            <a:endParaRPr lang="en-US" sz="1600" dirty="0"/>
          </a:p>
          <a:p>
            <a:pPr indent="0" marL="0">
              <a:spcAft>
                <a:spcPts val="400"/>
              </a:spcAft>
              <a:buNone/>
            </a:pPr>
            <a:r>
              <a:rPr lang="en-US" sz="1500" dirty="0">
                <a:solidFill>
                  <a:schemeClr val="tx1"/>
                </a:solidFill>
              </a:rPr>
              <a:t>one defined buffer from start to finish</a:t>
            </a:r>
            <a:endParaRPr lang="en-US" sz="1600" dirty="0"/>
          </a:p>
        </p:txBody>
      </p:sp>
      <p:sp>
        <p:nvSpPr>
          <p:cNvPr id="14" name="Shape 11"/>
          <p:cNvSpPr/>
          <p:nvPr/>
        </p:nvSpPr>
        <p:spPr>
          <a:xfrm>
            <a:off x="7635240" y="3749040"/>
            <a:ext cx="4023360" cy="1051560"/>
          </a:xfrm>
          <a:prstGeom prst="roundRect">
            <a:avLst>
              <a:gd name="adj" fmla="val 10435"/>
            </a:avLst>
          </a:prstGeom>
          <a:solidFill>
            <a:schemeClr val="bg2"/>
          </a:solidFill>
          <a:ln w="12700">
            <a:solidFill>
              <a:schemeClr val="bg2"/>
            </a:solidFill>
            <a:prstDash val="solid"/>
          </a:ln>
        </p:spPr>
      </p:sp>
      <p:sp>
        <p:nvSpPr>
          <p:cNvPr id="15" name="Text 12"/>
          <p:cNvSpPr txBox="1"/>
          <p:nvPr/>
        </p:nvSpPr>
        <p:spPr>
          <a:xfrm>
            <a:off x="7818120" y="3886200"/>
            <a:ext cx="3657600" cy="7772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Equilibrium measurement</a:t>
            </a:r>
            <a:endParaRPr lang="en-US" sz="1600" dirty="0"/>
          </a:p>
          <a:p>
            <a:pPr indent="0" marL="0">
              <a:spcAft>
                <a:spcPts val="400"/>
              </a:spcAft>
              <a:buNone/>
            </a:pPr>
            <a:r>
              <a:rPr lang="en-US" sz="1500" dirty="0">
                <a:solidFill>
                  <a:schemeClr val="tx1"/>
                </a:solidFill>
              </a:rPr>
              <a:t>the number we fit means something</a:t>
            </a:r>
            <a:endParaRPr lang="en-US" sz="1600" dirty="0"/>
          </a:p>
        </p:txBody>
      </p:sp>
      <p:sp>
        <p:nvSpPr>
          <p:cNvPr id="16" name="Shape 13"/>
          <p:cNvSpPr/>
          <p:nvPr/>
        </p:nvSpPr>
        <p:spPr>
          <a:xfrm>
            <a:off x="7635240" y="4937760"/>
            <a:ext cx="4023360" cy="1051560"/>
          </a:xfrm>
          <a:prstGeom prst="roundRect">
            <a:avLst>
              <a:gd name="adj" fmla="val 10435"/>
            </a:avLst>
          </a:prstGeom>
          <a:solidFill>
            <a:schemeClr val="bg2"/>
          </a:solidFill>
          <a:ln w="12700">
            <a:solidFill>
              <a:schemeClr val="bg2"/>
            </a:solidFill>
            <a:prstDash val="solid"/>
          </a:ln>
        </p:spPr>
      </p:sp>
      <p:sp>
        <p:nvSpPr>
          <p:cNvPr id="17" name="Text 14"/>
          <p:cNvSpPr txBox="1"/>
          <p:nvPr/>
        </p:nvSpPr>
        <p:spPr>
          <a:xfrm>
            <a:off x="7818120" y="5074920"/>
            <a:ext cx="3657600" cy="777240"/>
          </a:xfrm>
          <a:prstGeom prst="rect">
            <a:avLst/>
          </a:prstGeom>
          <a:noFill/>
          <a:ln/>
        </p:spPr>
        <p:txBody>
          <a:bodyPr wrap="square" lIns="0" tIns="0" rIns="0" bIns="0" rtlCol="0" anchor="t"/>
          <a:lstStyle/>
          <a:p>
            <a:pPr indent="0" marL="0">
              <a:spcAft>
                <a:spcPts val="400"/>
              </a:spcAft>
              <a:buNone/>
            </a:pPr>
            <a:r>
              <a:rPr lang="en-US" sz="1700" b="1" dirty="0">
                <a:solidFill>
                  <a:schemeClr val="accent1"/>
                </a:solidFill>
              </a:rPr>
              <a:t>One plate, many conditions</a:t>
            </a:r>
            <a:endParaRPr lang="en-US" sz="1600" dirty="0"/>
          </a:p>
          <a:p>
            <a:pPr indent="0" marL="0">
              <a:spcAft>
                <a:spcPts val="400"/>
              </a:spcAft>
              <a:buNone/>
            </a:pPr>
            <a:r>
              <a:rPr lang="en-US" sz="1500" dirty="0">
                <a:solidFill>
                  <a:schemeClr val="tx1"/>
                </a:solidFill>
              </a:rPr>
              <a:t>ion identity, concentration and pH for every aptamer</a:t>
            </a:r>
            <a:endParaRPr lang="en-US" sz="1600" dirty="0"/>
          </a:p>
        </p:txBody>
      </p:sp>
      <p:sp>
        <p:nvSpPr>
          <p:cNvPr id="18" name="Text 15"/>
          <p:cNvSpPr txBox="1"/>
          <p:nvPr/>
        </p:nvSpPr>
        <p:spPr>
          <a:xfrm>
            <a:off x="457200" y="5440680"/>
            <a:ext cx="6949440" cy="822960"/>
          </a:xfrm>
          <a:prstGeom prst="rect">
            <a:avLst/>
          </a:prstGeom>
          <a:noFill/>
          <a:ln/>
        </p:spPr>
        <p:txBody>
          <a:bodyPr wrap="square" lIns="0" tIns="0" rIns="0" bIns="0" rtlCol="0" anchor="t"/>
          <a:lstStyle/>
          <a:p>
            <a:pPr indent="0" marL="0">
              <a:buNone/>
            </a:pPr>
            <a:r>
              <a:rPr lang="en-US" sz="1700" b="1" dirty="0">
                <a:solidFill>
                  <a:schemeClr val="tx1"/>
                </a:solidFill>
              </a:rPr>
              <a:t>Paired with circular dichroism, it helps separate a change in fold from a change at the interface</a:t>
            </a:r>
            <a:endParaRPr lang="en-US" sz="17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WP3: turning recognition into a visible line</a:t>
            </a:r>
            <a:endParaRPr lang="en-US" sz="3200" dirty="0"/>
          </a:p>
        </p:txBody>
      </p:sp>
      <p:sp>
        <p:nvSpPr>
          <p:cNvPr id="3" name="progress-WP1"/>
          <p:cNvSpPr/>
          <p:nvPr/>
        </p:nvSpPr>
        <p:spPr>
          <a:xfrm>
            <a:off x="10104120" y="548640"/>
            <a:ext cx="438912" cy="438912"/>
          </a:xfrm>
          <a:prstGeom prst="ellipse">
            <a:avLst/>
          </a:prstGeom>
          <a:solidFill>
            <a:schemeClr val="bg2"/>
          </a:solidFill>
          <a:ln w="12700">
            <a:solidFill>
              <a:schemeClr val="accent5"/>
            </a:solidFill>
            <a:prstDash val="solid"/>
          </a:ln>
        </p:spPr>
      </p:sp>
      <p:sp>
        <p:nvSpPr>
          <p:cNvPr id="4" name="Text 2"/>
          <p:cNvSpPr txBox="1"/>
          <p:nvPr/>
        </p:nvSpPr>
        <p:spPr>
          <a:xfrm>
            <a:off x="10104120"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progress-WP2"/>
          <p:cNvSpPr/>
          <p:nvPr/>
        </p:nvSpPr>
        <p:spPr>
          <a:xfrm>
            <a:off x="10671048" y="548640"/>
            <a:ext cx="438912" cy="438912"/>
          </a:xfrm>
          <a:prstGeom prst="ellipse">
            <a:avLst/>
          </a:prstGeom>
          <a:solidFill>
            <a:schemeClr val="bg2"/>
          </a:solidFill>
          <a:ln w="12700">
            <a:solidFill>
              <a:schemeClr val="accent5"/>
            </a:solidFill>
            <a:prstDash val="solid"/>
          </a:ln>
        </p:spPr>
      </p:sp>
      <p:sp>
        <p:nvSpPr>
          <p:cNvPr id="6" name="Text 4"/>
          <p:cNvSpPr txBox="1"/>
          <p:nvPr/>
        </p:nvSpPr>
        <p:spPr>
          <a:xfrm>
            <a:off x="10671048" y="548640"/>
            <a:ext cx="438912" cy="438912"/>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7" name="progress-WP3"/>
          <p:cNvSpPr/>
          <p:nvPr/>
        </p:nvSpPr>
        <p:spPr>
          <a:xfrm>
            <a:off x="11237976" y="548640"/>
            <a:ext cx="438912" cy="438912"/>
          </a:xfrm>
          <a:prstGeom prst="ellipse">
            <a:avLst/>
          </a:prstGeom>
          <a:solidFill>
            <a:schemeClr val="accent1"/>
          </a:solidFill>
          <a:ln w="12700">
            <a:solidFill>
              <a:schemeClr val="accent1"/>
            </a:solidFill>
            <a:prstDash val="solid"/>
          </a:ln>
        </p:spPr>
      </p:sp>
      <p:sp>
        <p:nvSpPr>
          <p:cNvPr id="8" name="Text 6"/>
          <p:cNvSpPr txBox="1"/>
          <p:nvPr/>
        </p:nvSpPr>
        <p:spPr>
          <a:xfrm>
            <a:off x="11237976" y="548640"/>
            <a:ext cx="438912" cy="438912"/>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pic>
        <p:nvPicPr>
          <p:cNvPr id="9" name="Lateral flow strip anatomy" descr="Lateral flow strip anatomy">    </p:cNvPr>
          <p:cNvPicPr>
            <a:picLocks noChangeAspect="1"/>
          </p:cNvPicPr>
          <p:nvPr/>
        </p:nvPicPr>
        <p:blipFill>
          <a:blip r:embed="rId1"/>
          <a:stretch>
            <a:fillRect/>
          </a:stretch>
        </p:blipFill>
        <p:spPr>
          <a:xfrm>
            <a:off x="1051560" y="1371600"/>
            <a:ext cx="10058400" cy="3520440"/>
          </a:xfrm>
          <a:prstGeom prst="rect">
            <a:avLst/>
          </a:prstGeom>
        </p:spPr>
      </p:pic>
      <p:sp>
        <p:nvSpPr>
          <p:cNvPr id="10" name="Shape 7"/>
          <p:cNvSpPr/>
          <p:nvPr/>
        </p:nvSpPr>
        <p:spPr>
          <a:xfrm>
            <a:off x="640080" y="4983480"/>
            <a:ext cx="2697480" cy="1005840"/>
          </a:xfrm>
          <a:prstGeom prst="roundRect">
            <a:avLst>
              <a:gd name="adj" fmla="val 10909"/>
            </a:avLst>
          </a:prstGeom>
          <a:solidFill>
            <a:schemeClr val="bg2"/>
          </a:solidFill>
          <a:ln w="12700">
            <a:solidFill>
              <a:schemeClr val="bg2"/>
            </a:solidFill>
            <a:prstDash val="solid"/>
          </a:ln>
        </p:spPr>
      </p:sp>
      <p:sp>
        <p:nvSpPr>
          <p:cNvPr id="11" name="Text 8"/>
          <p:cNvSpPr txBox="1"/>
          <p:nvPr/>
        </p:nvSpPr>
        <p:spPr>
          <a:xfrm>
            <a:off x="822960" y="5120640"/>
            <a:ext cx="2331720" cy="73152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Immobilise</a:t>
            </a:r>
            <a:endParaRPr lang="en-US" sz="1600" dirty="0"/>
          </a:p>
          <a:p>
            <a:pPr indent="0" marL="0">
              <a:spcAft>
                <a:spcPts val="400"/>
              </a:spcAft>
              <a:buNone/>
            </a:pPr>
            <a:r>
              <a:rPr lang="en-US" sz="1500" dirty="0">
                <a:solidFill>
                  <a:schemeClr val="tx1"/>
                </a:solidFill>
              </a:rPr>
              <a:t>aptamers on the membrane</a:t>
            </a:r>
            <a:endParaRPr lang="en-US" sz="1600" dirty="0"/>
          </a:p>
        </p:txBody>
      </p:sp>
      <p:sp>
        <p:nvSpPr>
          <p:cNvPr id="12" name="Shape 9"/>
          <p:cNvSpPr/>
          <p:nvPr/>
        </p:nvSpPr>
        <p:spPr>
          <a:xfrm>
            <a:off x="3520440" y="4983480"/>
            <a:ext cx="2697480" cy="1005840"/>
          </a:xfrm>
          <a:prstGeom prst="roundRect">
            <a:avLst>
              <a:gd name="adj" fmla="val 10909"/>
            </a:avLst>
          </a:prstGeom>
          <a:solidFill>
            <a:schemeClr val="bg2"/>
          </a:solidFill>
          <a:ln w="12700">
            <a:solidFill>
              <a:schemeClr val="bg2"/>
            </a:solidFill>
            <a:prstDash val="solid"/>
          </a:ln>
        </p:spPr>
      </p:sp>
      <p:sp>
        <p:nvSpPr>
          <p:cNvPr id="13" name="Text 10"/>
          <p:cNvSpPr txBox="1"/>
          <p:nvPr/>
        </p:nvSpPr>
        <p:spPr>
          <a:xfrm>
            <a:off x="3703320" y="5120640"/>
            <a:ext cx="2331720" cy="73152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Survive drying</a:t>
            </a:r>
            <a:endParaRPr lang="en-US" sz="1600" dirty="0"/>
          </a:p>
          <a:p>
            <a:pPr indent="0" marL="0">
              <a:spcAft>
                <a:spcPts val="400"/>
              </a:spcAft>
              <a:buNone/>
            </a:pPr>
            <a:r>
              <a:rPr lang="en-US" sz="1500" dirty="0">
                <a:solidFill>
                  <a:schemeClr val="tx1"/>
                </a:solidFill>
              </a:rPr>
              <a:t>keep binding after the strip dries</a:t>
            </a:r>
            <a:endParaRPr lang="en-US" sz="1600" dirty="0"/>
          </a:p>
        </p:txBody>
      </p:sp>
      <p:sp>
        <p:nvSpPr>
          <p:cNvPr id="14" name="Shape 11"/>
          <p:cNvSpPr/>
          <p:nvPr/>
        </p:nvSpPr>
        <p:spPr>
          <a:xfrm>
            <a:off x="6400800" y="4983480"/>
            <a:ext cx="2697480" cy="1005840"/>
          </a:xfrm>
          <a:prstGeom prst="roundRect">
            <a:avLst>
              <a:gd name="adj" fmla="val 10909"/>
            </a:avLst>
          </a:prstGeom>
          <a:solidFill>
            <a:schemeClr val="bg2"/>
          </a:solidFill>
          <a:ln w="12700">
            <a:solidFill>
              <a:schemeClr val="bg2"/>
            </a:solidFill>
            <a:prstDash val="solid"/>
          </a:ln>
        </p:spPr>
      </p:sp>
      <p:sp>
        <p:nvSpPr>
          <p:cNvPr id="15" name="Text 12"/>
          <p:cNvSpPr txBox="1"/>
          <p:nvPr/>
        </p:nvSpPr>
        <p:spPr>
          <a:xfrm>
            <a:off x="6583680" y="5120640"/>
            <a:ext cx="2331720" cy="73152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Gold readout</a:t>
            </a:r>
            <a:endParaRPr lang="en-US" sz="1600" dirty="0"/>
          </a:p>
          <a:p>
            <a:pPr indent="0" marL="0">
              <a:spcAft>
                <a:spcPts val="400"/>
              </a:spcAft>
              <a:buNone/>
            </a:pPr>
            <a:r>
              <a:rPr lang="en-US" sz="1500" dirty="0">
                <a:solidFill>
                  <a:schemeClr val="tx1"/>
                </a:solidFill>
              </a:rPr>
              <a:t>nanoparticles make the line visible</a:t>
            </a:r>
            <a:endParaRPr lang="en-US" sz="1600" dirty="0"/>
          </a:p>
        </p:txBody>
      </p:sp>
      <p:sp>
        <p:nvSpPr>
          <p:cNvPr id="16" name="Shape 13"/>
          <p:cNvSpPr/>
          <p:nvPr/>
        </p:nvSpPr>
        <p:spPr>
          <a:xfrm>
            <a:off x="9281160" y="4983480"/>
            <a:ext cx="2697480" cy="1005840"/>
          </a:xfrm>
          <a:prstGeom prst="roundRect">
            <a:avLst>
              <a:gd name="adj" fmla="val 10909"/>
            </a:avLst>
          </a:prstGeom>
          <a:solidFill>
            <a:schemeClr val="bg2"/>
          </a:solidFill>
          <a:ln w="12700">
            <a:solidFill>
              <a:schemeClr val="bg2"/>
            </a:solidFill>
            <a:prstDash val="solid"/>
          </a:ln>
        </p:spPr>
      </p:sp>
      <p:sp>
        <p:nvSpPr>
          <p:cNvPr id="17" name="Text 14"/>
          <p:cNvSpPr txBox="1"/>
          <p:nvPr/>
        </p:nvSpPr>
        <p:spPr>
          <a:xfrm>
            <a:off x="9464040" y="5120640"/>
            <a:ext cx="2331720" cy="731520"/>
          </a:xfrm>
          <a:prstGeom prst="rect">
            <a:avLst/>
          </a:prstGeom>
          <a:noFill/>
          <a:ln/>
        </p:spPr>
        <p:txBody>
          <a:bodyPr wrap="square" lIns="0" tIns="0" rIns="0" bIns="0" rtlCol="0" anchor="t"/>
          <a:lstStyle/>
          <a:p>
            <a:pPr indent="0" marL="0">
              <a:spcAft>
                <a:spcPts val="400"/>
              </a:spcAft>
              <a:buNone/>
            </a:pPr>
            <a:r>
              <a:rPr lang="en-US" sz="1700" b="1" dirty="0">
                <a:solidFill>
                  <a:schemeClr val="accent4"/>
                </a:solidFill>
              </a:rPr>
              <a:t>Benchmark</a:t>
            </a:r>
            <a:endParaRPr lang="en-US" sz="1600" dirty="0"/>
          </a:p>
          <a:p>
            <a:pPr indent="0" marL="0">
              <a:spcAft>
                <a:spcPts val="400"/>
              </a:spcAft>
              <a:buNone/>
            </a:pPr>
            <a:r>
              <a:rPr lang="en-US" sz="1500" dirty="0">
                <a:solidFill>
                  <a:schemeClr val="tx1"/>
                </a:solidFill>
              </a:rPr>
              <a:t>LOD vs RT-qPCR and WP1 viral loads</a:t>
            </a:r>
            <a:endParaRPr lang="en-US" sz="1600" dirty="0"/>
          </a:p>
        </p:txBody>
      </p:sp>
      <p:sp>
        <p:nvSpPr>
          <p:cNvPr id="18" name="Text 15"/>
          <p:cNvSpPr txBox="1"/>
          <p:nvPr/>
        </p:nvSpPr>
        <p:spPr>
          <a:xfrm>
            <a:off x="640080" y="6172200"/>
            <a:ext cx="10972800" cy="457200"/>
          </a:xfrm>
          <a:prstGeom prst="rect">
            <a:avLst/>
          </a:prstGeom>
          <a:noFill/>
          <a:ln/>
        </p:spPr>
        <p:txBody>
          <a:bodyPr wrap="square" lIns="0" tIns="0" rIns="0" bIns="0" rtlCol="0" anchor="t"/>
          <a:lstStyle/>
          <a:p>
            <a:pPr indent="0" marL="0">
              <a:buNone/>
            </a:pPr>
            <a:r>
              <a:rPr lang="en-US" sz="1500" i="1" dirty="0">
                <a:solidFill>
                  <a:schemeClr val="tx2"/>
                </a:solidFill>
              </a:rPr>
              <a:t>Minimum objective: a validated norovirus assay.  Next goal: a second test line.  Ambitious extension: naturally positive samples.</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2377440"/>
          </a:xfrm>
          <a:prstGeom prst="rect">
            <a:avLst/>
          </a:prstGeom>
          <a:noFill/>
          <a:ln/>
        </p:spPr>
        <p:txBody>
          <a:bodyPr wrap="square" rtlCol="0" anchor="t"/>
          <a:lstStyle/>
          <a:p>
            <a:pPr algn="l" indent="0" marL="0">
              <a:buNone/>
            </a:pPr>
            <a:r>
              <a:rPr lang="en-US" sz="4200" b="1" dirty="0">
                <a:solidFill>
                  <a:schemeClr val="bg1"/>
                </a:solidFill>
              </a:rPr>
              <a:t>Take-home</a:t>
            </a:r>
            <a:endParaRPr lang="en-US" sz="4200" dirty="0"/>
          </a:p>
        </p:txBody>
      </p:sp>
      <p:sp>
        <p:nvSpPr>
          <p:cNvPr id="3" name="Shape 1"/>
          <p:cNvSpPr/>
          <p:nvPr/>
        </p:nvSpPr>
        <p:spPr>
          <a:xfrm>
            <a:off x="640080" y="2468880"/>
            <a:ext cx="685800" cy="685800"/>
          </a:xfrm>
          <a:prstGeom prst="ellipse">
            <a:avLst/>
          </a:prstGeom>
          <a:solidFill>
            <a:schemeClr val="accent1"/>
          </a:solidFill>
          <a:ln w="12700">
            <a:solidFill>
              <a:schemeClr val="tx1"/>
            </a:solidFill>
            <a:prstDash val="solid"/>
          </a:ln>
        </p:spPr>
      </p:sp>
      <p:sp>
        <p:nvSpPr>
          <p:cNvPr id="4" name="Text 2"/>
          <p:cNvSpPr txBox="1"/>
          <p:nvPr/>
        </p:nvSpPr>
        <p:spPr>
          <a:xfrm>
            <a:off x="640080" y="2468880"/>
            <a:ext cx="685800" cy="685800"/>
          </a:xfrm>
          <a:prstGeom prst="rect">
            <a:avLst/>
          </a:prstGeom>
          <a:noFill/>
          <a:ln/>
        </p:spPr>
        <p:txBody>
          <a:bodyPr wrap="square" lIns="0" tIns="0" rIns="0" bIns="0" rtlCol="0" anchor="ctr"/>
          <a:lstStyle/>
          <a:p>
            <a:pPr algn="ctr" indent="0" marL="0">
              <a:buNone/>
            </a:pPr>
            <a:r>
              <a:rPr lang="en-US" sz="1300" b="1" dirty="0">
                <a:solidFill>
                  <a:schemeClr val="bg1"/>
                </a:solidFill>
              </a:rPr>
              <a:t>WP1</a:t>
            </a:r>
            <a:endParaRPr lang="en-US" sz="1300" dirty="0"/>
          </a:p>
        </p:txBody>
      </p:sp>
      <p:sp>
        <p:nvSpPr>
          <p:cNvPr id="5" name="Text 3"/>
          <p:cNvSpPr txBox="1"/>
          <p:nvPr/>
        </p:nvSpPr>
        <p:spPr>
          <a:xfrm>
            <a:off x="1554480" y="2468880"/>
            <a:ext cx="5120640" cy="685800"/>
          </a:xfrm>
          <a:prstGeom prst="rect">
            <a:avLst/>
          </a:prstGeom>
          <a:noFill/>
          <a:ln/>
        </p:spPr>
        <p:txBody>
          <a:bodyPr wrap="square" lIns="0" tIns="0" rIns="0" bIns="0" rtlCol="0" anchor="ctr"/>
          <a:lstStyle/>
          <a:p>
            <a:pPr indent="0" marL="0">
              <a:buNone/>
            </a:pPr>
            <a:r>
              <a:rPr lang="en-US" sz="1800" dirty="0">
                <a:solidFill>
                  <a:schemeClr val="bg1"/>
                </a:solidFill>
              </a:rPr>
              <a:t>First measure how the viral picture changes across the interval</a:t>
            </a:r>
            <a:endParaRPr lang="en-US" sz="1800" dirty="0"/>
          </a:p>
        </p:txBody>
      </p:sp>
      <p:sp>
        <p:nvSpPr>
          <p:cNvPr id="6" name="Shape 4"/>
          <p:cNvSpPr/>
          <p:nvPr/>
        </p:nvSpPr>
        <p:spPr>
          <a:xfrm>
            <a:off x="640080" y="3429000"/>
            <a:ext cx="685800" cy="685800"/>
          </a:xfrm>
          <a:prstGeom prst="ellipse">
            <a:avLst/>
          </a:prstGeom>
          <a:solidFill>
            <a:schemeClr val="accent2"/>
          </a:solidFill>
          <a:ln w="12700">
            <a:solidFill>
              <a:schemeClr val="tx1"/>
            </a:solidFill>
            <a:prstDash val="solid"/>
          </a:ln>
        </p:spPr>
      </p:sp>
      <p:sp>
        <p:nvSpPr>
          <p:cNvPr id="7" name="Text 5"/>
          <p:cNvSpPr txBox="1"/>
          <p:nvPr/>
        </p:nvSpPr>
        <p:spPr>
          <a:xfrm>
            <a:off x="640080" y="3429000"/>
            <a:ext cx="685800" cy="685800"/>
          </a:xfrm>
          <a:prstGeom prst="rect">
            <a:avLst/>
          </a:prstGeom>
          <a:noFill/>
          <a:ln/>
        </p:spPr>
        <p:txBody>
          <a:bodyPr wrap="square" lIns="0" tIns="0" rIns="0" bIns="0" rtlCol="0" anchor="ctr"/>
          <a:lstStyle/>
          <a:p>
            <a:pPr algn="ctr" indent="0" marL="0">
              <a:buNone/>
            </a:pPr>
            <a:r>
              <a:rPr lang="en-US" sz="1300" b="1" dirty="0">
                <a:solidFill>
                  <a:schemeClr val="bg1"/>
                </a:solidFill>
              </a:rPr>
              <a:t>WP2</a:t>
            </a:r>
            <a:endParaRPr lang="en-US" sz="1300" dirty="0"/>
          </a:p>
        </p:txBody>
      </p:sp>
      <p:sp>
        <p:nvSpPr>
          <p:cNvPr id="8" name="Text 6"/>
          <p:cNvSpPr txBox="1"/>
          <p:nvPr/>
        </p:nvSpPr>
        <p:spPr>
          <a:xfrm>
            <a:off x="1554480" y="3429000"/>
            <a:ext cx="5120640" cy="685800"/>
          </a:xfrm>
          <a:prstGeom prst="rect">
            <a:avLst/>
          </a:prstGeom>
          <a:noFill/>
          <a:ln/>
        </p:spPr>
        <p:txBody>
          <a:bodyPr wrap="square" lIns="0" tIns="0" rIns="0" bIns="0" rtlCol="0" anchor="ctr"/>
          <a:lstStyle/>
          <a:p>
            <a:pPr indent="0" marL="0">
              <a:buNone/>
            </a:pPr>
            <a:r>
              <a:rPr lang="en-US" sz="1800" dirty="0">
                <a:solidFill>
                  <a:schemeClr val="bg1"/>
                </a:solidFill>
              </a:rPr>
              <a:t>Understand the recognition — in buffer, in stool, and in between</a:t>
            </a:r>
            <a:endParaRPr lang="en-US" sz="1800" dirty="0"/>
          </a:p>
        </p:txBody>
      </p:sp>
      <p:sp>
        <p:nvSpPr>
          <p:cNvPr id="9" name="Shape 7"/>
          <p:cNvSpPr/>
          <p:nvPr/>
        </p:nvSpPr>
        <p:spPr>
          <a:xfrm>
            <a:off x="640080" y="4389120"/>
            <a:ext cx="685800" cy="685800"/>
          </a:xfrm>
          <a:prstGeom prst="ellipse">
            <a:avLst/>
          </a:prstGeom>
          <a:solidFill>
            <a:schemeClr val="accent4"/>
          </a:solidFill>
          <a:ln w="12700">
            <a:solidFill>
              <a:schemeClr val="tx1"/>
            </a:solidFill>
            <a:prstDash val="solid"/>
          </a:ln>
        </p:spPr>
      </p:sp>
      <p:sp>
        <p:nvSpPr>
          <p:cNvPr id="10" name="Text 8"/>
          <p:cNvSpPr txBox="1"/>
          <p:nvPr/>
        </p:nvSpPr>
        <p:spPr>
          <a:xfrm>
            <a:off x="640080" y="4389120"/>
            <a:ext cx="685800" cy="685800"/>
          </a:xfrm>
          <a:prstGeom prst="rect">
            <a:avLst/>
          </a:prstGeom>
          <a:noFill/>
          <a:ln/>
        </p:spPr>
        <p:txBody>
          <a:bodyPr wrap="square" lIns="0" tIns="0" rIns="0" bIns="0" rtlCol="0" anchor="ctr"/>
          <a:lstStyle/>
          <a:p>
            <a:pPr algn="ctr" indent="0" marL="0">
              <a:buNone/>
            </a:pPr>
            <a:r>
              <a:rPr lang="en-US" sz="1300" b="1" dirty="0">
                <a:solidFill>
                  <a:schemeClr val="bg1"/>
                </a:solidFill>
              </a:rPr>
              <a:t>WP3</a:t>
            </a:r>
            <a:endParaRPr lang="en-US" sz="1300" dirty="0"/>
          </a:p>
        </p:txBody>
      </p:sp>
      <p:sp>
        <p:nvSpPr>
          <p:cNvPr id="11" name="Text 9"/>
          <p:cNvSpPr txBox="1"/>
          <p:nvPr/>
        </p:nvSpPr>
        <p:spPr>
          <a:xfrm>
            <a:off x="1554480" y="4389120"/>
            <a:ext cx="5120640" cy="685800"/>
          </a:xfrm>
          <a:prstGeom prst="rect">
            <a:avLst/>
          </a:prstGeom>
          <a:noFill/>
          <a:ln/>
        </p:spPr>
        <p:txBody>
          <a:bodyPr wrap="square" lIns="0" tIns="0" rIns="0" bIns="0" rtlCol="0" anchor="ctr"/>
          <a:lstStyle/>
          <a:p>
            <a:pPr indent="0" marL="0">
              <a:buNone/>
            </a:pPr>
            <a:r>
              <a:rPr lang="en-US" sz="1800" dirty="0">
                <a:solidFill>
                  <a:schemeClr val="bg1"/>
                </a:solidFill>
              </a:rPr>
              <a:t>Then build a test that says something about each donation</a:t>
            </a:r>
            <a:endParaRPr lang="en-US" sz="1800" dirty="0"/>
          </a:p>
        </p:txBody>
      </p:sp>
      <p:sp>
        <p:nvSpPr>
          <p:cNvPr id="12" name="Text 10"/>
          <p:cNvSpPr txBox="1"/>
          <p:nvPr/>
        </p:nvSpPr>
        <p:spPr>
          <a:xfrm>
            <a:off x="640080" y="5440680"/>
            <a:ext cx="6035040" cy="914400"/>
          </a:xfrm>
          <a:prstGeom prst="rect">
            <a:avLst/>
          </a:prstGeom>
          <a:noFill/>
          <a:ln/>
        </p:spPr>
        <p:txBody>
          <a:bodyPr wrap="square" lIns="0" tIns="0" rIns="0" bIns="0" rtlCol="0" anchor="t"/>
          <a:lstStyle/>
          <a:p>
            <a:pPr indent="0" marL="0">
              <a:buNone/>
            </a:pPr>
            <a:r>
              <a:rPr lang="en-US" sz="1900" b="1" i="1" dirty="0">
                <a:solidFill>
                  <a:schemeClr val="accent3"/>
                </a:solidFill>
              </a:rPr>
              <a:t>The donor has been screened — but what about the donation made today?</a:t>
            </a:r>
            <a:endParaRPr lang="en-US" sz="1900" dirty="0"/>
          </a:p>
        </p:txBody>
      </p:sp>
      <p:sp>
        <p:nvSpPr>
          <p:cNvPr id="13" name="Shape 11"/>
          <p:cNvSpPr/>
          <p:nvPr/>
        </p:nvSpPr>
        <p:spPr>
          <a:xfrm>
            <a:off x="7040880" y="1828800"/>
            <a:ext cx="4663440" cy="2468880"/>
          </a:xfrm>
          <a:prstGeom prst="roundRect">
            <a:avLst>
              <a:gd name="adj" fmla="val 7407"/>
            </a:avLst>
          </a:prstGeom>
          <a:solidFill>
            <a:schemeClr val="bg1"/>
          </a:solidFill>
          <a:ln w="12700">
            <a:solidFill>
              <a:schemeClr val="bg1"/>
            </a:solidFill>
            <a:prstDash val="solid"/>
          </a:ln>
        </p:spPr>
      </p:sp>
      <p:pic>
        <p:nvPicPr>
          <p:cNvPr id="14" name="Donor, donations over time, patient" descr="Donor, donations over time, patient">    </p:cNvPr>
          <p:cNvPicPr>
            <a:picLocks noChangeAspect="1"/>
          </p:cNvPicPr>
          <p:nvPr/>
        </p:nvPicPr>
        <p:blipFill>
          <a:blip r:embed="rId1"/>
          <a:stretch>
            <a:fillRect/>
          </a:stretch>
        </p:blipFill>
        <p:spPr>
          <a:xfrm>
            <a:off x="7178040" y="2011680"/>
            <a:ext cx="4389120" cy="1755648"/>
          </a:xfrm>
          <a:prstGeom prst="rect">
            <a:avLst/>
          </a:prstGeom>
        </p:spPr>
      </p:pic>
      <p:sp>
        <p:nvSpPr>
          <p:cNvPr id="15" name="Text 12"/>
          <p:cNvSpPr txBox="1"/>
          <p:nvPr/>
        </p:nvSpPr>
        <p:spPr>
          <a:xfrm>
            <a:off x="7040880" y="4846320"/>
            <a:ext cx="4663440" cy="457200"/>
          </a:xfrm>
          <a:prstGeom prst="rect">
            <a:avLst/>
          </a:prstGeom>
          <a:noFill/>
          <a:ln/>
        </p:spPr>
        <p:txBody>
          <a:bodyPr wrap="square" lIns="0" tIns="0" rIns="0" bIns="0" rtlCol="0" anchor="t"/>
          <a:lstStyle/>
          <a:p>
            <a:pPr algn="ctr" indent="0" marL="0">
              <a:buNone/>
            </a:pPr>
            <a:r>
              <a:rPr lang="en-US" sz="1600" b="1" dirty="0">
                <a:solidFill>
                  <a:schemeClr val="accent5"/>
                </a:solidFill>
              </a:rPr>
              <a:t>Why salt makes the comparison hard → my poster [#__]</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640080" y="1371600"/>
            <a:ext cx="6035040" cy="2377440"/>
          </a:xfrm>
          <a:prstGeom prst="rect">
            <a:avLst/>
          </a:prstGeom>
          <a:noFill/>
          <a:ln/>
        </p:spPr>
        <p:txBody>
          <a:bodyPr wrap="square" rtlCol="0" anchor="t"/>
          <a:lstStyle/>
          <a:p>
            <a:pPr algn="l" indent="0" marL="0">
              <a:buNone/>
            </a:pPr>
            <a:r>
              <a:rPr lang="en-US" sz="4200" b="1" dirty="0">
                <a:solidFill>
                  <a:schemeClr val="bg1"/>
                </a:solidFill>
              </a:rPr>
              <a:t>Thank you — questions?</a:t>
            </a:r>
            <a:endParaRPr lang="en-US" sz="4200" dirty="0"/>
          </a:p>
        </p:txBody>
      </p:sp>
      <p:sp>
        <p:nvSpPr>
          <p:cNvPr id="3" name="Text 1"/>
          <p:cNvSpPr txBox="1"/>
          <p:nvPr/>
        </p:nvSpPr>
        <p:spPr>
          <a:xfrm>
            <a:off x="640080" y="4023360"/>
            <a:ext cx="10515600" cy="548640"/>
          </a:xfrm>
          <a:prstGeom prst="rect">
            <a:avLst/>
          </a:prstGeom>
          <a:noFill/>
          <a:ln/>
        </p:spPr>
        <p:txBody>
          <a:bodyPr wrap="square" lIns="0" tIns="0" rIns="0" bIns="0" rtlCol="0" anchor="t"/>
          <a:lstStyle/>
          <a:p>
            <a:pPr indent="0" marL="0">
              <a:buNone/>
            </a:pPr>
            <a:r>
              <a:rPr lang="en-US" sz="1800" dirty="0">
                <a:solidFill>
                  <a:schemeClr val="bg2"/>
                </a:solidFill>
              </a:rPr>
              <a:t>[Supervisors]  ·  [Lab members]  ·  [Collaborators / stool bank]  ·  [Funding]</a:t>
            </a:r>
            <a:endParaRPr lang="en-US" sz="1800" dirty="0"/>
          </a:p>
        </p:txBody>
      </p:sp>
      <p:sp>
        <p:nvSpPr>
          <p:cNvPr id="4" name="Text 2"/>
          <p:cNvSpPr txBox="1"/>
          <p:nvPr/>
        </p:nvSpPr>
        <p:spPr>
          <a:xfrm>
            <a:off x="640080" y="4754880"/>
            <a:ext cx="5486400" cy="365760"/>
          </a:xfrm>
          <a:prstGeom prst="rect">
            <a:avLst/>
          </a:prstGeom>
          <a:noFill/>
          <a:ln/>
        </p:spPr>
        <p:txBody>
          <a:bodyPr wrap="square" lIns="0" tIns="0" rIns="0" bIns="0" rtlCol="0" anchor="t"/>
          <a:lstStyle/>
          <a:p>
            <a:pPr indent="0" marL="0">
              <a:buNone/>
            </a:pPr>
            <a:r>
              <a:rPr lang="en-US" sz="1600" dirty="0">
                <a:solidFill>
                  <a:schemeClr val="accent5"/>
                </a:solidFill>
              </a:rPr>
              <a:t>[email]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Backup: how fluorescence polarization becomes a Kd</a:t>
            </a:r>
            <a:endParaRPr lang="en-US" sz="3200" dirty="0"/>
          </a:p>
        </p:txBody>
      </p:sp>
      <p:sp>
        <p:nvSpPr>
          <p:cNvPr id="3" name="Text 1"/>
          <p:cNvSpPr txBox="1"/>
          <p:nvPr/>
        </p:nvSpPr>
        <p:spPr>
          <a:xfrm>
            <a:off x="640080" y="1463040"/>
            <a:ext cx="10972800" cy="4389120"/>
          </a:xfrm>
          <a:prstGeom prst="rect">
            <a:avLst/>
          </a:prstGeom>
          <a:noFill/>
          <a:ln/>
        </p:spPr>
        <p:txBody>
          <a:bodyPr wrap="square" lIns="0" tIns="0" rIns="0" bIns="0" rtlCol="0" anchor="t"/>
          <a:lstStyle/>
          <a:p>
            <a:pPr indent="0" marL="0">
              <a:spcAft>
                <a:spcPts val="600"/>
              </a:spcAft>
              <a:buNone/>
            </a:pPr>
            <a:r>
              <a:rPr lang="en-US" sz="1800" b="1" dirty="0">
                <a:solidFill>
                  <a:schemeClr val="accent1"/>
                </a:solidFill>
              </a:rPr>
              <a:t>Polarization</a:t>
            </a:r>
            <a:endParaRPr lang="en-US" sz="1800" dirty="0"/>
          </a:p>
          <a:p>
            <a:pPr indent="0" marL="0">
              <a:spcAft>
                <a:spcPts val="600"/>
              </a:spcAft>
              <a:buNone/>
            </a:pPr>
            <a:r>
              <a:rPr lang="en-US" sz="1800" dirty="0">
                <a:solidFill>
                  <a:schemeClr val="tx1"/>
                </a:solidFill>
              </a:rPr>
              <a:t>P = (I∥ − G·I⊥) / (I∥ + G·I⊥)      reported as mP = 1000·P</a:t>
            </a:r>
            <a:endParaRPr lang="en-US" sz="1800" dirty="0"/>
          </a:p>
          <a:p>
            <a:pPr indent="0" marL="0">
              <a:spcAft>
                <a:spcPts val="600"/>
              </a:spcAft>
              <a:buNone/>
            </a:pPr>
            <a:r>
              <a:rPr lang="en-US" sz="1800" dirty="0">
                <a:solidFill>
                  <a:schemeClr val="tx1"/>
                </a:solidFill>
              </a:rPr>
              <a:t>Anisotropy  r = (I∥ − G·I⊥) / (I∥ + 2G·I⊥)</a:t>
            </a:r>
            <a:endParaRPr lang="en-US" sz="1800" dirty="0"/>
          </a:p>
          <a:p>
            <a:pPr indent="0" marL="0">
              <a:spcAft>
                <a:spcPts val="600"/>
              </a:spcAft>
              <a:buNone/>
            </a:pPr>
            <a:r>
              <a:rPr lang="en-US" sz="1000" dirty="0">
                <a:solidFill>
                  <a:schemeClr val="tx1"/>
                </a:solidFill>
              </a:rPr>
              <a:t> </a:t>
            </a:r>
            <a:endParaRPr lang="en-US" sz="1800" dirty="0"/>
          </a:p>
          <a:p>
            <a:pPr indent="0" marL="0">
              <a:spcAft>
                <a:spcPts val="600"/>
              </a:spcAft>
              <a:buNone/>
            </a:pPr>
            <a:r>
              <a:rPr lang="en-US" sz="1800" b="1" dirty="0">
                <a:solidFill>
                  <a:schemeClr val="accent1"/>
                </a:solidFill>
              </a:rPr>
              <a:t>Fraction bound (ligand depletion; labelled aptamer L, target T)</a:t>
            </a:r>
            <a:endParaRPr lang="en-US" sz="1800" dirty="0"/>
          </a:p>
          <a:p>
            <a:pPr indent="0" marL="0">
              <a:spcAft>
                <a:spcPts val="600"/>
              </a:spcAft>
              <a:buNone/>
            </a:pPr>
            <a:r>
              <a:rPr lang="en-US" sz="1800" dirty="0">
                <a:solidFill>
                  <a:schemeClr val="tx1"/>
                </a:solidFill>
              </a:rPr>
              <a:t>f = [(L+T+Kd) − √((L+T+Kd)² − 4·L·T)] / (2·L)</a:t>
            </a:r>
            <a:endParaRPr lang="en-US" sz="1800" dirty="0"/>
          </a:p>
          <a:p>
            <a:pPr indent="0" marL="0">
              <a:spcAft>
                <a:spcPts val="600"/>
              </a:spcAft>
              <a:buNone/>
            </a:pPr>
            <a:r>
              <a:rPr lang="en-US" sz="1800" dirty="0">
                <a:solidFill>
                  <a:schemeClr val="tx1"/>
                </a:solidFill>
              </a:rPr>
              <a:t>r_obs = r_free + f·(r_bound − r_free)   — correct for a brightness change on binding if present</a:t>
            </a:r>
            <a:endParaRPr lang="en-US" sz="1800" dirty="0"/>
          </a:p>
          <a:p>
            <a:pPr indent="0" marL="0">
              <a:spcAft>
                <a:spcPts val="600"/>
              </a:spcAft>
              <a:buNone/>
            </a:pPr>
            <a:r>
              <a:rPr lang="en-US" sz="1000" dirty="0">
                <a:solidFill>
                  <a:schemeClr val="tx1"/>
                </a:solidFill>
              </a:rPr>
              <a:t> </a:t>
            </a:r>
            <a:endParaRPr lang="en-US" sz="1800" dirty="0"/>
          </a:p>
          <a:p>
            <a:pPr indent="0" marL="0">
              <a:spcAft>
                <a:spcPts val="600"/>
              </a:spcAft>
              <a:buNone/>
            </a:pPr>
            <a:r>
              <a:rPr lang="en-US" sz="1800" b="1" dirty="0">
                <a:solidFill>
                  <a:schemeClr val="accent1"/>
                </a:solidFill>
              </a:rPr>
              <a:t>Controls under matched conditions</a:t>
            </a:r>
            <a:endParaRPr lang="en-US" sz="1800" dirty="0"/>
          </a:p>
          <a:p>
            <a:pPr indent="0" marL="0">
              <a:spcAft>
                <a:spcPts val="600"/>
              </a:spcAft>
              <a:buNone/>
            </a:pPr>
            <a:r>
              <a:rPr lang="en-US" sz="1800" dirty="0">
                <a:solidFill>
                  <a:schemeClr val="tx1"/>
                </a:solidFill>
              </a:rPr>
              <a:t>scrambled sequence · motif mutant · unrelated viral particles · norovirus-negative stool · dye-only blank</a:t>
            </a:r>
            <a:endParaRPr lang="en-US" sz="18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Backup: the six aptamer candidates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914400"/>
        </p:xfrm>
        <a:graphic>
          <a:graphicData uri="http://schemas.openxmlformats.org/drawingml/2006/table">
            <a:tbl>
              <a:tblPr/>
              <a:tblGrid>
                <a:gridCol w="1280160"/>
                <a:gridCol w="1737360"/>
                <a:gridCol w="2011680"/>
                <a:gridCol w="2103120"/>
                <a:gridCol w="2103120"/>
                <a:gridCol w="1645920"/>
              </a:tblGrid>
              <a:tr h="47548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Aptamer</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Target</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Selection method</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SELEX buffer</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Published Kd (method)</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solidFill>
                      <a:srgbClr val="1B2A41"/>
                    </a:solidFill>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Apt-1</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Apt-2</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Apt-3</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Apt-4</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Apt-5</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r h="475488">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Apt-6</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 ([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c>
                  <a:txBody>
                    <a:bodyPr/>
                    <a:lstStyle/>
                    <a:p>
                      <a:pPr indent="0" marL="0">
                        <a:buNone/>
                      </a:pPr>
                      <a:r>
                        <a:rPr lang="en-US" sz="1400" dirty="0">
                          <a:solidFill>
                            <a:srgbClr val="1B2A41"/>
                          </a:solidFill>
                          <a:latin typeface="Calibri" pitchFamily="34" charset="0"/>
                          <a:ea typeface="Calibri" pitchFamily="34" charset="-122"/>
                          <a:cs typeface="Calibri" pitchFamily="34" charset="-120"/>
                        </a:rPr>
                        <a:t>[ ]</a:t>
                      </a:r>
                      <a:endParaRPr lang="en-US" sz="1400" dirty="0">
                        <a:latin typeface="Calibri" charset="0"/>
                        <a:ea typeface="Calibri" charset="0"/>
                        <a:cs typeface="Calibri" charset="0"/>
                      </a:endParaRPr>
                    </a:p>
                  </a:txBody>
                  <a:tcPr marL="91440" marR="91440" marT="45720" marB="45720">
                    <a:lnL w="9525" cap="flat" cmpd="sng" algn="ctr">
                      <a:solidFill>
                        <a:srgbClr val="C9D3DC"/>
                      </a:solidFill>
                      <a:prstDash val="solid"/>
                      <a:round/>
                      <a:headEnd type="none" w="med" len="med"/>
                      <a:tailEnd type="none" w="med" len="med"/>
                    </a:lnL>
                    <a:lnR w="9525" cap="flat" cmpd="sng" algn="ctr">
                      <a:solidFill>
                        <a:srgbClr val="C9D3DC"/>
                      </a:solidFill>
                      <a:prstDash val="solid"/>
                      <a:round/>
                      <a:headEnd type="none" w="med" len="med"/>
                      <a:tailEnd type="none" w="med" len="med"/>
                    </a:lnR>
                    <a:lnT w="9525" cap="flat" cmpd="sng" algn="ctr">
                      <a:solidFill>
                        <a:srgbClr val="C9D3DC"/>
                      </a:solidFill>
                      <a:prstDash val="solid"/>
                      <a:round/>
                      <a:headEnd type="none" w="med" len="med"/>
                      <a:tailEnd type="none" w="med" len="med"/>
                    </a:lnT>
                    <a:lnB w="9525" cap="flat" cmpd="sng" algn="ctr">
                      <a:solidFill>
                        <a:srgbClr val="C9D3DC"/>
                      </a:solidFill>
                      <a:prstDash val="solid"/>
                      <a:round/>
                      <a:headEnd type="none" w="med" len="med"/>
                      <a:tailEnd type="none" w="med" len="med"/>
                    </a:lnB>
                  </a:tcPr>
                </a:tc>
              </a:tr>
            </a:tbl>
          </a:graphicData>
        </a:graphic>
      </p:graphicFrame>
      <p:sp>
        <p:nvSpPr>
          <p:cNvPr id="4" name="Text 1"/>
          <p:cNvSpPr txBox="1"/>
          <p:nvPr/>
        </p:nvSpPr>
        <p:spPr>
          <a:xfrm>
            <a:off x="640080" y="5669280"/>
            <a:ext cx="10881360" cy="548640"/>
          </a:xfrm>
          <a:prstGeom prst="rect">
            <a:avLst/>
          </a:prstGeom>
          <a:noFill/>
          <a:ln/>
        </p:spPr>
        <p:txBody>
          <a:bodyPr wrap="square" lIns="0" tIns="0" rIns="0" bIns="0" rtlCol="0" anchor="t"/>
          <a:lstStyle/>
          <a:p>
            <a:pPr indent="0" marL="0">
              <a:buNone/>
            </a:pPr>
            <a:r>
              <a:rPr lang="en-US" sz="1500" i="1" dirty="0">
                <a:solidFill>
                  <a:schemeClr val="tx2"/>
                </a:solidFill>
              </a:rPr>
              <a:t>Published affinities come from different labs, techniques, targets and buffers — they are not directly comparable, which is why we re-measure all six by one method.</a:t>
            </a:r>
            <a:endParaRPr lang="en-US" sz="15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326880" cy="914400"/>
          </a:xfrm>
          <a:prstGeom prst="rect">
            <a:avLst/>
          </a:prstGeom>
          <a:noFill/>
          <a:ln/>
        </p:spPr>
        <p:txBody>
          <a:bodyPr wrap="square" lIns="0" tIns="0" rIns="0" bIns="0" rtlCol="0" anchor="ctr"/>
          <a:lstStyle/>
          <a:p>
            <a:pPr algn="l" indent="0" marL="0">
              <a:buNone/>
            </a:pPr>
            <a:r>
              <a:rPr lang="en-US" sz="3200" b="1" dirty="0">
                <a:solidFill>
                  <a:schemeClr val="tx1"/>
                </a:solidFill>
              </a:rPr>
              <a:t>Backup: what salt does, in one slide</a:t>
            </a:r>
            <a:endParaRPr lang="en-US" sz="3200" dirty="0"/>
          </a:p>
        </p:txBody>
      </p:sp>
      <p:pic>
        <p:nvPicPr>
          <p:cNvPr id="3" name="Non-monotonic affinity versus ionic strength" descr="Non-monotonic affinity versus ionic strength">    </p:cNvPr>
          <p:cNvPicPr>
            <a:picLocks noChangeAspect="1"/>
          </p:cNvPicPr>
          <p:nvPr/>
        </p:nvPicPr>
        <p:blipFill>
          <a:blip r:embed="rId1"/>
          <a:stretch>
            <a:fillRect/>
          </a:stretch>
        </p:blipFill>
        <p:spPr>
          <a:xfrm>
            <a:off x="1463040" y="1371600"/>
            <a:ext cx="7863840" cy="4781215"/>
          </a:xfrm>
          <a:prstGeom prst="rect">
            <a:avLst/>
          </a:prstGeom>
        </p:spPr>
      </p:pic>
      <p:sp>
        <p:nvSpPr>
          <p:cNvPr id="4" name="Text 1"/>
          <p:cNvSpPr txBox="1"/>
          <p:nvPr/>
        </p:nvSpPr>
        <p:spPr>
          <a:xfrm>
            <a:off x="1463040" y="5943600"/>
            <a:ext cx="7863840" cy="640080"/>
          </a:xfrm>
          <a:prstGeom prst="rect">
            <a:avLst/>
          </a:prstGeom>
          <a:noFill/>
          <a:ln/>
        </p:spPr>
        <p:txBody>
          <a:bodyPr wrap="square" lIns="0" tIns="0" rIns="0" bIns="0" rtlCol="0" anchor="t"/>
          <a:lstStyle/>
          <a:p>
            <a:pPr indent="0" marL="0">
              <a:buNone/>
            </a:pPr>
            <a:r>
              <a:rPr lang="en-US" sz="1600" b="1" dirty="0">
                <a:solidFill>
                  <a:schemeClr val="tx1"/>
                </a:solidFill>
              </a:rPr>
              <a:t>Folding needs ions; the interface is weakened by them; counterion release adds entropy. The binding we measure belongs to the sequence and its solution together.</a:t>
            </a:r>
            <a:endParaRPr lang="en-US" sz="1600" dirty="0"/>
          </a:p>
        </p:txBody>
      </p:sp>
      <p:sp>
        <p:nvSpPr>
          <p:cNvPr id="25" name="Slide Number Placeholder 0"/>
          <p:cNvSpPr>
            <a:spLocks noGrp="1"/>
          </p:cNvSpPr>
          <p:nvPr>
            <p:ph type="sldNum" sz="quarter" idx="4294967295"/>
          </p:nvPr>
        </p:nvSpPr>
        <p:spPr>
          <a:xfrm>
            <a:off x="1133856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Retreat Talk">
  <a:themeElements>
    <a:clrScheme name="Retreat Talk">
      <a:dk1>
        <a:srgbClr val="1B2A41"/>
      </a:dk1>
      <a:lt1>
        <a:srgbClr val="FFFFFF"/>
      </a:lt1>
      <a:dk2>
        <a:srgbClr val="5C6B7D"/>
      </a:dk2>
      <a:lt2>
        <a:srgbClr val="EEF3F6"/>
      </a:lt2>
      <a:accent1>
        <a:srgbClr val="138A8A"/>
      </a:accent1>
      <a:accent2>
        <a:srgbClr val="E85D4A"/>
      </a:accent2>
      <a:accent3>
        <a:srgbClr val="F2C14E"/>
      </a:accent3>
      <a:accent4>
        <a:srgbClr val="7A5BA6"/>
      </a:accent4>
      <a:accent5>
        <a:srgbClr val="7CC6C2"/>
      </a:accent5>
      <a:accent6>
        <a:srgbClr val="8A6A4F"/>
      </a:accent6>
      <a:hlink>
        <a:srgbClr val="138A8A"/>
      </a:hlink>
      <a:folHlink>
        <a:srgbClr val="7A5BA6"/>
      </a:folHlink>
    </a:clrScheme>
    <a:fontScheme name="Retreat Tal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molecular recognition to a rapid test — PhD retreat</dc:title>
  <dc:subject>PptxGenJS Presentation</dc:subject>
  <dc:creator>PptxGenJS</dc:creator>
  <cp:lastModifiedBy>PptxGenJS</cp:lastModifiedBy>
  <cp:revision>1</cp:revision>
  <dcterms:created xsi:type="dcterms:W3CDTF">2026-10-18T15:24:40Z</dcterms:created>
  <dcterms:modified xsi:type="dcterms:W3CDTF">2026-10-18T15:24:40Z</dcterms:modified>
</cp:coreProperties>
</file>