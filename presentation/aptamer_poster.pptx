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40080"/>
            <a:ext cx="243321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9200" b="1" dirty="0">
                <a:solidFill>
                  <a:schemeClr val="tx1"/>
                </a:solidFill>
              </a:rPr>
              <a:t>Which aptamer wins?</a:t>
            </a:r>
            <a:endParaRPr lang="en-US" sz="9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9200" b="1" dirty="0">
                <a:solidFill>
                  <a:schemeClr val="accent2"/>
                </a:solidFill>
              </a:rPr>
              <a:t>It depends on the salt.</a:t>
            </a:r>
            <a:endParaRPr lang="en-US" sz="92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200400"/>
            <a:ext cx="2433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Why comparing aptamers for rapid virus detection in stool is hard — and how fluorescence polarization helps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2433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[Your name]  ·  [Lab, Institute]  ·  [email]  ·  PhD Retreat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886664" y="822960"/>
            <a:ext cx="3474720" cy="3474720"/>
          </a:xfrm>
          <a:prstGeom prst="roundRect">
            <a:avLst>
              <a:gd name="adj" fmla="val 7895"/>
            </a:avLst>
          </a:prstGeom>
          <a:solidFill>
            <a:schemeClr val="bg1"/>
          </a:solidFill>
          <a:ln w="50800">
            <a:solidFill>
              <a:schemeClr val="tx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6069544" y="8229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[QR code: talk slides / contact]</a:t>
            </a:r>
            <a:endParaRPr lang="en-US" sz="2400" dirty="0"/>
          </a:p>
        </p:txBody>
      </p:sp>
      <p:pic>
        <p:nvPicPr>
          <p:cNvPr id="7" name="Aptamer characters on a podium with a salt shaker" descr="Aptamer characters on a podium with a salt sha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4572000"/>
            <a:ext cx="14630400" cy="4754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824960" y="4572000"/>
            <a:ext cx="12536424" cy="4754880"/>
          </a:xfrm>
          <a:prstGeom prst="roundRect">
            <a:avLst>
              <a:gd name="adj" fmla="val 96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282160" y="4892040"/>
            <a:ext cx="1162202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3"/>
                </a:solidFill>
              </a:rPr>
              <a:t>The question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bg1"/>
                </a:solidFill>
              </a:rPr>
              <a:t>Several published aptamers bind my target virus [name]. Which one should go on the rapid strip test?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3"/>
                </a:solidFill>
              </a:rPr>
              <a:t>The catch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bg1"/>
                </a:solidFill>
              </a:rPr>
              <a:t>Their ranking changes with salt, method and matrix — so a fair comparison needs a fair method.</a:t>
            </a:r>
            <a:endParaRPr lang="en-US" sz="2800" dirty="0"/>
          </a:p>
        </p:txBody>
      </p:sp>
      <p:sp>
        <p:nvSpPr>
          <p:cNvPr id="10" name="panel-1"/>
          <p:cNvSpPr/>
          <p:nvPr/>
        </p:nvSpPr>
        <p:spPr>
          <a:xfrm>
            <a:off x="914400" y="9738360"/>
            <a:ext cx="13949172" cy="91440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76200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25880" y="10058400"/>
            <a:ext cx="1051560" cy="10515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25880" y="10058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1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2606040" y="10058400"/>
            <a:ext cx="118460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Aptamers are shape-shifters</a:t>
            </a:r>
            <a:endParaRPr lang="en-US" sz="5000" dirty="0"/>
          </a:p>
        </p:txBody>
      </p:sp>
      <p:pic>
        <p:nvPicPr>
          <p:cNvPr id="14" name="Folded aptamer with ions versus floppy unfolded aptamer" descr="Folded aptamer with ions versus floppy unfolded aptam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106" y="11292840"/>
            <a:ext cx="9509760" cy="532546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37360" y="16687800"/>
            <a:ext cx="123032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Mg²⁺ &amp; Na⁺ shield the negative backbone so the strand can fold</a:t>
            </a:r>
            <a:endParaRPr lang="en-US" sz="2600" dirty="0"/>
          </a:p>
          <a:p>
            <a:pPr marL="381000" indent="-3810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K⁺ specifically stabilises G-quadruplexes; pH &amp; temperature matter too</a:t>
            </a:r>
            <a:endParaRPr lang="en-US" sz="2600" dirty="0"/>
          </a:p>
          <a:p>
            <a:pPr marL="381000" indent="-3810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No fold → no binding pocket → no binding</a:t>
            </a:r>
            <a:endParaRPr lang="en-US" sz="2600" dirty="0"/>
          </a:p>
        </p:txBody>
      </p:sp>
      <p:sp>
        <p:nvSpPr>
          <p:cNvPr id="16" name="panel-2"/>
          <p:cNvSpPr/>
          <p:nvPr/>
        </p:nvSpPr>
        <p:spPr>
          <a:xfrm>
            <a:off x="15412212" y="9738360"/>
            <a:ext cx="13949172" cy="91440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76200">
            <a:solidFill>
              <a:schemeClr val="accent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5823692" y="10058400"/>
            <a:ext cx="1051560" cy="105156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5823692" y="100584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2</a:t>
            </a:r>
            <a:endParaRPr lang="en-US" sz="4800" dirty="0"/>
          </a:p>
        </p:txBody>
      </p:sp>
      <p:sp>
        <p:nvSpPr>
          <p:cNvPr id="19" name="Text 15"/>
          <p:cNvSpPr txBox="1"/>
          <p:nvPr/>
        </p:nvSpPr>
        <p:spPr>
          <a:xfrm>
            <a:off x="17103852" y="10058400"/>
            <a:ext cx="118460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4"/>
                </a:solidFill>
              </a:rPr>
              <a:t>Apples vs oranges</a:t>
            </a:r>
            <a:endParaRPr lang="en-US" sz="5000" dirty="0"/>
          </a:p>
        </p:txBody>
      </p:sp>
      <p:pic>
        <p:nvPicPr>
          <p:cNvPr id="20" name="Scale comparing two aptamers with different buffers, labels and Kd methods" descr="Scale comparing two aptamers with different buffers, labels and Kd metho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1918" y="11384280"/>
            <a:ext cx="9509760" cy="494507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235172" y="16687800"/>
            <a:ext cx="123032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Each aptamer was selected (SELEX) in its own buffer</a:t>
            </a:r>
            <a:endParaRPr lang="en-US" sz="2600" dirty="0"/>
          </a:p>
          <a:p>
            <a:pPr marL="381000" indent="-3810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Labels &amp; linkers differ (FAM, biotin, spacers) and can change binding</a:t>
            </a:r>
            <a:endParaRPr lang="en-US" sz="2600" dirty="0"/>
          </a:p>
          <a:p>
            <a:pPr marL="381000" indent="-3810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Published Kd values come from different methods → not directly comparable</a:t>
            </a:r>
            <a:endParaRPr lang="en-US" sz="2600" dirty="0"/>
          </a:p>
        </p:txBody>
      </p:sp>
      <p:sp>
        <p:nvSpPr>
          <p:cNvPr id="22" name="panel-3"/>
          <p:cNvSpPr/>
          <p:nvPr/>
        </p:nvSpPr>
        <p:spPr>
          <a:xfrm>
            <a:off x="914400" y="19293840"/>
            <a:ext cx="28446984" cy="8686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76200">
            <a:solidFill>
              <a:schemeClr val="accent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325880" y="19613880"/>
            <a:ext cx="1051560" cy="105156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325880" y="196138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3</a:t>
            </a:r>
            <a:endParaRPr lang="en-US" sz="4800" dirty="0"/>
          </a:p>
        </p:txBody>
      </p:sp>
      <p:sp>
        <p:nvSpPr>
          <p:cNvPr id="25" name="Text 20"/>
          <p:cNvSpPr txBox="1"/>
          <p:nvPr/>
        </p:nvSpPr>
        <p:spPr>
          <a:xfrm>
            <a:off x="2606040" y="19613880"/>
            <a:ext cx="26343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2"/>
                </a:solidFill>
              </a:rPr>
              <a:t>Meet the stool matrix gang</a:t>
            </a:r>
            <a:endParaRPr lang="en-US" sz="5000" dirty="0"/>
          </a:p>
        </p:txBody>
      </p:sp>
      <p:pic>
        <p:nvPicPr>
          <p:cNvPr id="26" name="Six cartoon villains: salt, bile, nucleases, proteins, quenchers, bacteria" descr="Six cartoon villains: salt, bile, nucleases, proteins, quenchers, bacter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0802600"/>
            <a:ext cx="18745200" cy="699820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20665440" y="20802600"/>
            <a:ext cx="8147304" cy="6998208"/>
          </a:xfrm>
          <a:prstGeom prst="roundRect">
            <a:avLst>
              <a:gd name="adj" fmla="val 52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21031200" y="21122640"/>
            <a:ext cx="7415784" cy="644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Why it hits every assay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Stool composition varies between donors and days, so salt and Mg²⁺ — and with them the aptamer fold — are never fixed.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2"/>
                </a:solidFill>
              </a:rPr>
              <a:t>Watch-out for optics</a:t>
            </a:r>
            <a:endParaRPr lang="en-US" sz="2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Pigments &amp; particles absorb and scatter light — they can fake a signal in colour and fluorescence assays alike.</a:t>
            </a:r>
            <a:endParaRPr lang="en-US" sz="2800" dirty="0"/>
          </a:p>
        </p:txBody>
      </p:sp>
      <p:sp>
        <p:nvSpPr>
          <p:cNvPr id="29" name="panel-4"/>
          <p:cNvSpPr/>
          <p:nvPr/>
        </p:nvSpPr>
        <p:spPr>
          <a:xfrm>
            <a:off x="914400" y="28392120"/>
            <a:ext cx="10241280" cy="10332720"/>
          </a:xfrm>
          <a:prstGeom prst="roundRect">
            <a:avLst>
              <a:gd name="adj" fmla="val 4464"/>
            </a:avLst>
          </a:prstGeom>
          <a:solidFill>
            <a:schemeClr val="bg1"/>
          </a:solidFill>
          <a:ln w="76200">
            <a:solidFill>
              <a:schemeClr val="accent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325880" y="28712160"/>
            <a:ext cx="1051560" cy="105156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325880" y="28712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4</a:t>
            </a:r>
            <a:endParaRPr lang="en-US" sz="4800" dirty="0"/>
          </a:p>
        </p:txBody>
      </p:sp>
      <p:sp>
        <p:nvSpPr>
          <p:cNvPr id="32" name="Text 26"/>
          <p:cNvSpPr txBox="1"/>
          <p:nvPr/>
        </p:nvSpPr>
        <p:spPr>
          <a:xfrm>
            <a:off x="2606040" y="2871216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6"/>
                </a:solidFill>
              </a:rPr>
              <a:t>ELISA: lessons learned</a:t>
            </a:r>
            <a:endParaRPr lang="en-US" sz="5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129480"/>
          <a:ext cx="9144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5120640"/>
              </a:tblGrid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saw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happens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4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 / patchy signal]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Washes strip aptamers that unbind fast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[Ranking ≠ literature]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tethering changes folding &amp; access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[Result shifts with wash buffer]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buffer is unfair to aptamers selected in other salts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[High background in stool]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&amp; blockers stick to plate and DNA</a:t>
                      </a:r>
                      <a:endParaRPr lang="en-US" sz="2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9C3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27"/>
          <p:cNvSpPr txBox="1"/>
          <p:nvPr/>
        </p:nvSpPr>
        <p:spPr>
          <a:xfrm>
            <a:off x="1463040" y="371246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6"/>
                </a:solidFill>
              </a:rPr>
              <a:t>Bottom line: ELISA scored the assay, not the aptamer.</a:t>
            </a:r>
            <a:endParaRPr lang="en-US" sz="3000" dirty="0"/>
          </a:p>
        </p:txBody>
      </p:sp>
      <p:sp>
        <p:nvSpPr>
          <p:cNvPr id="35" name="panel-5"/>
          <p:cNvSpPr/>
          <p:nvPr/>
        </p:nvSpPr>
        <p:spPr>
          <a:xfrm>
            <a:off x="11704320" y="28392120"/>
            <a:ext cx="17657064" cy="10332720"/>
          </a:xfrm>
          <a:prstGeom prst="roundRect">
            <a:avLst>
              <a:gd name="adj" fmla="val 4425"/>
            </a:avLst>
          </a:prstGeom>
          <a:solidFill>
            <a:schemeClr val="bg1"/>
          </a:solidFill>
          <a:ln w="76200">
            <a:solidFill>
              <a:schemeClr val="accent1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2115800" y="28712160"/>
            <a:ext cx="1051560" cy="105156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2115800" y="287121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5</a:t>
            </a:r>
            <a:endParaRPr lang="en-US" sz="4800" dirty="0"/>
          </a:p>
        </p:txBody>
      </p:sp>
      <p:sp>
        <p:nvSpPr>
          <p:cNvPr id="38" name="Text 31"/>
          <p:cNvSpPr txBox="1"/>
          <p:nvPr/>
        </p:nvSpPr>
        <p:spPr>
          <a:xfrm>
            <a:off x="13395960" y="28712160"/>
            <a:ext cx="15553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chemeClr val="accent1"/>
                </a:solidFill>
              </a:rPr>
              <a:t>Fluorescence polarization to the rescue</a:t>
            </a:r>
            <a:endParaRPr lang="en-US" sz="5000" dirty="0"/>
          </a:p>
        </p:txBody>
      </p:sp>
      <p:pic>
        <p:nvPicPr>
          <p:cNvPr id="39" name="Cartoon: free aptamer spins fast, bound aptamer spins slowly" descr="Cartoon: free aptamer spins fast, bound aptamer spins slowl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0" y="30038040"/>
            <a:ext cx="8961120" cy="413590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2344400" y="34356822"/>
            <a:ext cx="9144000" cy="4093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Homogeneous: no surface, no washes</a:t>
            </a:r>
            <a:endParaRPr lang="en-US" sz="2600" dirty="0"/>
          </a:p>
          <a:p>
            <a:pPr marL="381000" indent="-381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True equilibrium Kd, minutes per plate</a:t>
            </a:r>
            <a:endParaRPr lang="en-US" sz="2600" dirty="0"/>
          </a:p>
          <a:p>
            <a:pPr marL="381000" indent="-381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Same plate, many buffers → fair comparison</a:t>
            </a:r>
            <a:endParaRPr lang="en-US" sz="2600" dirty="0"/>
          </a:p>
          <a:p>
            <a:pPr marL="381000" indent="-3810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Ratiometric → less sensitive to intensity loss</a:t>
            </a:r>
            <a:endParaRPr lang="en-US" sz="2600" dirty="0"/>
          </a:p>
        </p:txBody>
      </p:sp>
      <p:sp>
        <p:nvSpPr>
          <p:cNvPr id="41" name="Text 33"/>
          <p:cNvSpPr txBox="1"/>
          <p:nvPr/>
        </p:nvSpPr>
        <p:spPr>
          <a:xfrm>
            <a:off x="21945600" y="30083760"/>
            <a:ext cx="6867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Planned experiment matrix</a:t>
            </a:r>
            <a:endParaRPr lang="en-US" sz="3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0" y="30815280"/>
          <a:ext cx="686714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00684"/>
                <a:gridCol w="900684"/>
                <a:gridCol w="900684"/>
                <a:gridCol w="900684"/>
                <a:gridCol w="900684"/>
                <a:gridCol w="900684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SELEX buffer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NaCl series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Mg²⁺ series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K⁺ (G4)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Stool 1:[x]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8A8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Apt-A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C9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Apt-B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Apt-C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C9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Apt-D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C9D3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800" dirty="0">
                          <a:solidFill>
                            <a:srgbClr val="13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2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" name="Text 34"/>
          <p:cNvSpPr txBox="1"/>
          <p:nvPr/>
        </p:nvSpPr>
        <p:spPr>
          <a:xfrm>
            <a:off x="21945600" y="34335720"/>
            <a:ext cx="686714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Readout → Kd</a:t>
            </a:r>
            <a:endParaRPr lang="en-US" sz="2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titrate target, fit mP to a 1:1 binding model</a:t>
            </a:r>
            <a:endParaRPr lang="en-US" sz="2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Controls</a:t>
            </a:r>
            <a:endParaRPr lang="en-US" sz="2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scrambled sequence · dye only · stool-only blank · unlabelled competitor</a:t>
            </a:r>
            <a:endParaRPr lang="en-US" sz="2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Watch-outs</a:t>
            </a:r>
            <a:endParaRPr lang="en-US" sz="2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stool scatter/autofluorescence → red dye + blanks · dye/linker can alter binding</a:t>
            </a:r>
            <a:endParaRPr lang="en-US" sz="2800" dirty="0"/>
          </a:p>
        </p:txBody>
      </p:sp>
      <p:sp>
        <p:nvSpPr>
          <p:cNvPr id="44" name="Shape 35"/>
          <p:cNvSpPr/>
          <p:nvPr/>
        </p:nvSpPr>
        <p:spPr>
          <a:xfrm>
            <a:off x="914400" y="39136320"/>
            <a:ext cx="28446984" cy="3118104"/>
          </a:xfrm>
          <a:prstGeom prst="roundRect">
            <a:avLst>
              <a:gd name="adj" fmla="val 1466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1554480" y="39456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Let's discuss!</a:t>
            </a:r>
            <a:endParaRPr lang="en-US" sz="4400" dirty="0"/>
          </a:p>
        </p:txBody>
      </p:sp>
      <p:sp>
        <p:nvSpPr>
          <p:cNvPr id="46" name="Shape 37"/>
          <p:cNvSpPr/>
          <p:nvPr/>
        </p:nvSpPr>
        <p:spPr>
          <a:xfrm>
            <a:off x="1554480" y="40325040"/>
            <a:ext cx="6126480" cy="1655064"/>
          </a:xfrm>
          <a:prstGeom prst="roundRect">
            <a:avLst>
              <a:gd name="adj" fmla="val 19337"/>
            </a:avLst>
          </a:prstGeom>
          <a:solidFill>
            <a:schemeClr val="bg1"/>
          </a:solidFill>
          <a:ln w="50800">
            <a:solidFill>
              <a:schemeClr val="accent3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1828800" y="40325040"/>
            <a:ext cx="5577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Which buffer is ‘fair’ — each aptamer's own, or one common buffer?</a:t>
            </a:r>
            <a:endParaRPr lang="en-US" sz="2500" dirty="0"/>
          </a:p>
        </p:txBody>
      </p:sp>
      <p:sp>
        <p:nvSpPr>
          <p:cNvPr id="48" name="Shape 39"/>
          <p:cNvSpPr/>
          <p:nvPr/>
        </p:nvSpPr>
        <p:spPr>
          <a:xfrm>
            <a:off x="7955280" y="40325040"/>
            <a:ext cx="6126480" cy="1655064"/>
          </a:xfrm>
          <a:prstGeom prst="roundRect">
            <a:avLst>
              <a:gd name="adj" fmla="val 19337"/>
            </a:avLst>
          </a:prstGeom>
          <a:solidFill>
            <a:schemeClr val="bg1"/>
          </a:solidFill>
          <a:ln w="50800">
            <a:solidFill>
              <a:schemeClr val="accent3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8229600" y="40325040"/>
            <a:ext cx="5577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How much stool dilution is acceptable for a rapid test?</a:t>
            </a:r>
            <a:endParaRPr lang="en-US" sz="2500" dirty="0"/>
          </a:p>
        </p:txBody>
      </p:sp>
      <p:sp>
        <p:nvSpPr>
          <p:cNvPr id="50" name="Shape 41"/>
          <p:cNvSpPr/>
          <p:nvPr/>
        </p:nvSpPr>
        <p:spPr>
          <a:xfrm>
            <a:off x="14356080" y="40325040"/>
            <a:ext cx="6126480" cy="1655064"/>
          </a:xfrm>
          <a:prstGeom prst="roundRect">
            <a:avLst>
              <a:gd name="adj" fmla="val 19337"/>
            </a:avLst>
          </a:prstGeom>
          <a:solidFill>
            <a:schemeClr val="bg1"/>
          </a:solidFill>
          <a:ln w="50800">
            <a:solidFill>
              <a:schemeClr val="accent3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14630400" y="40325040"/>
            <a:ext cx="55778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Your experience with FP in complex matrices?</a:t>
            </a:r>
            <a:endParaRPr lang="en-US" sz="2500" dirty="0"/>
          </a:p>
        </p:txBody>
      </p:sp>
      <p:pic>
        <p:nvPicPr>
          <p:cNvPr id="52" name="Lateral flow strip with a smiling face: the next step" descr="Lateral flow strip with a smiling face: the next ste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0" y="39364920"/>
            <a:ext cx="6652260" cy="26609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ptamer Poster">
  <a:themeElements>
    <a:clrScheme name="Aptamer Poster">
      <a:dk1>
        <a:srgbClr val="1B2A41"/>
      </a:dk1>
      <a:lt1>
        <a:srgbClr val="FFFFFF"/>
      </a:lt1>
      <a:dk2>
        <a:srgbClr val="5C6B7D"/>
      </a:dk2>
      <a:lt2>
        <a:srgbClr val="E3F2F1"/>
      </a:lt2>
      <a:accent1>
        <a:srgbClr val="138A8A"/>
      </a:accent1>
      <a:accent2>
        <a:srgbClr val="E85D4A"/>
      </a:accent2>
      <a:accent3>
        <a:srgbClr val="F2C14E"/>
      </a:accent3>
      <a:accent4>
        <a:srgbClr val="7A5BA6"/>
      </a:accent4>
      <a:accent5>
        <a:srgbClr val="7CC6C2"/>
      </a:accent5>
      <a:accent6>
        <a:srgbClr val="8A6A4F"/>
      </a:accent6>
      <a:hlink>
        <a:srgbClr val="138A8A"/>
      </a:hlink>
      <a:folHlink>
        <a:srgbClr val="7A5BA6"/>
      </a:folHlink>
    </a:clrScheme>
    <a:fontScheme name="Aptamer Post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aptamer wins? It depends on the salt.</dc:title>
  <dc:subject>PptxGenJS Presentation</dc:subject>
  <dc:creator>PptxGenJS</dc:creator>
  <cp:lastModifiedBy>PptxGenJS</cp:lastModifiedBy>
  <cp:revision>1</cp:revision>
  <dcterms:created xsi:type="dcterms:W3CDTF">2026-10-18T14:37:29Z</dcterms:created>
  <dcterms:modified xsi:type="dcterms:W3CDTF">2026-10-18T14:37:29Z</dcterms:modified>
</cp:coreProperties>
</file>