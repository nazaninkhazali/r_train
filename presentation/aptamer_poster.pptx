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502920"/>
            <a:ext cx="245150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000" b="1" dirty="0">
                <a:solidFill>
                  <a:schemeClr val="tx1"/>
                </a:solidFill>
              </a:rPr>
              <a:t>Salt prepares the hand</a:t>
            </a:r>
            <a:endParaRPr lang="en-US" sz="8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0" b="1" dirty="0">
                <a:solidFill>
                  <a:schemeClr val="accent2"/>
                </a:solidFill>
              </a:rPr>
              <a:t>and weakens the handshake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971800"/>
            <a:ext cx="2451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Why six published norovirus aptamers cannot simply be ranked — and how we plan to compare them fairly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57600"/>
            <a:ext cx="2451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[Your name]  ·  [Lab, Institute]  ·  [email]  ·  PhD Retreat 2026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160984" y="548640"/>
            <a:ext cx="3200400" cy="32004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50800">
            <a:solidFill>
              <a:schemeClr val="tx1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26252424" y="548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[QR code]</a:t>
            </a:r>
            <a:endParaRPr lang="en-US" sz="2500" dirty="0"/>
          </a:p>
        </p:txBody>
      </p:sp>
      <p:sp>
        <p:nvSpPr>
          <p:cNvPr id="7" name="panel-1"/>
          <p:cNvSpPr/>
          <p:nvPr/>
        </p:nvSpPr>
        <p:spPr>
          <a:xfrm>
            <a:off x="914400" y="4343400"/>
            <a:ext cx="28446984" cy="5303520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76200">
            <a:solidFill>
              <a:schemeClr val="tx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4709160"/>
            <a:ext cx="1051560" cy="1051560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25880" y="47091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1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4663440"/>
            <a:ext cx="26343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Six aptamers, six histories</a:t>
            </a:r>
            <a:endParaRPr lang="en-US" sz="4600" dirty="0"/>
          </a:p>
        </p:txBody>
      </p:sp>
      <p:pic>
        <p:nvPicPr>
          <p:cNvPr id="11" name="Six aptamer characters from six labs, each with an unknown Kd" descr="Six aptamer characters from six labs, each with an unknown K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5806440"/>
            <a:ext cx="15544800" cy="36271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7556480" y="5760720"/>
            <a:ext cx="1125626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700" b="1" dirty="0">
                <a:solidFill>
                  <a:schemeClr val="tx1"/>
                </a:solidFill>
              </a:rPr>
              <a:t>Different labs, techniques, targets and buffers — so the published affinities are not comparable.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500" dirty="0">
                <a:solidFill>
                  <a:schemeClr val="tx1"/>
                </a:solidFill>
              </a:rPr>
              <a:t>An aptamer is not a rigid object with a fixed binding strength: it explores different shapes, and the solution decides how many molecules are in a binding-competent shape. Each one must be optimised in its own conditions.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500" b="1" dirty="0">
                <a:solidFill>
                  <a:srgbClr val="E85D4A"/>
                </a:solidFill>
              </a:rPr>
              <a:t>A salt-dependent change can therefore look like a difference between aptamers when it is really a difference between conditions.</a:t>
            </a:r>
            <a:endParaRPr lang="en-US" sz="2800" dirty="0"/>
          </a:p>
        </p:txBody>
      </p:sp>
      <p:sp>
        <p:nvSpPr>
          <p:cNvPr id="13" name="panel-2"/>
          <p:cNvSpPr/>
          <p:nvPr/>
        </p:nvSpPr>
        <p:spPr>
          <a:xfrm>
            <a:off x="914400" y="10104120"/>
            <a:ext cx="9177528" cy="9509760"/>
          </a:xfrm>
          <a:prstGeom prst="roundRect">
            <a:avLst>
              <a:gd name="adj" fmla="val 4982"/>
            </a:avLst>
          </a:prstGeom>
          <a:solidFill>
            <a:schemeClr val="bg1"/>
          </a:solidFill>
          <a:ln w="76200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25880" y="10469880"/>
            <a:ext cx="1051560" cy="10515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25880" y="104698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</a:t>
            </a:r>
            <a:endParaRPr lang="en-US" sz="460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10424160"/>
            <a:ext cx="7074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Folding costs charge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11567160"/>
            <a:ext cx="707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1 · Electrostatics of folding</a:t>
            </a:r>
            <a:endParaRPr lang="en-US" sz="2800" dirty="0"/>
          </a:p>
        </p:txBody>
      </p:sp>
      <p:pic>
        <p:nvPicPr>
          <p:cNvPr id="18" name="Unfolded strand with a thin ion atmosphere versus a folded one with a dense atmosphere" descr="Unfolded strand with a thin ion atmosphere versus a folded one with a dense atmosphe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2481560"/>
            <a:ext cx="7714488" cy="415911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463040" y="16779240"/>
            <a:ext cx="80802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Folding pulls negative phosphates together — an electrostatic penalty</a:t>
            </a:r>
            <a:endParaRPr lang="en-US" sz="23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Positive ions screen it: an ion atmosphere — diffuse and mobile, not fixed ions</a:t>
            </a:r>
            <a:endParaRPr lang="en-US" sz="23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Folding and ion uptake are coupled: more salt can stabilise a compact fold</a:t>
            </a:r>
            <a:endParaRPr lang="en-US" sz="2300" dirty="0"/>
          </a:p>
        </p:txBody>
      </p:sp>
      <p:sp>
        <p:nvSpPr>
          <p:cNvPr id="20" name="panel-4"/>
          <p:cNvSpPr/>
          <p:nvPr/>
        </p:nvSpPr>
        <p:spPr>
          <a:xfrm>
            <a:off x="10549128" y="10104120"/>
            <a:ext cx="9177528" cy="9509760"/>
          </a:xfrm>
          <a:prstGeom prst="roundRect">
            <a:avLst>
              <a:gd name="adj" fmla="val 4982"/>
            </a:avLst>
          </a:prstGeom>
          <a:solidFill>
            <a:schemeClr val="bg1"/>
          </a:solidFill>
          <a:ln w="76200">
            <a:solidFill>
              <a:schemeClr val="accent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0960608" y="10469880"/>
            <a:ext cx="1051560" cy="105156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960608" y="104698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4</a:t>
            </a:r>
            <a:endParaRPr lang="en-US" sz="4600" dirty="0"/>
          </a:p>
        </p:txBody>
      </p:sp>
      <p:sp>
        <p:nvSpPr>
          <p:cNvPr id="23" name="Text 19"/>
          <p:cNvSpPr txBox="1"/>
          <p:nvPr/>
        </p:nvSpPr>
        <p:spPr>
          <a:xfrm>
            <a:off x="12240768" y="10424160"/>
            <a:ext cx="7074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4"/>
                </a:solidFill>
              </a:rPr>
              <a:t>Counterion release</a:t>
            </a:r>
            <a:endParaRPr lang="en-US" sz="4600" dirty="0"/>
          </a:p>
        </p:txBody>
      </p:sp>
      <p:sp>
        <p:nvSpPr>
          <p:cNvPr id="24" name="Text 20"/>
          <p:cNvSpPr txBox="1"/>
          <p:nvPr/>
        </p:nvSpPr>
        <p:spPr>
          <a:xfrm>
            <a:off x="12240768" y="11567160"/>
            <a:ext cx="707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3 · Entropy</a:t>
            </a:r>
            <a:endParaRPr lang="en-US" sz="2800" dirty="0"/>
          </a:p>
        </p:txBody>
      </p:sp>
      <p:pic>
        <p:nvPicPr>
          <p:cNvPr id="25" name="Ions crowding each partner before binding and released into solution after" descr="Ions crowding each partner before binding and released into solution af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328" y="12573000"/>
            <a:ext cx="8263128" cy="3736371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1097768" y="16504920"/>
            <a:ext cx="8080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Ions are enriched near the DNA and near positive patches on the target</a:t>
            </a:r>
            <a:endParaRPr lang="en-US" sz="24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On association some are released into bulk solution and gain freedom → entropy</a:t>
            </a:r>
            <a:endParaRPr lang="en-US" sz="24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As bulk salt rises there is less to gain from release, so the advantage shrinks</a:t>
            </a:r>
            <a:endParaRPr lang="en-US" sz="24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One reason binding weakens at high salt</a:t>
            </a:r>
            <a:endParaRPr lang="en-US" sz="2400" dirty="0"/>
          </a:p>
        </p:txBody>
      </p:sp>
      <p:sp>
        <p:nvSpPr>
          <p:cNvPr id="27" name="panel-5"/>
          <p:cNvSpPr/>
          <p:nvPr/>
        </p:nvSpPr>
        <p:spPr>
          <a:xfrm>
            <a:off x="20183856" y="10104120"/>
            <a:ext cx="9177528" cy="9509760"/>
          </a:xfrm>
          <a:prstGeom prst="roundRect">
            <a:avLst>
              <a:gd name="adj" fmla="val 4982"/>
            </a:avLst>
          </a:prstGeom>
          <a:solidFill>
            <a:schemeClr val="bg1"/>
          </a:solidFill>
          <a:ln w="76200">
            <a:solidFill>
              <a:schemeClr val="accent3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0595336" y="10469880"/>
            <a:ext cx="1051560" cy="105156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0595336" y="104698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5</a:t>
            </a:r>
            <a:endParaRPr lang="en-US" sz="4600" dirty="0"/>
          </a:p>
        </p:txBody>
      </p:sp>
      <p:sp>
        <p:nvSpPr>
          <p:cNvPr id="30" name="Text 25"/>
          <p:cNvSpPr txBox="1"/>
          <p:nvPr/>
        </p:nvSpPr>
        <p:spPr>
          <a:xfrm>
            <a:off x="21875496" y="10424160"/>
            <a:ext cx="70744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3"/>
                </a:solidFill>
              </a:rPr>
              <a:t>Identity, not only amount</a:t>
            </a:r>
            <a:endParaRPr lang="en-US" sz="4600" dirty="0"/>
          </a:p>
        </p:txBody>
      </p:sp>
      <p:sp>
        <p:nvSpPr>
          <p:cNvPr id="31" name="Text 26"/>
          <p:cNvSpPr txBox="1"/>
          <p:nvPr/>
        </p:nvSpPr>
        <p:spPr>
          <a:xfrm>
            <a:off x="21875496" y="11567160"/>
            <a:ext cx="707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4 · Which ion, not just how much</a:t>
            </a:r>
            <a:endParaRPr lang="en-US" sz="2800" dirty="0"/>
          </a:p>
        </p:txBody>
      </p:sp>
      <p:pic>
        <p:nvPicPr>
          <p:cNvPr id="32" name="Potassium in a G-quadruplex, magnesium competing with monovalent ions, chloride versus glutamate" descr="Potassium in a G-quadruplex, magnesium competing with monovalent ions, chloride versus glutam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9616" y="12755880"/>
            <a:ext cx="8446008" cy="3040563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0732496" y="16139160"/>
            <a:ext cx="8080248" cy="3017520"/>
          </a:xfrm>
          <a:prstGeom prst="roundRect">
            <a:avLst>
              <a:gd name="adj" fmla="val 106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1098256" y="16413480"/>
            <a:ext cx="73487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FFFFFF"/>
                </a:solidFill>
              </a:rPr>
              <a:t>Two buffers are not equivalent just because both contain “salt”.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rgbClr val="FFFFFF"/>
                </a:solidFill>
              </a:rPr>
              <a:t>Ion identity, concentration and pH are separate variables — and we treat them that way.</a:t>
            </a:r>
            <a:endParaRPr lang="en-US" sz="2800" dirty="0"/>
          </a:p>
        </p:txBody>
      </p:sp>
      <p:sp>
        <p:nvSpPr>
          <p:cNvPr id="35" name="panel-3"/>
          <p:cNvSpPr/>
          <p:nvPr/>
        </p:nvSpPr>
        <p:spPr>
          <a:xfrm>
            <a:off x="914400" y="20071080"/>
            <a:ext cx="28446984" cy="9052560"/>
          </a:xfrm>
          <a:prstGeom prst="roundRect">
            <a:avLst>
              <a:gd name="adj" fmla="val 5051"/>
            </a:avLst>
          </a:prstGeom>
          <a:solidFill>
            <a:schemeClr val="bg1"/>
          </a:solidFill>
          <a:ln w="76200">
            <a:solidFill>
              <a:schemeClr val="accent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325880" y="20436840"/>
            <a:ext cx="1051560" cy="10515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325880" y="20436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3</a:t>
            </a:r>
            <a:endParaRPr lang="en-US" sz="4600" dirty="0"/>
          </a:p>
        </p:txBody>
      </p:sp>
      <p:sp>
        <p:nvSpPr>
          <p:cNvPr id="38" name="Text 32"/>
          <p:cNvSpPr txBox="1"/>
          <p:nvPr/>
        </p:nvSpPr>
        <p:spPr>
          <a:xfrm>
            <a:off x="2606040" y="20391120"/>
            <a:ext cx="26343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2"/>
                </a:solidFill>
              </a:rPr>
              <a:t>…and the same ions weaken the handshake</a:t>
            </a:r>
            <a:endParaRPr lang="en-US" sz="4600" dirty="0"/>
          </a:p>
        </p:txBody>
      </p:sp>
      <p:sp>
        <p:nvSpPr>
          <p:cNvPr id="39" name="Text 33"/>
          <p:cNvSpPr txBox="1"/>
          <p:nvPr/>
        </p:nvSpPr>
        <p:spPr>
          <a:xfrm>
            <a:off x="2606040" y="21534120"/>
            <a:ext cx="26343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2 · Electrostatics at the interface</a:t>
            </a:r>
            <a:endParaRPr lang="en-US" sz="2800" dirty="0"/>
          </a:p>
        </p:txBody>
      </p:sp>
      <p:pic>
        <p:nvPicPr>
          <p:cNvPr id="40" name="Non-monotonic affinity versus ionic strength with folding and interface effects" descr="Non-monotonic affinity versus ionic strength with folding and interface effec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2174200"/>
            <a:ext cx="12252960" cy="74498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3990320" y="22265640"/>
            <a:ext cx="1482242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chemeClr val="tx1"/>
                </a:solidFill>
              </a:rPr>
              <a:t>Binding to a positively charged patch is helped by attraction to the negative backbone</a:t>
            </a:r>
            <a:endParaRPr lang="en-US" sz="27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chemeClr val="tx1"/>
                </a:solidFill>
              </a:rPr>
              <a:t>Salt screens that attraction too — so the ions that help the fold weaken part of the contact</a:t>
            </a:r>
            <a:endParaRPr lang="en-US" sz="27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chemeClr val="tx1"/>
                </a:solidFill>
              </a:rPr>
              <a:t>Affinity against salt is therefore often not monotonic: there can be a window where folding is good and the interface is still strong</a:t>
            </a:r>
            <a:endParaRPr lang="en-US" sz="2700" dirty="0"/>
          </a:p>
        </p:txBody>
      </p:sp>
      <p:sp>
        <p:nvSpPr>
          <p:cNvPr id="42" name="Shape 35"/>
          <p:cNvSpPr/>
          <p:nvPr/>
        </p:nvSpPr>
        <p:spPr>
          <a:xfrm>
            <a:off x="13990320" y="26289000"/>
            <a:ext cx="14822424" cy="2377440"/>
          </a:xfrm>
          <a:prstGeom prst="roundRect">
            <a:avLst>
              <a:gd name="adj" fmla="val 13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14401800" y="26654760"/>
            <a:ext cx="13999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chemeClr val="accent2"/>
                </a:solidFill>
              </a:rPr>
              <a:t>What salt dependence does not tell us</a:t>
            </a:r>
            <a:endParaRPr lang="en-US" sz="2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A steep fall in affinity with rising salt suggests a charge-driven interaction. It does not tell us how many ions were released: structural change, hydration and other contacts also contribute. We treat the salt response as a clue, not a full explanation.</a:t>
            </a:r>
            <a:endParaRPr lang="en-US" sz="2800" dirty="0"/>
          </a:p>
        </p:txBody>
      </p:sp>
      <p:sp>
        <p:nvSpPr>
          <p:cNvPr id="44" name="panel-6"/>
          <p:cNvSpPr/>
          <p:nvPr/>
        </p:nvSpPr>
        <p:spPr>
          <a:xfrm>
            <a:off x="914400" y="29580840"/>
            <a:ext cx="13994892" cy="7498080"/>
          </a:xfrm>
          <a:prstGeom prst="roundRect">
            <a:avLst>
              <a:gd name="adj" fmla="val 6098"/>
            </a:avLst>
          </a:prstGeom>
          <a:solidFill>
            <a:schemeClr val="bg1"/>
          </a:solidFill>
          <a:ln w="76200">
            <a:solidFill>
              <a:schemeClr val="accent6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1325880" y="29946600"/>
            <a:ext cx="1051560" cy="1051560"/>
          </a:xfrm>
          <a:prstGeom prst="ellipse">
            <a:avLst/>
          </a:prstGeom>
          <a:solidFill>
            <a:schemeClr val="accent6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1325880" y="29946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6</a:t>
            </a:r>
            <a:endParaRPr lang="en-US" sz="4600" dirty="0"/>
          </a:p>
        </p:txBody>
      </p:sp>
      <p:sp>
        <p:nvSpPr>
          <p:cNvPr id="47" name="Text 40"/>
          <p:cNvSpPr txBox="1"/>
          <p:nvPr/>
        </p:nvSpPr>
        <p:spPr>
          <a:xfrm>
            <a:off x="2606040" y="29900880"/>
            <a:ext cx="118917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6"/>
                </a:solidFill>
              </a:rPr>
              <a:t>Specificity</a:t>
            </a:r>
            <a:endParaRPr lang="en-US" sz="4600" dirty="0"/>
          </a:p>
        </p:txBody>
      </p:sp>
      <p:sp>
        <p:nvSpPr>
          <p:cNvPr id="48" name="Text 41"/>
          <p:cNvSpPr txBox="1"/>
          <p:nvPr/>
        </p:nvSpPr>
        <p:spPr>
          <a:xfrm>
            <a:off x="2606040" y="31043880"/>
            <a:ext cx="118917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5 · A strong signal is not proof of recognition</a:t>
            </a:r>
            <a:endParaRPr lang="en-US" sz="2800" dirty="0"/>
          </a:p>
        </p:txBody>
      </p:sp>
      <p:pic>
        <p:nvPicPr>
          <p:cNvPr id="49" name="Background at low salt, recognition in the window, weakened binding at high salt" descr="Background at low salt, recognition in the window, weakened binding at high s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31821120"/>
            <a:ext cx="9144000" cy="4134678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1463040" y="36118800"/>
            <a:ext cx="128976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8A6A4F"/>
                </a:solidFill>
              </a:rPr>
              <a:t>Controls, under matched conditions:  </a:t>
            </a:r>
            <a:pPr indent="0" marL="0">
              <a:buNone/>
            </a:pPr>
            <a:r>
              <a:rPr lang="en-US" sz="2500" dirty="0">
                <a:solidFill>
                  <a:schemeClr val="tx1"/>
                </a:solidFill>
              </a:rPr>
              <a:t>scrambled sequences · motif mutants · unrelated viral particles · norovirus-negative stool</a:t>
            </a:r>
            <a:endParaRPr lang="en-US" sz="2800" dirty="0"/>
          </a:p>
        </p:txBody>
      </p:sp>
      <p:sp>
        <p:nvSpPr>
          <p:cNvPr id="51" name="panel-7"/>
          <p:cNvSpPr/>
          <p:nvPr/>
        </p:nvSpPr>
        <p:spPr>
          <a:xfrm>
            <a:off x="15366492" y="29580840"/>
            <a:ext cx="13994892" cy="7498080"/>
          </a:xfrm>
          <a:prstGeom prst="roundRect">
            <a:avLst>
              <a:gd name="adj" fmla="val 6098"/>
            </a:avLst>
          </a:prstGeom>
          <a:solidFill>
            <a:schemeClr val="bg1"/>
          </a:solidFill>
          <a:ln w="76200">
            <a:solidFill>
              <a:schemeClr val="accent1"/>
            </a:solidFill>
            <a:prstDash val="solid"/>
          </a:ln>
        </p:spPr>
      </p:sp>
      <p:sp>
        <p:nvSpPr>
          <p:cNvPr id="52" name="Shape 44"/>
          <p:cNvSpPr/>
          <p:nvPr/>
        </p:nvSpPr>
        <p:spPr>
          <a:xfrm>
            <a:off x="15777972" y="29946600"/>
            <a:ext cx="1051560" cy="10515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15777972" y="29946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7</a:t>
            </a:r>
            <a:endParaRPr lang="en-US" sz="4600" dirty="0"/>
          </a:p>
        </p:txBody>
      </p:sp>
      <p:sp>
        <p:nvSpPr>
          <p:cNvPr id="54" name="Text 46"/>
          <p:cNvSpPr txBox="1"/>
          <p:nvPr/>
        </p:nvSpPr>
        <p:spPr>
          <a:xfrm>
            <a:off x="17058132" y="29900880"/>
            <a:ext cx="118917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Why fluorescence polarisation</a:t>
            </a:r>
            <a:endParaRPr lang="en-US" sz="4600" dirty="0"/>
          </a:p>
        </p:txBody>
      </p:sp>
      <p:sp>
        <p:nvSpPr>
          <p:cNvPr id="55" name="Text 47"/>
          <p:cNvSpPr txBox="1"/>
          <p:nvPr/>
        </p:nvSpPr>
        <p:spPr>
          <a:xfrm>
            <a:off x="17058132" y="31043880"/>
            <a:ext cx="118917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</a:rPr>
              <a:t>6 · One method, one variable: the solution</a:t>
            </a:r>
            <a:endParaRPr lang="en-US" sz="2800" dirty="0"/>
          </a:p>
        </p:txBody>
      </p:sp>
      <p:pic>
        <p:nvPicPr>
          <p:cNvPr id="56" name="Fluorescence polarization and circular dichroism side by side" descr="Fluorescence polarization and circular dichroism side by si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23692" y="31866840"/>
            <a:ext cx="7315200" cy="3072384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23413212" y="31912560"/>
            <a:ext cx="53995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Everything in solution — nothing immobilised, no surface</a:t>
            </a:r>
            <a:endParaRPr lang="en-US" sz="23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No wash: one buffer start to finish, at equilibrium</a:t>
            </a:r>
            <a:endParaRPr lang="en-US" sz="23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One plate scans ion identity, concentration and pH for all six</a:t>
            </a:r>
            <a:endParaRPr lang="en-US" sz="2300" dirty="0"/>
          </a:p>
          <a:p>
            <a:pPr marL="355600" indent="-355600">
              <a:spcAft>
                <a:spcPts val="900"/>
              </a:spcAft>
              <a:buSzPct val="100000"/>
              <a:buChar char="•"/>
            </a:pPr>
            <a:r>
              <a:rPr lang="en-US" sz="2300" dirty="0">
                <a:solidFill>
                  <a:schemeClr val="tx1"/>
                </a:solidFill>
              </a:rPr>
              <a:t>With CD: tells a change in fold from a change at the interface</a:t>
            </a:r>
            <a:endParaRPr lang="en-US" sz="2300" dirty="0"/>
          </a:p>
        </p:txBody>
      </p:sp>
      <p:sp>
        <p:nvSpPr>
          <p:cNvPr id="58" name="Shape 49"/>
          <p:cNvSpPr/>
          <p:nvPr/>
        </p:nvSpPr>
        <p:spPr>
          <a:xfrm>
            <a:off x="15915132" y="35158680"/>
            <a:ext cx="12897612" cy="1645920"/>
          </a:xfrm>
          <a:prstGeom prst="roundRect">
            <a:avLst>
              <a:gd name="adj" fmla="val 19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16280892" y="35341560"/>
            <a:ext cx="121660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The plan in one line:  </a:t>
            </a:r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</a:rPr>
              <a:t>test all six head-to-head by FP, vary ions and pH deliberately, and compare both how well each aptamer binds and how much its binding changes between conditions.</a:t>
            </a:r>
            <a:endParaRPr lang="en-US" sz="2800" dirty="0"/>
          </a:p>
        </p:txBody>
      </p:sp>
      <p:sp>
        <p:nvSpPr>
          <p:cNvPr id="60" name="Shape 51"/>
          <p:cNvSpPr/>
          <p:nvPr/>
        </p:nvSpPr>
        <p:spPr>
          <a:xfrm>
            <a:off x="914400" y="37536120"/>
            <a:ext cx="28446984" cy="4764024"/>
          </a:xfrm>
          <a:prstGeom prst="roundRect">
            <a:avLst>
              <a:gd name="adj" fmla="val 959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1645920" y="37947600"/>
            <a:ext cx="269839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2C14E"/>
                </a:solidFill>
              </a:rPr>
              <a:t>Takeaway:  </a:t>
            </a:r>
            <a:pPr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</a:rPr>
              <a:t>salt helps the fold, weakens the handshake, and changes the entropy of binding — so the binding we measure belongs to the sequence </a:t>
            </a:r>
            <a:pPr indent="0" marL="0">
              <a:lnSpc>
                <a:spcPct val="105000"/>
              </a:lnSpc>
              <a:buNone/>
            </a:pPr>
            <a:r>
              <a:rPr lang="en-US" sz="3200" b="1" i="1" dirty="0">
                <a:solidFill>
                  <a:srgbClr val="F2C14E"/>
                </a:solidFill>
              </a:rPr>
              <a:t>and its solution together</a:t>
            </a:r>
            <a:pPr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</a:rPr>
              <a:t>.</a:t>
            </a:r>
            <a:endParaRPr lang="en-US" sz="2800" dirty="0"/>
          </a:p>
        </p:txBody>
      </p:sp>
      <p:sp>
        <p:nvSpPr>
          <p:cNvPr id="62" name="Shape 53"/>
          <p:cNvSpPr/>
          <p:nvPr/>
        </p:nvSpPr>
        <p:spPr>
          <a:xfrm>
            <a:off x="1645920" y="39913560"/>
            <a:ext cx="8689848" cy="1837944"/>
          </a:xfrm>
          <a:prstGeom prst="roundRect">
            <a:avLst>
              <a:gd name="adj" fmla="val 17413"/>
            </a:avLst>
          </a:prstGeom>
          <a:solidFill>
            <a:schemeClr val="bg1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011680" y="39913560"/>
            <a:ext cx="795832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Fair buffer: each aptamer's own, or one shared condition for all six?</a:t>
            </a:r>
            <a:endParaRPr lang="en-US" sz="2600" dirty="0"/>
          </a:p>
        </p:txBody>
      </p:sp>
      <p:sp>
        <p:nvSpPr>
          <p:cNvPr id="64" name="Shape 55"/>
          <p:cNvSpPr/>
          <p:nvPr/>
        </p:nvSpPr>
        <p:spPr>
          <a:xfrm>
            <a:off x="10792968" y="39913560"/>
            <a:ext cx="8689848" cy="1837944"/>
          </a:xfrm>
          <a:prstGeom prst="roundRect">
            <a:avLst>
              <a:gd name="adj" fmla="val 17413"/>
            </a:avLst>
          </a:prstGeom>
          <a:solidFill>
            <a:schemeClr val="bg1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11158728" y="39913560"/>
            <a:ext cx="795832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far can stool be diluted before the question stops being realistic?</a:t>
            </a:r>
            <a:endParaRPr lang="en-US" sz="2600" dirty="0"/>
          </a:p>
        </p:txBody>
      </p:sp>
      <p:sp>
        <p:nvSpPr>
          <p:cNvPr id="66" name="Shape 57"/>
          <p:cNvSpPr/>
          <p:nvPr/>
        </p:nvSpPr>
        <p:spPr>
          <a:xfrm>
            <a:off x="19940016" y="39913560"/>
            <a:ext cx="8689848" cy="1837944"/>
          </a:xfrm>
          <a:prstGeom prst="roundRect">
            <a:avLst>
              <a:gd name="adj" fmla="val 17413"/>
            </a:avLst>
          </a:prstGeom>
          <a:solidFill>
            <a:schemeClr val="bg1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20305776" y="39913560"/>
            <a:ext cx="795832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Your experience with FP or CD in complex matrices — what caught you out?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tamer Poster">
  <a:themeElements>
    <a:clrScheme name="Aptamer Poster">
      <a:dk1>
        <a:srgbClr val="1B2A41"/>
      </a:dk1>
      <a:lt1>
        <a:srgbClr val="FFFFFF"/>
      </a:lt1>
      <a:dk2>
        <a:srgbClr val="5C6B7D"/>
      </a:dk2>
      <a:lt2>
        <a:srgbClr val="E3F2F1"/>
      </a:lt2>
      <a:accent1>
        <a:srgbClr val="138A8A"/>
      </a:accent1>
      <a:accent2>
        <a:srgbClr val="E85D4A"/>
      </a:accent2>
      <a:accent3>
        <a:srgbClr val="F2C14E"/>
      </a:accent3>
      <a:accent4>
        <a:srgbClr val="7A5BA6"/>
      </a:accent4>
      <a:accent5>
        <a:srgbClr val="7CC6C2"/>
      </a:accent5>
      <a:accent6>
        <a:srgbClr val="8A6A4F"/>
      </a:accent6>
      <a:hlink>
        <a:srgbClr val="138A8A"/>
      </a:hlink>
      <a:folHlink>
        <a:srgbClr val="7A5BA6"/>
      </a:folHlink>
    </a:clrScheme>
    <a:fontScheme name="Aptamer Post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Salt prepares the hand and weakens the handshake</dc:title>
  <dc:subject>PptxGenJS Presentation</dc:subject>
  <dc:creator>PptxGenJS</dc:creator>
  <cp:lastModifiedBy>PptxGenJS</cp:lastModifiedBy>
  <cp:revision>1</cp:revision>
  <dcterms:created xsi:type="dcterms:W3CDTF">2026-10-18T15:30:50Z</dcterms:created>
  <dcterms:modified xsi:type="dcterms:W3CDTF">2026-10-18T15:30:50Z</dcterms:modified>
</cp:coreProperties>
</file>