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4171d52-433b-0b2c-0580-1c8c1b28a2e5}">
          <p14:sldIdLst>
            <p14:sldId id="256"/>
            <p14:sldId id="257"/>
            <p14:sldId id="258"/>
          </p14:sldIdLst>
        </p14:section>
        <p14:section name="Roadmap" id="{aeac5b88-5035-021a-eafb-f78e5fdcb607}">
          <p14:sldIdLst>
            <p14:sldId id="259"/>
          </p14:sldIdLst>
        </p14:section>
        <p14:section name="WP1" id="{5a3d5c77-cc84-d393-844d-bf411c033271}">
          <p14:sldIdLst>
            <p14:sldId id="260"/>
            <p14:sldId id="261"/>
          </p14:sldIdLst>
        </p14:section>
        <p14:section name="WP2" id="{6077e5a2-529e-457e-f089-8aeba77c53b7}">
          <p14:sldIdLst>
            <p14:sldId id="262"/>
            <p14:sldId id="263"/>
            <p14:sldId id="264"/>
            <p14:sldId id="265"/>
          </p14:sldIdLst>
        </p14:section>
        <p14:section name="WP3" id="{edf00640-8ea4-3ee5-0552-1207fcda80ac}">
          <p14:sldIdLst>
            <p14:sldId id="266"/>
          </p14:sldIdLst>
        </p14:section>
        <p14:section name="Close" id="{8c42ea4d-8a2b-07b6-4484-c3ce026a30ed}">
          <p14:sldIdLst>
            <p14:sldId id="267"/>
            <p14:sldId id="268"/>
          </p14:sldIdLst>
        </p14:section>
        <p14:section name="Backup" id="{ac40bac6-d577-ba39-a361-a5351bd46cb2}">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mn-lt"/>
              </a:defRPr>
            </a:pPr>
            <a:r>
              <a:rPr sz="1400" b="0" i="0" u="none" strike="noStrike">
                <a:solidFill>
                  <a:srgbClr val="1B2A41"/>
                </a:solidFill>
                <a:latin typeface="+mn-lt"/>
              </a:rPr>
              <a:t>Illustrative binding curves</a:t>
            </a:r>
          </a:p>
        </c:rich>
      </c:tx>
      <c:layout/>
      <c:overlay val="0"/>
    </c:title>
    <c:autoTitleDeleted val="0"/>
    <c:plotArea>
      <c:layout/>
      <c:lineChart>
        <c:varyColors val="0"/>
        <c:ser>
          <c:idx val="0"/>
          <c:order val="0"/>
          <c:tx>
            <c:strRef>
              <c:f>Sheet1!$B$1</c:f>
              <c:strCache>
                <c:ptCount val="1"/>
                <c:pt idx="0">
                  <c:v>Apt-A (Kd 5 nM)</c:v>
                </c:pt>
              </c:strCache>
            </c:strRef>
          </c:tx>
          <c:spPr>
            <a:solidFill>
              <a:srgbClr val="138A8A"/>
            </a:solidFill>
            <a:ln w="38100" cap="flat">
              <a:solidFill>
                <a:srgbClr val="138A8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38A8A"/>
              </a:solidFill>
              <a:ln w="9525" cap="flat">
                <a:solidFill>
                  <a:srgbClr val="138A8A"/>
                </a:solidFill>
                <a:prstDash val="solid"/>
                <a:round/>
              </a:ln>
              <a:effectLst/>
            </c:spPr>
          </c:marker>
          <c:cat>
            <c:multiLvlStrRef>
              <c:f>Sheet1!$A$2:$A$10</c:f>
              <c:multiLvlStrCache>
                <c:ptCount val="9"/>
                <c:lvl>
                  <c:pt idx="0">
                    <c:v>0.1</c:v>
                  </c:pt>
                  <c:pt idx="1">
                    <c:v>0.3</c:v>
                  </c:pt>
                  <c:pt idx="2">
                    <c:v>1</c:v>
                  </c:pt>
                  <c:pt idx="3">
                    <c:v>3</c:v>
                  </c:pt>
                  <c:pt idx="4">
                    <c:v>10</c:v>
                  </c:pt>
                  <c:pt idx="5">
                    <c:v>30</c:v>
                  </c:pt>
                  <c:pt idx="6">
                    <c:v>100</c:v>
                  </c:pt>
                  <c:pt idx="7">
                    <c:v>300</c:v>
                  </c:pt>
                  <c:pt idx="8">
                    <c:v>1000</c:v>
                  </c:pt>
                </c:lvl>
              </c:multiLvlStrCache>
            </c:multiLvlStrRef>
          </c:cat>
          <c:val>
            <c:numRef>
              <c:f>Sheet1!$B$2:$B$10</c:f>
              <c:numCache>
                <c:formatCode>General</c:formatCode>
                <c:ptCount val="9"/>
                <c:pt idx="0">
                  <c:v>43</c:v>
                </c:pt>
                <c:pt idx="1">
                  <c:v>49</c:v>
                </c:pt>
                <c:pt idx="2">
                  <c:v>67</c:v>
                </c:pt>
                <c:pt idx="3">
                  <c:v>100</c:v>
                </c:pt>
                <c:pt idx="4">
                  <c:v>147</c:v>
                </c:pt>
                <c:pt idx="5">
                  <c:v>177</c:v>
                </c:pt>
                <c:pt idx="6">
                  <c:v>192</c:v>
                </c:pt>
                <c:pt idx="7">
                  <c:v>197</c:v>
                </c:pt>
                <c:pt idx="8">
                  <c:v>199</c:v>
                </c:pt>
              </c:numCache>
            </c:numRef>
          </c:val>
          <c:smooth val="0"/>
        </c:ser>
        <c:ser>
          <c:idx val="1"/>
          <c:order val="1"/>
          <c:tx>
            <c:strRef>
              <c:f>Sheet1!$C$1</c:f>
              <c:strCache>
                <c:ptCount val="1"/>
                <c:pt idx="0">
                  <c:v>Apt-B (Kd 80 nM)</c:v>
                </c:pt>
              </c:strCache>
            </c:strRef>
          </c:tx>
          <c:spPr>
            <a:solidFill>
              <a:srgbClr val="E85D4A"/>
            </a:solidFill>
            <a:ln w="38100" cap="flat">
              <a:solidFill>
                <a:srgbClr val="E85D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85D4A"/>
              </a:solidFill>
              <a:ln w="9525" cap="flat">
                <a:solidFill>
                  <a:srgbClr val="E85D4A"/>
                </a:solidFill>
                <a:prstDash val="solid"/>
                <a:round/>
              </a:ln>
              <a:effectLst/>
            </c:spPr>
          </c:marker>
          <c:cat>
            <c:multiLvlStrRef>
              <c:f>Sheet1!$A$2:$A$10</c:f>
              <c:multiLvlStrCache>
                <c:ptCount val="9"/>
                <c:lvl>
                  <c:pt idx="0">
                    <c:v>0.1</c:v>
                  </c:pt>
                  <c:pt idx="1">
                    <c:v>0.3</c:v>
                  </c:pt>
                  <c:pt idx="2">
                    <c:v>1</c:v>
                  </c:pt>
                  <c:pt idx="3">
                    <c:v>3</c:v>
                  </c:pt>
                  <c:pt idx="4">
                    <c:v>10</c:v>
                  </c:pt>
                  <c:pt idx="5">
                    <c:v>30</c:v>
                  </c:pt>
                  <c:pt idx="6">
                    <c:v>100</c:v>
                  </c:pt>
                  <c:pt idx="7">
                    <c:v>300</c:v>
                  </c:pt>
                  <c:pt idx="8">
                    <c:v>1000</c:v>
                  </c:pt>
                </c:lvl>
              </c:multiLvlStrCache>
            </c:multiLvlStrRef>
          </c:cat>
          <c:val>
            <c:numRef>
              <c:f>Sheet1!$C$2:$C$10</c:f>
              <c:numCache>
                <c:formatCode>General</c:formatCode>
                <c:ptCount val="9"/>
                <c:pt idx="0">
                  <c:v>40</c:v>
                </c:pt>
                <c:pt idx="1">
                  <c:v>41</c:v>
                </c:pt>
                <c:pt idx="2">
                  <c:v>42</c:v>
                </c:pt>
                <c:pt idx="3">
                  <c:v>46</c:v>
                </c:pt>
                <c:pt idx="4">
                  <c:v>58</c:v>
                </c:pt>
                <c:pt idx="5">
                  <c:v>84</c:v>
                </c:pt>
                <c:pt idx="6">
                  <c:v>129</c:v>
                </c:pt>
                <c:pt idx="7">
                  <c:v>166</c:v>
                </c:pt>
                <c:pt idx="8">
                  <c:v>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C6B7D"/>
                    </a:solidFill>
                    <a:latin typeface="Arial"/>
                  </a:defRPr>
                </a:pPr>
                <a:r>
                  <a:rPr sz="1100" b="0" i="0" u="none" strike="noStrike">
                    <a:solidFill>
                      <a:srgbClr val="5C6B7D"/>
                    </a:solidFill>
                    <a:latin typeface="Arial"/>
                  </a:rPr>
                  <a:t>[target] (nM, log steps)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6B7D"/>
                </a:solidFill>
                <a:latin typeface="+mn-lt"/>
              </a:defRPr>
            </a:pPr>
            <a:endParaRPr lang="en-US"/>
          </a:p>
        </c:txPr>
        <c:crossAx val="2094734552"/>
        <c:crosses val="autoZero"/>
        <c:auto val="1"/>
        <c:lblAlgn val="ctr"/>
        <c:noMultiLvlLbl val="1"/>
      </c:catAx>
      <c:valAx>
        <c:axId val="2094734552"/>
        <c:scaling>
          <c:orientation val="minMax"/>
          <c:max val="220"/>
          <c:min val="0"/>
        </c:scaling>
        <c:delete val="0"/>
        <c:axPos val="l"/>
        <c:majorGridlines>
          <c:spPr>
            <a:ln w="6350" cap="flat">
              <a:solidFill>
                <a:srgbClr val="E1E7EC"/>
              </a:solidFill>
              <a:prstDash val="solid"/>
              <a:round/>
            </a:ln>
          </c:spPr>
        </c:majorGridlines>
        <c:title>
          <c:tx>
            <c:rich>
              <a:bodyPr/>
              <a:lstStyle/>
              <a:p>
                <a:pPr>
                  <a:defRPr sz="1100" b="0" i="0" u="none" strike="noStrike">
                    <a:solidFill>
                      <a:srgbClr val="5C6B7D"/>
                    </a:solidFill>
                    <a:latin typeface="Arial"/>
                  </a:defRPr>
                </a:pPr>
                <a:r>
                  <a:rPr sz="1100" b="0" i="0" u="none" strike="noStrike">
                    <a:solidFill>
                      <a:srgbClr val="5C6B7D"/>
                    </a:solidFill>
                    <a:latin typeface="Arial"/>
                  </a:rPr>
                  <a:t>polarization (mP)</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6B7D"/>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Imagine looking for three specific viruses in a sample that contains a trillion bacteria per gram, food remains, bile, salts and pigments — and you need the answer in minutes, not days. That is my PhD in one sentence. Today I'll show you how I'm trying to build such a test, and the surprise that changed my plan along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Quick reminder from last time: in faecal microbiota transplantation, stool from a healthy donor becomes a medicine, so every donation must be free of pathogens. Today donors are screened with PCR panels in a central lab. That takes days, and it only tells you about the sample you tested — not the next donation. What's missing is a test that can run at every donation, on site, 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This is not just an FMT problem. Clinical diagnostics, food safety and wastewater surveillance all face the same challenge: find a rare target in a crowded, variable matrix. Rapid tests usually rely on antibodies. I use aptamers — short DNA strands that fold into a 3D shape and bind a target. They are made chemically, so every batch is identical; they're cheap, stable and easy to label. But here's the catch relevant to the field: most published aptamer sensors are characterised in clean buffer. Far fewer are tested in real samples like stool. That gap is where my project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My project has three work packages. WP1 asks whether a donor's viruses change over time — which tells us how often we need to test. WP2 asks which aptamer is the best binder, in buffer and in stool. And WP3 turns the winner into a paper-strip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WP1 is a longitudinal study. We follow the same donors and collect stool repeatedly over [time frame]. In each sample we look for enteric viruses — whether they're present, how much, and how diverse — using [method]. We're currently at [status]. I don't have results yet, so on the next slide I'll show you what we expect and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Our hypothesis: a donor who tests negative today might shed a virus next week — shedding can be intermittent, often without symptoms. If WP1 confirms this, one screen per donor is not enough. You'd want to test every donation, and that is only realistic if the test is rapid and cheap. That's what WP2 and WP3 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For [target], several aptamers have been published — I'm comparing [number] of them. They differ in sequence, in shape and in where they came from. To pick a winner I need three things: affinity — how tightly they bind; specificity — they shouldn't grab other viruses; and robustness — does the ranking hold when we move from clean buffer into stool? That last question is the one nobody has really answered.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My first choice was an ELISA-style assay: coat the target in a plate, add the labelled aptamer, wash, and let an enzyme make colour. It's familiar, everything is in the lab, I can test many aptamers and buffers in one plate, and the colour readout resembles what the final strip will do. It seemed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And then the plot twist. The signals were [weak / inconsistent], and the ranking of the aptamers didn't make sense. Looking closer, ELISA has four problems for this question. One: the surface. Immobilising the target or the aptamer can change how they fold and bind. Two: washing. Aptamers often bind and release quickly, so the washes remove exactly the binders I want to measure. Three: buffer. Each aptamer was selected in its own salt conditions — magnesium, potassium — and one shared wash buffer is unfair to some of them. Four: stool adds background. So ELISA was telling me more about the assay than about the aptamers.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So I switched to fluorescence polarization. The idea is simple: attach a small dye to the aptamer and excite it with polarized light. A free aptamer is small and tumbles fast, so the emitted light is scrambled — low polarization. When it binds the much bigger virus, it tumbles slowly and the light stays polarized — high polarization. Everything happens in solution: no surface, no washes, just mix and read. I can titrate the target, get a real equilibrium Kd for each aptamer, and do it in each aptamer's preferred buffer, in a common buffer, and in diluted stool. These curves are illustrative — [first FP data: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In WP3 the winning aptamer goes onto a lateral flow strip — the same format as a pregnancy or COVID test. The stool extract flows along the strip, picks up aptamer-coated gold nanoparticles, and if the virus is there, a red test line appears. The plan: pick the best aptamer from the FP comparison, build the strip, and validate it with spiked and real donor samples against PCR. The goal is a result in about fifteen minutes, read by eye.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To wrap up: WP1 will tell us whether donors need testing at every donation. WP2 taught me that how you measure aptamer binding shapes the answer — so I compare them in solution and in the real matrix. WP3 turns the winner into a fifteen-minute strip. And beyond FMT: any rapid test that has to work in a messy sample needs binders that were validated in that sample. Back to the magnifying glass — finding a few viruses in a crowded sample, fast. If you want the full story of why salt makes this so tricky, come to my poster.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6035040" cy="23774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326880" cy="9144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6035040" cy="2377440"/>
          </a:xfrm>
          <a:prstGeom prst="rect">
            <a:avLst/>
          </a:prstGeom>
          <a:noFill/>
          <a:ln/>
        </p:spPr>
        <p:txBody>
          <a:bodyPr wrap="square" rtlCol="0" anchor="t"/>
          <a:lstStyle/>
          <a:p>
            <a:pPr algn="l" indent="0" marL="0">
              <a:buNone/>
            </a:pPr>
            <a:r>
              <a:rPr lang="en-US" sz="4400" b="1" dirty="0">
                <a:solidFill>
                  <a:schemeClr val="bg1"/>
                </a:solidFill>
              </a:rPr>
              <a:t>Finding a few viruses in a very crowded sample — fast</a:t>
            </a:r>
            <a:endParaRPr lang="en-US" sz="4400" dirty="0"/>
          </a:p>
        </p:txBody>
      </p:sp>
      <p:sp>
        <p:nvSpPr>
          <p:cNvPr id="3" name="Text 1"/>
          <p:cNvSpPr txBox="1"/>
          <p:nvPr/>
        </p:nvSpPr>
        <p:spPr>
          <a:xfrm>
            <a:off x="640080" y="3931920"/>
            <a:ext cx="5852160" cy="457200"/>
          </a:xfrm>
          <a:prstGeom prst="rect">
            <a:avLst/>
          </a:prstGeom>
          <a:noFill/>
          <a:ln/>
        </p:spPr>
        <p:txBody>
          <a:bodyPr wrap="square" lIns="0" tIns="0" rIns="0" bIns="0" rtlCol="0" anchor="t"/>
          <a:lstStyle/>
          <a:p>
            <a:pPr indent="0" marL="0">
              <a:buNone/>
            </a:pPr>
            <a:r>
              <a:rPr lang="en-US" sz="2200" dirty="0">
                <a:solidFill>
                  <a:schemeClr val="accent5"/>
                </a:solidFill>
              </a:rPr>
              <a:t>Aptamer-based rapid viral screening of donor stool</a:t>
            </a:r>
            <a:endParaRPr lang="en-US" sz="2200" dirty="0"/>
          </a:p>
        </p:txBody>
      </p:sp>
      <p:sp>
        <p:nvSpPr>
          <p:cNvPr id="4" name="Text 2"/>
          <p:cNvSpPr txBox="1"/>
          <p:nvPr/>
        </p:nvSpPr>
        <p:spPr>
          <a:xfrm>
            <a:off x="640080" y="5852160"/>
            <a:ext cx="5852160" cy="365760"/>
          </a:xfrm>
          <a:prstGeom prst="rect">
            <a:avLst/>
          </a:prstGeom>
          <a:noFill/>
          <a:ln/>
        </p:spPr>
        <p:txBody>
          <a:bodyPr wrap="square" lIns="0" tIns="0" rIns="0" bIns="0" rtlCol="0" anchor="t"/>
          <a:lstStyle/>
          <a:p>
            <a:pPr indent="0" marL="0">
              <a:buNone/>
            </a:pPr>
            <a:r>
              <a:rPr lang="en-US" sz="1500" dirty="0">
                <a:solidFill>
                  <a:schemeClr val="bg2"/>
                </a:solidFill>
              </a:rPr>
              <a:t>[Your name]  ·  [Lab / supervisors]  ·  PhD Retreat 2026</a:t>
            </a:r>
            <a:endParaRPr lang="en-US" sz="1500" dirty="0"/>
          </a:p>
        </p:txBody>
      </p:sp>
      <p:sp>
        <p:nvSpPr>
          <p:cNvPr id="5" name="hook-backdrop"/>
          <p:cNvSpPr/>
          <p:nvPr/>
        </p:nvSpPr>
        <p:spPr>
          <a:xfrm>
            <a:off x="6995160" y="685800"/>
            <a:ext cx="5120640" cy="5120640"/>
          </a:xfrm>
          <a:prstGeom prst="ellipse">
            <a:avLst/>
          </a:prstGeom>
          <a:solidFill>
            <a:schemeClr val="bg1"/>
          </a:solidFill>
          <a:ln w="12700">
            <a:solidFill>
              <a:schemeClr val="bg1"/>
            </a:solidFill>
            <a:prstDash val="solid"/>
          </a:ln>
        </p:spPr>
      </p:sp>
      <p:pic>
        <p:nvPicPr>
          <p:cNvPr id="6" name="Magnifier finding three viruses among bacteria and debris" descr="Magnifier finding three viruses among bacteria and debris">    </p:cNvPr>
          <p:cNvPicPr>
            <a:picLocks noChangeAspect="1"/>
          </p:cNvPicPr>
          <p:nvPr/>
        </p:nvPicPr>
        <p:blipFill>
          <a:blip r:embed="rId1"/>
          <a:stretch>
            <a:fillRect/>
          </a:stretch>
        </p:blipFill>
        <p:spPr>
          <a:xfrm>
            <a:off x="7223760" y="914400"/>
            <a:ext cx="4663440" cy="408051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326880" cy="914400"/>
          </a:xfrm>
          <a:prstGeom prst="rect">
            <a:avLst/>
          </a:prstGeom>
          <a:noFill/>
          <a:ln/>
        </p:spPr>
        <p:txBody>
          <a:bodyPr wrap="square" lIns="0" tIns="0" rIns="0" bIns="0" rtlCol="0" anchor="ctr"/>
          <a:lstStyle/>
          <a:p>
            <a:pPr algn="l" indent="0" marL="0">
              <a:buNone/>
            </a:pPr>
            <a:r>
              <a:rPr lang="en-US" sz="3200" b="1" dirty="0">
                <a:solidFill>
                  <a:schemeClr val="tx1"/>
                </a:solidFill>
              </a:rPr>
              <a:t>Recap: safe donors need a faster virus check</a:t>
            </a:r>
            <a:endParaRPr lang="en-US" sz="3200" dirty="0"/>
          </a:p>
        </p:txBody>
      </p:sp>
      <p:pic>
        <p:nvPicPr>
          <p:cNvPr id="3" name="Timeline: central-lab PCR takes days versus a 15-minute rapid test" descr="Timeline: central-lab PCR takes days versus a 15-minute rapid test">    </p:cNvPr>
          <p:cNvPicPr>
            <a:picLocks noChangeAspect="1"/>
          </p:cNvPicPr>
          <p:nvPr/>
        </p:nvPicPr>
        <p:blipFill>
          <a:blip r:embed="rId1"/>
          <a:stretch>
            <a:fillRect/>
          </a:stretch>
        </p:blipFill>
        <p:spPr>
          <a:xfrm>
            <a:off x="640080" y="1600200"/>
            <a:ext cx="8503920" cy="2927579"/>
          </a:xfrm>
          <a:prstGeom prst="rect">
            <a:avLst/>
          </a:prstGeom>
        </p:spPr>
      </p:pic>
      <p:sp>
        <p:nvSpPr>
          <p:cNvPr id="4" name="Shape 1"/>
          <p:cNvSpPr/>
          <p:nvPr/>
        </p:nvSpPr>
        <p:spPr>
          <a:xfrm>
            <a:off x="9418320" y="1600200"/>
            <a:ext cx="2240280" cy="1828800"/>
          </a:xfrm>
          <a:prstGeom prst="roundRect">
            <a:avLst>
              <a:gd name="adj" fmla="val 6000"/>
            </a:avLst>
          </a:prstGeom>
          <a:solidFill>
            <a:schemeClr val="bg2"/>
          </a:solidFill>
          <a:ln w="12700">
            <a:solidFill>
              <a:schemeClr val="bg2"/>
            </a:solidFill>
            <a:prstDash val="solid"/>
          </a:ln>
        </p:spPr>
      </p:sp>
      <p:sp>
        <p:nvSpPr>
          <p:cNvPr id="5" name="Text 2"/>
          <p:cNvSpPr txBox="1"/>
          <p:nvPr/>
        </p:nvSpPr>
        <p:spPr>
          <a:xfrm>
            <a:off x="9601200" y="1737360"/>
            <a:ext cx="1874520" cy="1554480"/>
          </a:xfrm>
          <a:prstGeom prst="rect">
            <a:avLst/>
          </a:prstGeom>
          <a:noFill/>
          <a:ln/>
        </p:spPr>
        <p:txBody>
          <a:bodyPr wrap="square" lIns="0" tIns="0" rIns="0" bIns="0" rtlCol="0" anchor="t"/>
          <a:lstStyle/>
          <a:p>
            <a:pPr indent="0" marL="0">
              <a:spcAft>
                <a:spcPts val="400"/>
              </a:spcAft>
              <a:buNone/>
            </a:pPr>
            <a:r>
              <a:rPr lang="en-US" sz="1700" b="1" dirty="0">
                <a:solidFill>
                  <a:schemeClr val="accent2"/>
                </a:solidFill>
              </a:rPr>
              <a:t>The gap</a:t>
            </a:r>
            <a:endParaRPr lang="en-US" sz="1600" dirty="0"/>
          </a:p>
          <a:p>
            <a:pPr indent="0" marL="0">
              <a:spcAft>
                <a:spcPts val="400"/>
              </a:spcAft>
              <a:buNone/>
            </a:pPr>
            <a:r>
              <a:rPr lang="en-US" sz="1500" dirty="0">
                <a:solidFill>
                  <a:schemeClr val="tx1"/>
                </a:solidFill>
              </a:rPr>
              <a:t>A test that can run at every donation, on site, in minutes</a:t>
            </a:r>
            <a:endParaRPr lang="en-US" sz="1600" dirty="0"/>
          </a:p>
        </p:txBody>
      </p:sp>
      <p:sp>
        <p:nvSpPr>
          <p:cNvPr id="6" name="Text 3"/>
          <p:cNvSpPr txBox="1"/>
          <p:nvPr/>
        </p:nvSpPr>
        <p:spPr>
          <a:xfrm>
            <a:off x="640080" y="5120640"/>
            <a:ext cx="10881360" cy="731520"/>
          </a:xfrm>
          <a:prstGeom prst="rect">
            <a:avLst/>
          </a:prstGeom>
          <a:noFill/>
          <a:ln/>
        </p:spPr>
        <p:txBody>
          <a:bodyPr wrap="square" lIns="0" tIns="0" rIns="0" bIns="0" rtlCol="0" anchor="t"/>
          <a:lstStyle/>
          <a:p>
            <a:pPr indent="0" marL="0">
              <a:buNone/>
            </a:pPr>
            <a:r>
              <a:rPr lang="en-US" sz="1800" i="1" dirty="0">
                <a:solidFill>
                  <a:schemeClr val="tx2"/>
                </a:solidFill>
              </a:rPr>
              <a:t>FMT works — but every donation must be pathogen-free, and today's screening is slow and periodic.</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326880" cy="914400"/>
          </a:xfrm>
          <a:prstGeom prst="rect">
            <a:avLst/>
          </a:prstGeom>
          <a:noFill/>
          <a:ln/>
        </p:spPr>
        <p:txBody>
          <a:bodyPr wrap="square" lIns="0" tIns="0" rIns="0" bIns="0" rtlCol="0" anchor="ctr"/>
          <a:lstStyle/>
          <a:p>
            <a:pPr algn="l" indent="0" marL="0">
              <a:buNone/>
            </a:pPr>
            <a:r>
              <a:rPr lang="en-US" sz="3200" b="1" dirty="0">
                <a:solidFill>
                  <a:schemeClr val="tx1"/>
                </a:solidFill>
              </a:rPr>
              <a:t>The bigger problem: detection in messy samples</a:t>
            </a:r>
            <a:endParaRPr lang="en-US" sz="3200" dirty="0"/>
          </a:p>
        </p:txBody>
      </p:sp>
      <p:sp>
        <p:nvSpPr>
          <p:cNvPr id="3" name="Shape 1"/>
          <p:cNvSpPr/>
          <p:nvPr/>
        </p:nvSpPr>
        <p:spPr>
          <a:xfrm>
            <a:off x="548640" y="1554480"/>
            <a:ext cx="3291840" cy="960120"/>
          </a:xfrm>
          <a:prstGeom prst="roundRect">
            <a:avLst>
              <a:gd name="adj" fmla="val 11429"/>
            </a:avLst>
          </a:prstGeom>
          <a:solidFill>
            <a:schemeClr val="bg2"/>
          </a:solidFill>
          <a:ln w="12700">
            <a:solidFill>
              <a:schemeClr val="bg2"/>
            </a:solidFill>
            <a:prstDash val="solid"/>
          </a:ln>
        </p:spPr>
      </p:sp>
      <p:sp>
        <p:nvSpPr>
          <p:cNvPr id="4" name="Text 2"/>
          <p:cNvSpPr txBox="1"/>
          <p:nvPr/>
        </p:nvSpPr>
        <p:spPr>
          <a:xfrm>
            <a:off x="731520" y="1691640"/>
            <a:ext cx="2926080" cy="68580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Clinical</a:t>
            </a:r>
            <a:endParaRPr lang="en-US" sz="1600" dirty="0"/>
          </a:p>
          <a:p>
            <a:pPr indent="0" marL="0">
              <a:spcAft>
                <a:spcPts val="400"/>
              </a:spcAft>
              <a:buNone/>
            </a:pPr>
            <a:r>
              <a:rPr lang="en-US" sz="1500" dirty="0">
                <a:solidFill>
                  <a:schemeClr val="tx1"/>
                </a:solidFill>
              </a:rPr>
              <a:t>stool, blood, saliva</a:t>
            </a:r>
            <a:endParaRPr lang="en-US" sz="1600" dirty="0"/>
          </a:p>
        </p:txBody>
      </p:sp>
      <p:sp>
        <p:nvSpPr>
          <p:cNvPr id="5" name="Shape 3"/>
          <p:cNvSpPr/>
          <p:nvPr/>
        </p:nvSpPr>
        <p:spPr>
          <a:xfrm>
            <a:off x="548640" y="2697480"/>
            <a:ext cx="3291840" cy="960120"/>
          </a:xfrm>
          <a:prstGeom prst="roundRect">
            <a:avLst>
              <a:gd name="adj" fmla="val 11429"/>
            </a:avLst>
          </a:prstGeom>
          <a:solidFill>
            <a:schemeClr val="bg2"/>
          </a:solidFill>
          <a:ln w="12700">
            <a:solidFill>
              <a:schemeClr val="bg2"/>
            </a:solidFill>
            <a:prstDash val="solid"/>
          </a:ln>
        </p:spPr>
      </p:sp>
      <p:sp>
        <p:nvSpPr>
          <p:cNvPr id="6" name="Text 4"/>
          <p:cNvSpPr txBox="1"/>
          <p:nvPr/>
        </p:nvSpPr>
        <p:spPr>
          <a:xfrm>
            <a:off x="731520" y="2834640"/>
            <a:ext cx="2926080" cy="68580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Food</a:t>
            </a:r>
            <a:endParaRPr lang="en-US" sz="1600" dirty="0"/>
          </a:p>
          <a:p>
            <a:pPr indent="0" marL="0">
              <a:spcAft>
                <a:spcPts val="400"/>
              </a:spcAft>
              <a:buNone/>
            </a:pPr>
            <a:r>
              <a:rPr lang="en-US" sz="1500" dirty="0">
                <a:solidFill>
                  <a:schemeClr val="tx1"/>
                </a:solidFill>
              </a:rPr>
              <a:t>e.g. norovirus in shellfish</a:t>
            </a:r>
            <a:endParaRPr lang="en-US" sz="1600" dirty="0"/>
          </a:p>
        </p:txBody>
      </p:sp>
      <p:sp>
        <p:nvSpPr>
          <p:cNvPr id="7" name="Shape 5"/>
          <p:cNvSpPr/>
          <p:nvPr/>
        </p:nvSpPr>
        <p:spPr>
          <a:xfrm>
            <a:off x="548640" y="3840480"/>
            <a:ext cx="3291840" cy="960120"/>
          </a:xfrm>
          <a:prstGeom prst="roundRect">
            <a:avLst>
              <a:gd name="adj" fmla="val 11429"/>
            </a:avLst>
          </a:prstGeom>
          <a:solidFill>
            <a:schemeClr val="bg2"/>
          </a:solidFill>
          <a:ln w="12700">
            <a:solidFill>
              <a:schemeClr val="bg2"/>
            </a:solidFill>
            <a:prstDash val="solid"/>
          </a:ln>
        </p:spPr>
      </p:sp>
      <p:sp>
        <p:nvSpPr>
          <p:cNvPr id="8" name="Text 6"/>
          <p:cNvSpPr txBox="1"/>
          <p:nvPr/>
        </p:nvSpPr>
        <p:spPr>
          <a:xfrm>
            <a:off x="731520" y="3977640"/>
            <a:ext cx="2926080" cy="68580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Environment</a:t>
            </a:r>
            <a:endParaRPr lang="en-US" sz="1600" dirty="0"/>
          </a:p>
          <a:p>
            <a:pPr indent="0" marL="0">
              <a:spcAft>
                <a:spcPts val="400"/>
              </a:spcAft>
              <a:buNone/>
            </a:pPr>
            <a:r>
              <a:rPr lang="en-US" sz="1500" dirty="0">
                <a:solidFill>
                  <a:schemeClr val="tx1"/>
                </a:solidFill>
              </a:rPr>
              <a:t>wastewater surveillance</a:t>
            </a:r>
            <a:endParaRPr lang="en-US" sz="1600" dirty="0"/>
          </a:p>
        </p:txBody>
      </p:sp>
      <p:sp>
        <p:nvSpPr>
          <p:cNvPr id="9" name="Text 7"/>
          <p:cNvSpPr txBox="1"/>
          <p:nvPr/>
        </p:nvSpPr>
        <p:spPr>
          <a:xfrm>
            <a:off x="548640" y="5074920"/>
            <a:ext cx="3291840" cy="914400"/>
          </a:xfrm>
          <a:prstGeom prst="rect">
            <a:avLst/>
          </a:prstGeom>
          <a:noFill/>
          <a:ln/>
        </p:spPr>
        <p:txBody>
          <a:bodyPr wrap="square" lIns="0" tIns="0" rIns="0" bIns="0" rtlCol="0" anchor="t"/>
          <a:lstStyle/>
          <a:p>
            <a:pPr indent="0" marL="0">
              <a:buNone/>
            </a:pPr>
            <a:r>
              <a:rPr lang="en-US" sz="1500" i="1" dirty="0">
                <a:solidFill>
                  <a:schemeClr val="tx2"/>
                </a:solidFill>
              </a:rPr>
              <a:t>Same challenge everywhere: a rare target in a crowded, variable matrix</a:t>
            </a:r>
            <a:endParaRPr lang="en-US" sz="1500" dirty="0"/>
          </a:p>
        </p:txBody>
      </p:sp>
      <p:pic>
        <p:nvPicPr>
          <p:cNvPr id="10" name="Antibody versus aptamer comparison" descr="Antibody versus aptamer comparison">    </p:cNvPr>
          <p:cNvPicPr>
            <a:picLocks noChangeAspect="1"/>
          </p:cNvPicPr>
          <p:nvPr/>
        </p:nvPicPr>
        <p:blipFill>
          <a:blip r:embed="rId1"/>
          <a:stretch>
            <a:fillRect/>
          </a:stretch>
        </p:blipFill>
        <p:spPr>
          <a:xfrm>
            <a:off x="4206240" y="1554480"/>
            <a:ext cx="7406640" cy="3456432"/>
          </a:xfrm>
          <a:prstGeom prst="rect">
            <a:avLst/>
          </a:prstGeom>
        </p:spPr>
      </p:pic>
      <p:sp>
        <p:nvSpPr>
          <p:cNvPr id="11" name="Shape 8"/>
          <p:cNvSpPr/>
          <p:nvPr/>
        </p:nvSpPr>
        <p:spPr>
          <a:xfrm>
            <a:off x="4206240" y="5257800"/>
            <a:ext cx="7406640" cy="777240"/>
          </a:xfrm>
          <a:prstGeom prst="roundRect">
            <a:avLst>
              <a:gd name="adj" fmla="val 11765"/>
            </a:avLst>
          </a:prstGeom>
          <a:solidFill>
            <a:schemeClr val="tx1"/>
          </a:solidFill>
          <a:ln w="12700">
            <a:solidFill>
              <a:schemeClr val="tx1"/>
            </a:solidFill>
            <a:prstDash val="solid"/>
          </a:ln>
        </p:spPr>
      </p:sp>
      <p:sp>
        <p:nvSpPr>
          <p:cNvPr id="12" name="Text 9"/>
          <p:cNvSpPr txBox="1"/>
          <p:nvPr/>
        </p:nvSpPr>
        <p:spPr>
          <a:xfrm>
            <a:off x="4389120" y="5257800"/>
            <a:ext cx="7040880" cy="777240"/>
          </a:xfrm>
          <a:prstGeom prst="rect">
            <a:avLst/>
          </a:prstGeom>
          <a:noFill/>
          <a:ln/>
        </p:spPr>
        <p:txBody>
          <a:bodyPr wrap="square" lIns="0" tIns="0" rIns="0" bIns="0" rtlCol="0" anchor="ctr"/>
          <a:lstStyle/>
          <a:p>
            <a:pPr indent="0" marL="0">
              <a:buNone/>
            </a:pPr>
            <a:r>
              <a:rPr lang="en-US" sz="1600" b="1" dirty="0">
                <a:solidFill>
                  <a:schemeClr val="bg1"/>
                </a:solidFill>
              </a:rPr>
              <a:t>Most aptamer sensors are characterised in clean buffer; few are tested in stool  [add ref]</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326880" cy="914400"/>
          </a:xfrm>
          <a:prstGeom prst="rect">
            <a:avLst/>
          </a:prstGeom>
          <a:noFill/>
          <a:ln/>
        </p:spPr>
        <p:txBody>
          <a:bodyPr wrap="square" lIns="0" tIns="0" rIns="0" bIns="0" rtlCol="0" anchor="ctr"/>
          <a:lstStyle/>
          <a:p>
            <a:pPr algn="l" indent="0" marL="0">
              <a:buNone/>
            </a:pPr>
            <a:r>
              <a:rPr lang="en-US" sz="3200" b="1" dirty="0">
                <a:solidFill>
                  <a:schemeClr val="tx1"/>
                </a:solidFill>
              </a:rPr>
              <a:t>Three work packages, one question each</a:t>
            </a:r>
            <a:endParaRPr lang="en-US" sz="3200" dirty="0"/>
          </a:p>
        </p:txBody>
      </p:sp>
      <p:sp>
        <p:nvSpPr>
          <p:cNvPr id="3" name="Shape 1"/>
          <p:cNvSpPr/>
          <p:nvPr/>
        </p:nvSpPr>
        <p:spPr>
          <a:xfrm>
            <a:off x="1737360" y="2880360"/>
            <a:ext cx="8686800" cy="0"/>
          </a:xfrm>
          <a:prstGeom prst="line">
            <a:avLst/>
          </a:prstGeom>
          <a:noFill/>
          <a:ln w="50800">
            <a:solidFill>
              <a:schemeClr val="accent5"/>
            </a:solidFill>
            <a:prstDash val="dash"/>
          </a:ln>
        </p:spPr>
      </p:sp>
      <p:sp>
        <p:nvSpPr>
          <p:cNvPr id="4" name="roadmap-WP1"/>
          <p:cNvSpPr/>
          <p:nvPr/>
        </p:nvSpPr>
        <p:spPr>
          <a:xfrm>
            <a:off x="1737360" y="2148840"/>
            <a:ext cx="1463040" cy="1463040"/>
          </a:xfrm>
          <a:prstGeom prst="ellipse">
            <a:avLst/>
          </a:prstGeom>
          <a:solidFill>
            <a:schemeClr val="accent1"/>
          </a:solidFill>
          <a:ln w="50800">
            <a:solidFill>
              <a:schemeClr val="bg1"/>
            </a:solidFill>
            <a:prstDash val="solid"/>
          </a:ln>
        </p:spPr>
      </p:sp>
      <p:sp>
        <p:nvSpPr>
          <p:cNvPr id="5" name="Text 3"/>
          <p:cNvSpPr txBox="1"/>
          <p:nvPr/>
        </p:nvSpPr>
        <p:spPr>
          <a:xfrm>
            <a:off x="1737360" y="2148840"/>
            <a:ext cx="1463040" cy="1463040"/>
          </a:xfrm>
          <a:prstGeom prst="rect">
            <a:avLst/>
          </a:prstGeom>
          <a:noFill/>
          <a:ln/>
        </p:spPr>
        <p:txBody>
          <a:bodyPr wrap="square" lIns="0" tIns="0" rIns="0" bIns="0" rtlCol="0" anchor="ctr"/>
          <a:lstStyle/>
          <a:p>
            <a:pPr algn="ctr" indent="0" marL="0">
              <a:buNone/>
            </a:pPr>
            <a:r>
              <a:rPr lang="en-US" sz="2600" b="1" dirty="0">
                <a:solidFill>
                  <a:schemeClr val="bg1"/>
                </a:solidFill>
              </a:rPr>
              <a:t>WP1</a:t>
            </a:r>
            <a:endParaRPr lang="en-US" sz="2600" dirty="0"/>
          </a:p>
        </p:txBody>
      </p:sp>
      <p:sp>
        <p:nvSpPr>
          <p:cNvPr id="6" name="Text 4"/>
          <p:cNvSpPr txBox="1"/>
          <p:nvPr/>
        </p:nvSpPr>
        <p:spPr>
          <a:xfrm>
            <a:off x="914400" y="3931920"/>
            <a:ext cx="3108960" cy="914400"/>
          </a:xfrm>
          <a:prstGeom prst="rect">
            <a:avLst/>
          </a:prstGeom>
          <a:noFill/>
          <a:ln/>
        </p:spPr>
        <p:txBody>
          <a:bodyPr wrap="square" lIns="0" tIns="0" rIns="0" bIns="0" rtlCol="0" anchor="t"/>
          <a:lstStyle/>
          <a:p>
            <a:pPr algn="ctr" indent="0" marL="0">
              <a:buNone/>
            </a:pPr>
            <a:r>
              <a:rPr lang="en-US" sz="1900" b="1" dirty="0">
                <a:solidFill>
                  <a:schemeClr val="tx1"/>
                </a:solidFill>
              </a:rPr>
              <a:t>Does a donor's virome change over time?</a:t>
            </a:r>
            <a:endParaRPr lang="en-US" sz="1900" dirty="0"/>
          </a:p>
        </p:txBody>
      </p:sp>
      <p:sp>
        <p:nvSpPr>
          <p:cNvPr id="7" name="Text 5"/>
          <p:cNvSpPr txBox="1"/>
          <p:nvPr/>
        </p:nvSpPr>
        <p:spPr>
          <a:xfrm>
            <a:off x="914400" y="4892040"/>
            <a:ext cx="3108960" cy="457200"/>
          </a:xfrm>
          <a:prstGeom prst="rect">
            <a:avLst/>
          </a:prstGeom>
          <a:noFill/>
          <a:ln/>
        </p:spPr>
        <p:txBody>
          <a:bodyPr wrap="square" lIns="0" tIns="0" rIns="0" bIns="0" rtlCol="0" anchor="t"/>
          <a:lstStyle/>
          <a:p>
            <a:pPr algn="ctr" indent="0" marL="0">
              <a:buNone/>
            </a:pPr>
            <a:r>
              <a:rPr lang="en-US" sz="1500" i="1" dirty="0">
                <a:solidFill>
                  <a:schemeClr val="tx2"/>
                </a:solidFill>
              </a:rPr>
              <a:t>→ why we need a rapid test</a:t>
            </a:r>
            <a:endParaRPr lang="en-US" sz="1500" dirty="0"/>
          </a:p>
        </p:txBody>
      </p:sp>
      <p:sp>
        <p:nvSpPr>
          <p:cNvPr id="8" name="roadmap-WP2"/>
          <p:cNvSpPr/>
          <p:nvPr/>
        </p:nvSpPr>
        <p:spPr>
          <a:xfrm>
            <a:off x="5486400" y="2148840"/>
            <a:ext cx="1463040" cy="1463040"/>
          </a:xfrm>
          <a:prstGeom prst="ellipse">
            <a:avLst/>
          </a:prstGeom>
          <a:solidFill>
            <a:schemeClr val="accent2"/>
          </a:solidFill>
          <a:ln w="50800">
            <a:solidFill>
              <a:schemeClr val="bg1"/>
            </a:solidFill>
            <a:prstDash val="solid"/>
          </a:ln>
        </p:spPr>
      </p:sp>
      <p:sp>
        <p:nvSpPr>
          <p:cNvPr id="9" name="Text 7"/>
          <p:cNvSpPr txBox="1"/>
          <p:nvPr/>
        </p:nvSpPr>
        <p:spPr>
          <a:xfrm>
            <a:off x="5486400" y="2148840"/>
            <a:ext cx="1463040" cy="1463040"/>
          </a:xfrm>
          <a:prstGeom prst="rect">
            <a:avLst/>
          </a:prstGeom>
          <a:noFill/>
          <a:ln/>
        </p:spPr>
        <p:txBody>
          <a:bodyPr wrap="square" lIns="0" tIns="0" rIns="0" bIns="0" rtlCol="0" anchor="ctr"/>
          <a:lstStyle/>
          <a:p>
            <a:pPr algn="ctr" indent="0" marL="0">
              <a:buNone/>
            </a:pPr>
            <a:r>
              <a:rPr lang="en-US" sz="2600" b="1" dirty="0">
                <a:solidFill>
                  <a:schemeClr val="bg1"/>
                </a:solidFill>
              </a:rPr>
              <a:t>WP2</a:t>
            </a:r>
            <a:endParaRPr lang="en-US" sz="2600" dirty="0"/>
          </a:p>
        </p:txBody>
      </p:sp>
      <p:sp>
        <p:nvSpPr>
          <p:cNvPr id="10" name="Text 8"/>
          <p:cNvSpPr txBox="1"/>
          <p:nvPr/>
        </p:nvSpPr>
        <p:spPr>
          <a:xfrm>
            <a:off x="4663440" y="3931920"/>
            <a:ext cx="3108960" cy="914400"/>
          </a:xfrm>
          <a:prstGeom prst="rect">
            <a:avLst/>
          </a:prstGeom>
          <a:noFill/>
          <a:ln/>
        </p:spPr>
        <p:txBody>
          <a:bodyPr wrap="square" lIns="0" tIns="0" rIns="0" bIns="0" rtlCol="0" anchor="t"/>
          <a:lstStyle/>
          <a:p>
            <a:pPr algn="ctr" indent="0" marL="0">
              <a:buNone/>
            </a:pPr>
            <a:r>
              <a:rPr lang="en-US" sz="1900" b="1" dirty="0">
                <a:solidFill>
                  <a:schemeClr val="tx1"/>
                </a:solidFill>
              </a:rPr>
              <a:t>Which aptamer binds best — in buffer and in stool?</a:t>
            </a:r>
            <a:endParaRPr lang="en-US" sz="1900" dirty="0"/>
          </a:p>
        </p:txBody>
      </p:sp>
      <p:sp>
        <p:nvSpPr>
          <p:cNvPr id="11" name="Text 9"/>
          <p:cNvSpPr txBox="1"/>
          <p:nvPr/>
        </p:nvSpPr>
        <p:spPr>
          <a:xfrm>
            <a:off x="4663440" y="4892040"/>
            <a:ext cx="3108960" cy="457200"/>
          </a:xfrm>
          <a:prstGeom prst="rect">
            <a:avLst/>
          </a:prstGeom>
          <a:noFill/>
          <a:ln/>
        </p:spPr>
        <p:txBody>
          <a:bodyPr wrap="square" lIns="0" tIns="0" rIns="0" bIns="0" rtlCol="0" anchor="t"/>
          <a:lstStyle/>
          <a:p>
            <a:pPr algn="ctr" indent="0" marL="0">
              <a:buNone/>
            </a:pPr>
            <a:r>
              <a:rPr lang="en-US" sz="1500" i="1" dirty="0">
                <a:solidFill>
                  <a:schemeClr val="tx2"/>
                </a:solidFill>
              </a:rPr>
              <a:t>→ choosing the binder</a:t>
            </a:r>
            <a:endParaRPr lang="en-US" sz="1500" dirty="0"/>
          </a:p>
        </p:txBody>
      </p:sp>
      <p:sp>
        <p:nvSpPr>
          <p:cNvPr id="12" name="roadmap-WP3"/>
          <p:cNvSpPr/>
          <p:nvPr/>
        </p:nvSpPr>
        <p:spPr>
          <a:xfrm>
            <a:off x="9235440" y="2148840"/>
            <a:ext cx="1463040" cy="1463040"/>
          </a:xfrm>
          <a:prstGeom prst="ellipse">
            <a:avLst/>
          </a:prstGeom>
          <a:solidFill>
            <a:schemeClr val="accent4"/>
          </a:solidFill>
          <a:ln w="50800">
            <a:solidFill>
              <a:schemeClr val="bg1"/>
            </a:solidFill>
            <a:prstDash val="solid"/>
          </a:ln>
        </p:spPr>
      </p:sp>
      <p:sp>
        <p:nvSpPr>
          <p:cNvPr id="13" name="Text 11"/>
          <p:cNvSpPr txBox="1"/>
          <p:nvPr/>
        </p:nvSpPr>
        <p:spPr>
          <a:xfrm>
            <a:off x="9235440" y="2148840"/>
            <a:ext cx="1463040" cy="1463040"/>
          </a:xfrm>
          <a:prstGeom prst="rect">
            <a:avLst/>
          </a:prstGeom>
          <a:noFill/>
          <a:ln/>
        </p:spPr>
        <p:txBody>
          <a:bodyPr wrap="square" lIns="0" tIns="0" rIns="0" bIns="0" rtlCol="0" anchor="ctr"/>
          <a:lstStyle/>
          <a:p>
            <a:pPr algn="ctr" indent="0" marL="0">
              <a:buNone/>
            </a:pPr>
            <a:r>
              <a:rPr lang="en-US" sz="2600" b="1" dirty="0">
                <a:solidFill>
                  <a:schemeClr val="bg1"/>
                </a:solidFill>
              </a:rPr>
              <a:t>WP3</a:t>
            </a:r>
            <a:endParaRPr lang="en-US" sz="2600" dirty="0"/>
          </a:p>
        </p:txBody>
      </p:sp>
      <p:sp>
        <p:nvSpPr>
          <p:cNvPr id="14" name="Text 12"/>
          <p:cNvSpPr txBox="1"/>
          <p:nvPr/>
        </p:nvSpPr>
        <p:spPr>
          <a:xfrm>
            <a:off x="8412480" y="3931920"/>
            <a:ext cx="3108960" cy="914400"/>
          </a:xfrm>
          <a:prstGeom prst="rect">
            <a:avLst/>
          </a:prstGeom>
          <a:noFill/>
          <a:ln/>
        </p:spPr>
        <p:txBody>
          <a:bodyPr wrap="square" lIns="0" tIns="0" rIns="0" bIns="0" rtlCol="0" anchor="t"/>
          <a:lstStyle/>
          <a:p>
            <a:pPr algn="ctr" indent="0" marL="0">
              <a:buNone/>
            </a:pPr>
            <a:r>
              <a:rPr lang="en-US" sz="1900" b="1" dirty="0">
                <a:solidFill>
                  <a:schemeClr val="tx1"/>
                </a:solidFill>
              </a:rPr>
              <a:t>Can it work on a paper strip?</a:t>
            </a:r>
            <a:endParaRPr lang="en-US" sz="1900" dirty="0"/>
          </a:p>
        </p:txBody>
      </p:sp>
      <p:sp>
        <p:nvSpPr>
          <p:cNvPr id="15" name="Text 13"/>
          <p:cNvSpPr txBox="1"/>
          <p:nvPr/>
        </p:nvSpPr>
        <p:spPr>
          <a:xfrm>
            <a:off x="8412480" y="4892040"/>
            <a:ext cx="3108960" cy="457200"/>
          </a:xfrm>
          <a:prstGeom prst="rect">
            <a:avLst/>
          </a:prstGeom>
          <a:noFill/>
          <a:ln/>
        </p:spPr>
        <p:txBody>
          <a:bodyPr wrap="square" lIns="0" tIns="0" rIns="0" bIns="0" rtlCol="0" anchor="t"/>
          <a:lstStyle/>
          <a:p>
            <a:pPr algn="ctr" indent="0" marL="0">
              <a:buNone/>
            </a:pPr>
            <a:r>
              <a:rPr lang="en-US" sz="1500" i="1" dirty="0">
                <a:solidFill>
                  <a:schemeClr val="tx2"/>
                </a:solidFill>
              </a:rPr>
              <a:t>→ the rapid test itself</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326880" cy="914400"/>
          </a:xfrm>
          <a:prstGeom prst="rect">
            <a:avLst/>
          </a:prstGeom>
          <a:noFill/>
          <a:ln/>
        </p:spPr>
        <p:txBody>
          <a:bodyPr wrap="square" lIns="0" tIns="0" rIns="0" bIns="0" rtlCol="0" anchor="ctr"/>
          <a:lstStyle/>
          <a:p>
            <a:pPr algn="l" indent="0" marL="0">
              <a:buNone/>
            </a:pPr>
            <a:r>
              <a:rPr lang="en-US" sz="3200" b="1" dirty="0">
                <a:solidFill>
                  <a:schemeClr val="tx1"/>
                </a:solidFill>
              </a:rPr>
              <a:t>WP1: Is a donor's virome stable over time?</a:t>
            </a:r>
            <a:endParaRPr lang="en-US" sz="3200" dirty="0"/>
          </a:p>
        </p:txBody>
      </p:sp>
      <p:sp>
        <p:nvSpPr>
          <p:cNvPr id="3" name="progress-WP1"/>
          <p:cNvSpPr/>
          <p:nvPr/>
        </p:nvSpPr>
        <p:spPr>
          <a:xfrm>
            <a:off x="10104120" y="548640"/>
            <a:ext cx="438912" cy="438912"/>
          </a:xfrm>
          <a:prstGeom prst="ellipse">
            <a:avLst/>
          </a:prstGeom>
          <a:solidFill>
            <a:schemeClr val="accent1"/>
          </a:solidFill>
          <a:ln w="12700">
            <a:solidFill>
              <a:schemeClr val="accent1"/>
            </a:solidFill>
            <a:prstDash val="solid"/>
          </a:ln>
        </p:spPr>
      </p:sp>
      <p:sp>
        <p:nvSpPr>
          <p:cNvPr id="4" name="Text 2"/>
          <p:cNvSpPr txBox="1"/>
          <p:nvPr/>
        </p:nvSpPr>
        <p:spPr>
          <a:xfrm>
            <a:off x="10104120" y="54864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progress-WP2"/>
          <p:cNvSpPr/>
          <p:nvPr/>
        </p:nvSpPr>
        <p:spPr>
          <a:xfrm>
            <a:off x="10671048" y="548640"/>
            <a:ext cx="438912" cy="438912"/>
          </a:xfrm>
          <a:prstGeom prst="ellipse">
            <a:avLst/>
          </a:prstGeom>
          <a:solidFill>
            <a:schemeClr val="bg2"/>
          </a:solidFill>
          <a:ln w="12700">
            <a:solidFill>
              <a:schemeClr val="accent5"/>
            </a:solidFill>
            <a:prstDash val="solid"/>
          </a:ln>
        </p:spPr>
      </p:sp>
      <p:sp>
        <p:nvSpPr>
          <p:cNvPr id="6" name="Text 4"/>
          <p:cNvSpPr txBox="1"/>
          <p:nvPr/>
        </p:nvSpPr>
        <p:spPr>
          <a:xfrm>
            <a:off x="10671048" y="548640"/>
            <a:ext cx="438912" cy="438912"/>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7" name="progress-WP3"/>
          <p:cNvSpPr/>
          <p:nvPr/>
        </p:nvSpPr>
        <p:spPr>
          <a:xfrm>
            <a:off x="11237976" y="548640"/>
            <a:ext cx="438912" cy="438912"/>
          </a:xfrm>
          <a:prstGeom prst="ellipse">
            <a:avLst/>
          </a:prstGeom>
          <a:solidFill>
            <a:schemeClr val="bg2"/>
          </a:solidFill>
          <a:ln w="12700">
            <a:solidFill>
              <a:schemeClr val="accent5"/>
            </a:solidFill>
            <a:prstDash val="solid"/>
          </a:ln>
        </p:spPr>
      </p:sp>
      <p:sp>
        <p:nvSpPr>
          <p:cNvPr id="8" name="Text 6"/>
          <p:cNvSpPr txBox="1"/>
          <p:nvPr/>
        </p:nvSpPr>
        <p:spPr>
          <a:xfrm>
            <a:off x="11237976" y="548640"/>
            <a:ext cx="438912" cy="438912"/>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pic>
        <p:nvPicPr>
          <p:cNvPr id="9" name="Donors sampled repeatedly over time" descr="Donors sampled repeatedly over time">    </p:cNvPr>
          <p:cNvPicPr>
            <a:picLocks noChangeAspect="1"/>
          </p:cNvPicPr>
          <p:nvPr/>
        </p:nvPicPr>
        <p:blipFill>
          <a:blip r:embed="rId1"/>
          <a:stretch>
            <a:fillRect/>
          </a:stretch>
        </p:blipFill>
        <p:spPr>
          <a:xfrm>
            <a:off x="457200" y="1463040"/>
            <a:ext cx="6766560" cy="3518611"/>
          </a:xfrm>
          <a:prstGeom prst="rect">
            <a:avLst/>
          </a:prstGeom>
        </p:spPr>
      </p:pic>
      <p:sp>
        <p:nvSpPr>
          <p:cNvPr id="10" name="Shape 7"/>
          <p:cNvSpPr/>
          <p:nvPr/>
        </p:nvSpPr>
        <p:spPr>
          <a:xfrm>
            <a:off x="7589520" y="1463040"/>
            <a:ext cx="4023360" cy="1143000"/>
          </a:xfrm>
          <a:prstGeom prst="roundRect">
            <a:avLst>
              <a:gd name="adj" fmla="val 9600"/>
            </a:avLst>
          </a:prstGeom>
          <a:solidFill>
            <a:schemeClr val="bg2"/>
          </a:solidFill>
          <a:ln w="12700">
            <a:solidFill>
              <a:schemeClr val="bg2"/>
            </a:solidFill>
            <a:prstDash val="solid"/>
          </a:ln>
        </p:spPr>
      </p:sp>
      <p:sp>
        <p:nvSpPr>
          <p:cNvPr id="11" name="Text 8"/>
          <p:cNvSpPr txBox="1"/>
          <p:nvPr/>
        </p:nvSpPr>
        <p:spPr>
          <a:xfrm>
            <a:off x="7772400" y="1600200"/>
            <a:ext cx="3657600" cy="86868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Design</a:t>
            </a:r>
            <a:endParaRPr lang="en-US" sz="1600" dirty="0"/>
          </a:p>
          <a:p>
            <a:pPr indent="0" marL="0">
              <a:spcAft>
                <a:spcPts val="400"/>
              </a:spcAft>
              <a:buNone/>
            </a:pPr>
            <a:r>
              <a:rPr lang="en-US" sz="1500" dirty="0">
                <a:solidFill>
                  <a:schemeClr val="tx1"/>
                </a:solidFill>
              </a:rPr>
              <a:t>Same donors, stool sampled repeatedly over [weeks / months]</a:t>
            </a:r>
            <a:endParaRPr lang="en-US" sz="1600" dirty="0"/>
          </a:p>
        </p:txBody>
      </p:sp>
      <p:sp>
        <p:nvSpPr>
          <p:cNvPr id="12" name="Shape 9"/>
          <p:cNvSpPr/>
          <p:nvPr/>
        </p:nvSpPr>
        <p:spPr>
          <a:xfrm>
            <a:off x="7589520" y="2743200"/>
            <a:ext cx="4023360" cy="1143000"/>
          </a:xfrm>
          <a:prstGeom prst="roundRect">
            <a:avLst>
              <a:gd name="adj" fmla="val 9600"/>
            </a:avLst>
          </a:prstGeom>
          <a:solidFill>
            <a:schemeClr val="bg2"/>
          </a:solidFill>
          <a:ln w="12700">
            <a:solidFill>
              <a:schemeClr val="bg2"/>
            </a:solidFill>
            <a:prstDash val="solid"/>
          </a:ln>
        </p:spPr>
      </p:sp>
      <p:sp>
        <p:nvSpPr>
          <p:cNvPr id="13" name="Text 10"/>
          <p:cNvSpPr txBox="1"/>
          <p:nvPr/>
        </p:nvSpPr>
        <p:spPr>
          <a:xfrm>
            <a:off x="7772400" y="2880360"/>
            <a:ext cx="3657600" cy="86868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Measure</a:t>
            </a:r>
            <a:endParaRPr lang="en-US" sz="1600" dirty="0"/>
          </a:p>
          <a:p>
            <a:pPr indent="0" marL="0">
              <a:spcAft>
                <a:spcPts val="400"/>
              </a:spcAft>
              <a:buNone/>
            </a:pPr>
            <a:r>
              <a:rPr lang="en-US" sz="1500" dirty="0">
                <a:solidFill>
                  <a:schemeClr val="tx1"/>
                </a:solidFill>
              </a:rPr>
              <a:t>Enteric viruses: presence, load, diversity  [method: qPCR / sequencing]</a:t>
            </a:r>
            <a:endParaRPr lang="en-US" sz="1600" dirty="0"/>
          </a:p>
        </p:txBody>
      </p:sp>
      <p:sp>
        <p:nvSpPr>
          <p:cNvPr id="14" name="Shape 11"/>
          <p:cNvSpPr/>
          <p:nvPr/>
        </p:nvSpPr>
        <p:spPr>
          <a:xfrm>
            <a:off x="7589520" y="4023360"/>
            <a:ext cx="4023360" cy="1143000"/>
          </a:xfrm>
          <a:prstGeom prst="roundRect">
            <a:avLst>
              <a:gd name="adj" fmla="val 9600"/>
            </a:avLst>
          </a:prstGeom>
          <a:solidFill>
            <a:schemeClr val="bg2"/>
          </a:solidFill>
          <a:ln w="12700">
            <a:solidFill>
              <a:schemeClr val="bg2"/>
            </a:solidFill>
            <a:prstDash val="solid"/>
          </a:ln>
        </p:spPr>
      </p:sp>
      <p:sp>
        <p:nvSpPr>
          <p:cNvPr id="15" name="Text 12"/>
          <p:cNvSpPr txBox="1"/>
          <p:nvPr/>
        </p:nvSpPr>
        <p:spPr>
          <a:xfrm>
            <a:off x="7772400" y="4160520"/>
            <a:ext cx="3657600" cy="868680"/>
          </a:xfrm>
          <a:prstGeom prst="rect">
            <a:avLst/>
          </a:prstGeom>
          <a:noFill/>
          <a:ln/>
        </p:spPr>
        <p:txBody>
          <a:bodyPr wrap="square" lIns="0" tIns="0" rIns="0" bIns="0" rtlCol="0" anchor="t"/>
          <a:lstStyle/>
          <a:p>
            <a:pPr indent="0" marL="0">
              <a:spcAft>
                <a:spcPts val="400"/>
              </a:spcAft>
              <a:buNone/>
            </a:pPr>
            <a:r>
              <a:rPr lang="en-US" sz="1700" b="1" dirty="0">
                <a:solidFill>
                  <a:schemeClr val="accent2"/>
                </a:solidFill>
              </a:rPr>
              <a:t>Status</a:t>
            </a:r>
            <a:endParaRPr lang="en-US" sz="1600" dirty="0"/>
          </a:p>
          <a:p>
            <a:pPr indent="0" marL="0">
              <a:spcAft>
                <a:spcPts val="400"/>
              </a:spcAft>
              <a:buNone/>
            </a:pPr>
            <a:r>
              <a:rPr lang="en-US" sz="1500" dirty="0">
                <a:solidFill>
                  <a:schemeClr val="tx1"/>
                </a:solidFill>
              </a:rPr>
              <a:t>[n donors × n time points] — sampling &amp; analysis ongoing</a:t>
            </a:r>
            <a:endParaRPr lang="en-US" sz="1600" dirty="0"/>
          </a:p>
        </p:txBody>
      </p:sp>
      <p:sp>
        <p:nvSpPr>
          <p:cNvPr id="16" name="Text 13"/>
          <p:cNvSpPr txBox="1"/>
          <p:nvPr/>
        </p:nvSpPr>
        <p:spPr>
          <a:xfrm>
            <a:off x="548640" y="5669280"/>
            <a:ext cx="10058400" cy="365760"/>
          </a:xfrm>
          <a:prstGeom prst="rect">
            <a:avLst/>
          </a:prstGeom>
          <a:noFill/>
          <a:ln/>
        </p:spPr>
        <p:txBody>
          <a:bodyPr wrap="square" lIns="0" tIns="0" rIns="0" bIns="0" rtlCol="0" anchor="t"/>
          <a:lstStyle/>
          <a:p>
            <a:pPr indent="0" marL="0">
              <a:buNone/>
            </a:pPr>
            <a:r>
              <a:rPr lang="en-US" sz="1400" i="1" dirty="0">
                <a:solidFill>
                  <a:schemeClr val="tx2"/>
                </a:solidFill>
              </a:rPr>
              <a:t>Results not yet available — next slide shows the hypothesis, not data</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326880" cy="914400"/>
          </a:xfrm>
          <a:prstGeom prst="rect">
            <a:avLst/>
          </a:prstGeom>
          <a:noFill/>
          <a:ln/>
        </p:spPr>
        <p:txBody>
          <a:bodyPr wrap="square" lIns="0" tIns="0" rIns="0" bIns="0" rtlCol="0" anchor="ctr"/>
          <a:lstStyle/>
          <a:p>
            <a:pPr algn="l" indent="0" marL="0">
              <a:buNone/>
            </a:pPr>
            <a:r>
              <a:rPr lang="en-US" sz="3200" b="1" dirty="0">
                <a:solidFill>
                  <a:schemeClr val="tx1"/>
                </a:solidFill>
              </a:rPr>
              <a:t>Hypothesis: negative today ≠ negative next week</a:t>
            </a:r>
            <a:endParaRPr lang="en-US" sz="3200" dirty="0"/>
          </a:p>
        </p:txBody>
      </p:sp>
      <p:sp>
        <p:nvSpPr>
          <p:cNvPr id="3" name="progress-WP1"/>
          <p:cNvSpPr/>
          <p:nvPr/>
        </p:nvSpPr>
        <p:spPr>
          <a:xfrm>
            <a:off x="10104120" y="548640"/>
            <a:ext cx="438912" cy="438912"/>
          </a:xfrm>
          <a:prstGeom prst="ellipse">
            <a:avLst/>
          </a:prstGeom>
          <a:solidFill>
            <a:schemeClr val="accent1"/>
          </a:solidFill>
          <a:ln w="12700">
            <a:solidFill>
              <a:schemeClr val="accent1"/>
            </a:solidFill>
            <a:prstDash val="solid"/>
          </a:ln>
        </p:spPr>
      </p:sp>
      <p:sp>
        <p:nvSpPr>
          <p:cNvPr id="4" name="Text 2"/>
          <p:cNvSpPr txBox="1"/>
          <p:nvPr/>
        </p:nvSpPr>
        <p:spPr>
          <a:xfrm>
            <a:off x="10104120" y="54864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progress-WP2"/>
          <p:cNvSpPr/>
          <p:nvPr/>
        </p:nvSpPr>
        <p:spPr>
          <a:xfrm>
            <a:off x="10671048" y="548640"/>
            <a:ext cx="438912" cy="438912"/>
          </a:xfrm>
          <a:prstGeom prst="ellipse">
            <a:avLst/>
          </a:prstGeom>
          <a:solidFill>
            <a:schemeClr val="bg2"/>
          </a:solidFill>
          <a:ln w="12700">
            <a:solidFill>
              <a:schemeClr val="accent5"/>
            </a:solidFill>
            <a:prstDash val="solid"/>
          </a:ln>
        </p:spPr>
      </p:sp>
      <p:sp>
        <p:nvSpPr>
          <p:cNvPr id="6" name="Text 4"/>
          <p:cNvSpPr txBox="1"/>
          <p:nvPr/>
        </p:nvSpPr>
        <p:spPr>
          <a:xfrm>
            <a:off x="10671048" y="548640"/>
            <a:ext cx="438912" cy="438912"/>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7" name="progress-WP3"/>
          <p:cNvSpPr/>
          <p:nvPr/>
        </p:nvSpPr>
        <p:spPr>
          <a:xfrm>
            <a:off x="11237976" y="548640"/>
            <a:ext cx="438912" cy="438912"/>
          </a:xfrm>
          <a:prstGeom prst="ellipse">
            <a:avLst/>
          </a:prstGeom>
          <a:solidFill>
            <a:schemeClr val="bg2"/>
          </a:solidFill>
          <a:ln w="12700">
            <a:solidFill>
              <a:schemeClr val="accent5"/>
            </a:solidFill>
            <a:prstDash val="solid"/>
          </a:ln>
        </p:spPr>
      </p:sp>
      <p:sp>
        <p:nvSpPr>
          <p:cNvPr id="8" name="Text 6"/>
          <p:cNvSpPr txBox="1"/>
          <p:nvPr/>
        </p:nvSpPr>
        <p:spPr>
          <a:xfrm>
            <a:off x="11237976" y="548640"/>
            <a:ext cx="438912" cy="438912"/>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pic>
        <p:nvPicPr>
          <p:cNvPr id="9" name="Hypothetical timeline of one donor with virus appearing and disappearing" descr="Hypothetical timeline of one donor with virus appearing and disappearing">    </p:cNvPr>
          <p:cNvPicPr>
            <a:picLocks noChangeAspect="1"/>
          </p:cNvPicPr>
          <p:nvPr/>
        </p:nvPicPr>
        <p:blipFill>
          <a:blip r:embed="rId1"/>
          <a:stretch>
            <a:fillRect/>
          </a:stretch>
        </p:blipFill>
        <p:spPr>
          <a:xfrm>
            <a:off x="548640" y="1417320"/>
            <a:ext cx="7315200" cy="3072384"/>
          </a:xfrm>
          <a:prstGeom prst="rect">
            <a:avLst/>
          </a:prstGeom>
        </p:spPr>
      </p:pic>
      <p:sp>
        <p:nvSpPr>
          <p:cNvPr id="10" name="Shape 7"/>
          <p:cNvSpPr/>
          <p:nvPr/>
        </p:nvSpPr>
        <p:spPr>
          <a:xfrm>
            <a:off x="8229600" y="1554480"/>
            <a:ext cx="3429000" cy="777240"/>
          </a:xfrm>
          <a:prstGeom prst="roundRect">
            <a:avLst>
              <a:gd name="adj" fmla="val 11765"/>
            </a:avLst>
          </a:prstGeom>
          <a:solidFill>
            <a:schemeClr val="bg2"/>
          </a:solidFill>
          <a:ln w="12700">
            <a:solidFill>
              <a:schemeClr val="bg2"/>
            </a:solidFill>
            <a:prstDash val="solid"/>
          </a:ln>
        </p:spPr>
      </p:sp>
      <p:sp>
        <p:nvSpPr>
          <p:cNvPr id="11" name="Text 8"/>
          <p:cNvSpPr txBox="1"/>
          <p:nvPr/>
        </p:nvSpPr>
        <p:spPr>
          <a:xfrm>
            <a:off x="8366760" y="1554480"/>
            <a:ext cx="3200400" cy="777240"/>
          </a:xfrm>
          <a:prstGeom prst="rect">
            <a:avLst/>
          </a:prstGeom>
          <a:noFill/>
          <a:ln/>
        </p:spPr>
        <p:txBody>
          <a:bodyPr wrap="square" lIns="0" tIns="0" rIns="0" bIns="0" rtlCol="0" anchor="ctr"/>
          <a:lstStyle/>
          <a:p>
            <a:pPr indent="0" marL="0">
              <a:buNone/>
            </a:pPr>
            <a:r>
              <a:rPr lang="en-US" sz="1600" dirty="0">
                <a:solidFill>
                  <a:schemeClr val="tx1"/>
                </a:solidFill>
              </a:rPr>
              <a:t>Viral shedding is intermittent</a:t>
            </a:r>
            <a:endParaRPr lang="en-US" sz="1600" dirty="0"/>
          </a:p>
        </p:txBody>
      </p:sp>
      <p:sp>
        <p:nvSpPr>
          <p:cNvPr id="12" name="Shape 9"/>
          <p:cNvSpPr/>
          <p:nvPr/>
        </p:nvSpPr>
        <p:spPr>
          <a:xfrm>
            <a:off x="8229600" y="2560320"/>
            <a:ext cx="3429000" cy="777240"/>
          </a:xfrm>
          <a:prstGeom prst="roundRect">
            <a:avLst>
              <a:gd name="adj" fmla="val 11765"/>
            </a:avLst>
          </a:prstGeom>
          <a:solidFill>
            <a:schemeClr val="bg2"/>
          </a:solidFill>
          <a:ln w="12700">
            <a:solidFill>
              <a:schemeClr val="bg2"/>
            </a:solidFill>
            <a:prstDash val="solid"/>
          </a:ln>
        </p:spPr>
      </p:sp>
      <p:sp>
        <p:nvSpPr>
          <p:cNvPr id="13" name="Text 10"/>
          <p:cNvSpPr txBox="1"/>
          <p:nvPr/>
        </p:nvSpPr>
        <p:spPr>
          <a:xfrm>
            <a:off x="8366760" y="2560320"/>
            <a:ext cx="3200400" cy="777240"/>
          </a:xfrm>
          <a:prstGeom prst="rect">
            <a:avLst/>
          </a:prstGeom>
          <a:noFill/>
          <a:ln/>
        </p:spPr>
        <p:txBody>
          <a:bodyPr wrap="square" lIns="0" tIns="0" rIns="0" bIns="0" rtlCol="0" anchor="ctr"/>
          <a:lstStyle/>
          <a:p>
            <a:pPr indent="0" marL="0">
              <a:buNone/>
            </a:pPr>
            <a:r>
              <a:rPr lang="en-US" sz="1600" dirty="0">
                <a:solidFill>
                  <a:schemeClr val="tx1"/>
                </a:solidFill>
              </a:rPr>
              <a:t>→ one screen is not enough</a:t>
            </a:r>
            <a:endParaRPr lang="en-US" sz="1600" dirty="0"/>
          </a:p>
        </p:txBody>
      </p:sp>
      <p:sp>
        <p:nvSpPr>
          <p:cNvPr id="14" name="Shape 11"/>
          <p:cNvSpPr/>
          <p:nvPr/>
        </p:nvSpPr>
        <p:spPr>
          <a:xfrm>
            <a:off x="8229600" y="3566160"/>
            <a:ext cx="3429000" cy="777240"/>
          </a:xfrm>
          <a:prstGeom prst="roundRect">
            <a:avLst>
              <a:gd name="adj" fmla="val 11765"/>
            </a:avLst>
          </a:prstGeom>
          <a:solidFill>
            <a:schemeClr val="bg2"/>
          </a:solidFill>
          <a:ln w="12700">
            <a:solidFill>
              <a:schemeClr val="bg2"/>
            </a:solidFill>
            <a:prstDash val="solid"/>
          </a:ln>
        </p:spPr>
      </p:sp>
      <p:sp>
        <p:nvSpPr>
          <p:cNvPr id="15" name="Text 12"/>
          <p:cNvSpPr txBox="1"/>
          <p:nvPr/>
        </p:nvSpPr>
        <p:spPr>
          <a:xfrm>
            <a:off x="8366760" y="3566160"/>
            <a:ext cx="3200400" cy="777240"/>
          </a:xfrm>
          <a:prstGeom prst="rect">
            <a:avLst/>
          </a:prstGeom>
          <a:noFill/>
          <a:ln/>
        </p:spPr>
        <p:txBody>
          <a:bodyPr wrap="square" lIns="0" tIns="0" rIns="0" bIns="0" rtlCol="0" anchor="ctr"/>
          <a:lstStyle/>
          <a:p>
            <a:pPr indent="0" marL="0">
              <a:buNone/>
            </a:pPr>
            <a:r>
              <a:rPr lang="en-US" sz="1600" dirty="0">
                <a:solidFill>
                  <a:schemeClr val="tx1"/>
                </a:solidFill>
              </a:rPr>
              <a:t>→ test every donation</a:t>
            </a:r>
            <a:endParaRPr lang="en-US" sz="1600" dirty="0"/>
          </a:p>
        </p:txBody>
      </p:sp>
      <p:sp>
        <p:nvSpPr>
          <p:cNvPr id="16" name="Shape 13"/>
          <p:cNvSpPr/>
          <p:nvPr/>
        </p:nvSpPr>
        <p:spPr>
          <a:xfrm>
            <a:off x="8229600" y="4572000"/>
            <a:ext cx="3429000" cy="777240"/>
          </a:xfrm>
          <a:prstGeom prst="roundRect">
            <a:avLst>
              <a:gd name="adj" fmla="val 11765"/>
            </a:avLst>
          </a:prstGeom>
          <a:solidFill>
            <a:schemeClr val="accent1"/>
          </a:solidFill>
          <a:ln w="12700">
            <a:solidFill>
              <a:schemeClr val="accent1"/>
            </a:solidFill>
            <a:prstDash val="solid"/>
          </a:ln>
        </p:spPr>
      </p:sp>
      <p:sp>
        <p:nvSpPr>
          <p:cNvPr id="17" name="Text 14"/>
          <p:cNvSpPr txBox="1"/>
          <p:nvPr/>
        </p:nvSpPr>
        <p:spPr>
          <a:xfrm>
            <a:off x="8366760" y="4572000"/>
            <a:ext cx="3200400" cy="777240"/>
          </a:xfrm>
          <a:prstGeom prst="rect">
            <a:avLst/>
          </a:prstGeom>
          <a:noFill/>
          <a:ln/>
        </p:spPr>
        <p:txBody>
          <a:bodyPr wrap="square" lIns="0" tIns="0" rIns="0" bIns="0" rtlCol="0" anchor="ctr"/>
          <a:lstStyle/>
          <a:p>
            <a:pPr indent="0" marL="0">
              <a:buNone/>
            </a:pPr>
            <a:r>
              <a:rPr lang="en-US" sz="1600" b="1" dirty="0">
                <a:solidFill>
                  <a:schemeClr val="bg1"/>
                </a:solidFill>
              </a:rPr>
              <a:t>→ the test must be rapid &amp; cheap</a:t>
            </a:r>
            <a:endParaRPr lang="en-US" sz="1600" dirty="0"/>
          </a:p>
        </p:txBody>
      </p:sp>
      <p:sp>
        <p:nvSpPr>
          <p:cNvPr id="18" name="Text 15"/>
          <p:cNvSpPr txBox="1"/>
          <p:nvPr/>
        </p:nvSpPr>
        <p:spPr>
          <a:xfrm>
            <a:off x="548640" y="5669280"/>
            <a:ext cx="7315200" cy="365760"/>
          </a:xfrm>
          <a:prstGeom prst="rect">
            <a:avLst/>
          </a:prstGeom>
          <a:noFill/>
          <a:ln/>
        </p:spPr>
        <p:txBody>
          <a:bodyPr wrap="square" lIns="0" tIns="0" rIns="0" bIns="0" rtlCol="0" anchor="t"/>
          <a:lstStyle/>
          <a:p>
            <a:pPr indent="0" marL="0">
              <a:buNone/>
            </a:pPr>
            <a:r>
              <a:rPr lang="en-US" sz="1400" i="1" dirty="0">
                <a:solidFill>
                  <a:schemeClr val="tx2"/>
                </a:solidFill>
              </a:rPr>
              <a:t>Illustration only — WP1 will test this hypothesis</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326880" cy="914400"/>
          </a:xfrm>
          <a:prstGeom prst="rect">
            <a:avLst/>
          </a:prstGeom>
          <a:noFill/>
          <a:ln/>
        </p:spPr>
        <p:txBody>
          <a:bodyPr wrap="square" lIns="0" tIns="0" rIns="0" bIns="0" rtlCol="0" anchor="ctr"/>
          <a:lstStyle/>
          <a:p>
            <a:pPr algn="l" indent="0" marL="0">
              <a:buNone/>
            </a:pPr>
            <a:r>
              <a:rPr lang="en-US" sz="3200" b="1" dirty="0">
                <a:solidFill>
                  <a:schemeClr val="tx1"/>
                </a:solidFill>
              </a:rPr>
              <a:t>WP2: Which aptamer binds best — even in stool?</a:t>
            </a:r>
            <a:endParaRPr lang="en-US" sz="3200" dirty="0"/>
          </a:p>
        </p:txBody>
      </p:sp>
      <p:sp>
        <p:nvSpPr>
          <p:cNvPr id="3" name="progress-WP1"/>
          <p:cNvSpPr/>
          <p:nvPr/>
        </p:nvSpPr>
        <p:spPr>
          <a:xfrm>
            <a:off x="10104120" y="548640"/>
            <a:ext cx="438912" cy="438912"/>
          </a:xfrm>
          <a:prstGeom prst="ellipse">
            <a:avLst/>
          </a:prstGeom>
          <a:solidFill>
            <a:schemeClr val="bg2"/>
          </a:solidFill>
          <a:ln w="12700">
            <a:solidFill>
              <a:schemeClr val="accent5"/>
            </a:solidFill>
            <a:prstDash val="solid"/>
          </a:ln>
        </p:spPr>
      </p:sp>
      <p:sp>
        <p:nvSpPr>
          <p:cNvPr id="4" name="Text 2"/>
          <p:cNvSpPr txBox="1"/>
          <p:nvPr/>
        </p:nvSpPr>
        <p:spPr>
          <a:xfrm>
            <a:off x="10104120" y="548640"/>
            <a:ext cx="438912" cy="438912"/>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5" name="progress-WP2"/>
          <p:cNvSpPr/>
          <p:nvPr/>
        </p:nvSpPr>
        <p:spPr>
          <a:xfrm>
            <a:off x="10671048" y="548640"/>
            <a:ext cx="438912" cy="438912"/>
          </a:xfrm>
          <a:prstGeom prst="ellipse">
            <a:avLst/>
          </a:prstGeom>
          <a:solidFill>
            <a:schemeClr val="accent1"/>
          </a:solidFill>
          <a:ln w="12700">
            <a:solidFill>
              <a:schemeClr val="accent1"/>
            </a:solidFill>
            <a:prstDash val="solid"/>
          </a:ln>
        </p:spPr>
      </p:sp>
      <p:sp>
        <p:nvSpPr>
          <p:cNvPr id="6" name="Text 4"/>
          <p:cNvSpPr txBox="1"/>
          <p:nvPr/>
        </p:nvSpPr>
        <p:spPr>
          <a:xfrm>
            <a:off x="10671048" y="54864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progress-WP3"/>
          <p:cNvSpPr/>
          <p:nvPr/>
        </p:nvSpPr>
        <p:spPr>
          <a:xfrm>
            <a:off x="11237976" y="548640"/>
            <a:ext cx="438912" cy="438912"/>
          </a:xfrm>
          <a:prstGeom prst="ellipse">
            <a:avLst/>
          </a:prstGeom>
          <a:solidFill>
            <a:schemeClr val="bg2"/>
          </a:solidFill>
          <a:ln w="12700">
            <a:solidFill>
              <a:schemeClr val="accent5"/>
            </a:solidFill>
            <a:prstDash val="solid"/>
          </a:ln>
        </p:spPr>
      </p:sp>
      <p:sp>
        <p:nvSpPr>
          <p:cNvPr id="8" name="Text 6"/>
          <p:cNvSpPr txBox="1"/>
          <p:nvPr/>
        </p:nvSpPr>
        <p:spPr>
          <a:xfrm>
            <a:off x="11237976" y="548640"/>
            <a:ext cx="438912" cy="438912"/>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pic>
        <p:nvPicPr>
          <p:cNvPr id="9" name="Four candidate aptamers and buffer versus stool" descr="Four candidate aptamers and buffer versus stool">    </p:cNvPr>
          <p:cNvPicPr>
            <a:picLocks noChangeAspect="1"/>
          </p:cNvPicPr>
          <p:nvPr/>
        </p:nvPicPr>
        <p:blipFill>
          <a:blip r:embed="rId1"/>
          <a:stretch>
            <a:fillRect/>
          </a:stretch>
        </p:blipFill>
        <p:spPr>
          <a:xfrm>
            <a:off x="548640" y="1463040"/>
            <a:ext cx="7589520" cy="3339389"/>
          </a:xfrm>
          <a:prstGeom prst="rect">
            <a:avLst/>
          </a:prstGeom>
        </p:spPr>
      </p:pic>
      <p:sp>
        <p:nvSpPr>
          <p:cNvPr id="10" name="Shape 7"/>
          <p:cNvSpPr/>
          <p:nvPr/>
        </p:nvSpPr>
        <p:spPr>
          <a:xfrm>
            <a:off x="8503920" y="1463040"/>
            <a:ext cx="3154680" cy="1143000"/>
          </a:xfrm>
          <a:prstGeom prst="roundRect">
            <a:avLst>
              <a:gd name="adj" fmla="val 9600"/>
            </a:avLst>
          </a:prstGeom>
          <a:solidFill>
            <a:schemeClr val="bg2"/>
          </a:solidFill>
          <a:ln w="12700">
            <a:solidFill>
              <a:schemeClr val="bg2"/>
            </a:solidFill>
            <a:prstDash val="solid"/>
          </a:ln>
        </p:spPr>
      </p:sp>
      <p:sp>
        <p:nvSpPr>
          <p:cNvPr id="11" name="Text 8"/>
          <p:cNvSpPr txBox="1"/>
          <p:nvPr/>
        </p:nvSpPr>
        <p:spPr>
          <a:xfrm>
            <a:off x="8686800" y="1600200"/>
            <a:ext cx="2788920" cy="86868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Affinity</a:t>
            </a:r>
            <a:endParaRPr lang="en-US" sz="1600" dirty="0"/>
          </a:p>
          <a:p>
            <a:pPr indent="0" marL="0">
              <a:spcAft>
                <a:spcPts val="400"/>
              </a:spcAft>
              <a:buNone/>
            </a:pPr>
            <a:r>
              <a:rPr lang="en-US" sz="1500" dirty="0">
                <a:solidFill>
                  <a:schemeClr val="tx1"/>
                </a:solidFill>
              </a:rPr>
              <a:t>How tightly? (Kd)</a:t>
            </a:r>
            <a:endParaRPr lang="en-US" sz="1600" dirty="0"/>
          </a:p>
        </p:txBody>
      </p:sp>
      <p:sp>
        <p:nvSpPr>
          <p:cNvPr id="12" name="Shape 9"/>
          <p:cNvSpPr/>
          <p:nvPr/>
        </p:nvSpPr>
        <p:spPr>
          <a:xfrm>
            <a:off x="8503920" y="2743200"/>
            <a:ext cx="3154680" cy="1143000"/>
          </a:xfrm>
          <a:prstGeom prst="roundRect">
            <a:avLst>
              <a:gd name="adj" fmla="val 9600"/>
            </a:avLst>
          </a:prstGeom>
          <a:solidFill>
            <a:schemeClr val="bg2"/>
          </a:solidFill>
          <a:ln w="12700">
            <a:solidFill>
              <a:schemeClr val="bg2"/>
            </a:solidFill>
            <a:prstDash val="solid"/>
          </a:ln>
        </p:spPr>
      </p:sp>
      <p:sp>
        <p:nvSpPr>
          <p:cNvPr id="13" name="Text 10"/>
          <p:cNvSpPr txBox="1"/>
          <p:nvPr/>
        </p:nvSpPr>
        <p:spPr>
          <a:xfrm>
            <a:off x="8686800" y="2880360"/>
            <a:ext cx="2788920" cy="86868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Specificity</a:t>
            </a:r>
            <a:endParaRPr lang="en-US" sz="1600" dirty="0"/>
          </a:p>
          <a:p>
            <a:pPr indent="0" marL="0">
              <a:spcAft>
                <a:spcPts val="400"/>
              </a:spcAft>
              <a:buNone/>
            </a:pPr>
            <a:r>
              <a:rPr lang="en-US" sz="1500" dirty="0">
                <a:solidFill>
                  <a:schemeClr val="tx1"/>
                </a:solidFill>
              </a:rPr>
              <a:t>Only the target virus?</a:t>
            </a:r>
            <a:endParaRPr lang="en-US" sz="1600" dirty="0"/>
          </a:p>
        </p:txBody>
      </p:sp>
      <p:sp>
        <p:nvSpPr>
          <p:cNvPr id="14" name="Shape 11"/>
          <p:cNvSpPr/>
          <p:nvPr/>
        </p:nvSpPr>
        <p:spPr>
          <a:xfrm>
            <a:off x="8503920" y="4023360"/>
            <a:ext cx="3154680" cy="1143000"/>
          </a:xfrm>
          <a:prstGeom prst="roundRect">
            <a:avLst>
              <a:gd name="adj" fmla="val 9600"/>
            </a:avLst>
          </a:prstGeom>
          <a:solidFill>
            <a:schemeClr val="bg2"/>
          </a:solidFill>
          <a:ln w="12700">
            <a:solidFill>
              <a:schemeClr val="bg2"/>
            </a:solidFill>
            <a:prstDash val="solid"/>
          </a:ln>
        </p:spPr>
      </p:sp>
      <p:sp>
        <p:nvSpPr>
          <p:cNvPr id="15" name="Text 12"/>
          <p:cNvSpPr txBox="1"/>
          <p:nvPr/>
        </p:nvSpPr>
        <p:spPr>
          <a:xfrm>
            <a:off x="8686800" y="4160520"/>
            <a:ext cx="2788920" cy="868680"/>
          </a:xfrm>
          <a:prstGeom prst="rect">
            <a:avLst/>
          </a:prstGeom>
          <a:noFill/>
          <a:ln/>
        </p:spPr>
        <p:txBody>
          <a:bodyPr wrap="square" lIns="0" tIns="0" rIns="0" bIns="0" rtlCol="0" anchor="t"/>
          <a:lstStyle/>
          <a:p>
            <a:pPr indent="0" marL="0">
              <a:spcAft>
                <a:spcPts val="400"/>
              </a:spcAft>
              <a:buNone/>
            </a:pPr>
            <a:r>
              <a:rPr lang="en-US" sz="1700" b="1" dirty="0">
                <a:solidFill>
                  <a:schemeClr val="accent2"/>
                </a:solidFill>
              </a:rPr>
              <a:t>Robustness</a:t>
            </a:r>
            <a:endParaRPr lang="en-US" sz="1600" dirty="0"/>
          </a:p>
          <a:p>
            <a:pPr indent="0" marL="0">
              <a:spcAft>
                <a:spcPts val="400"/>
              </a:spcAft>
              <a:buNone/>
            </a:pPr>
            <a:r>
              <a:rPr lang="en-US" sz="1500" dirty="0">
                <a:solidFill>
                  <a:schemeClr val="tx1"/>
                </a:solidFill>
              </a:rPr>
              <a:t>Same answer in stool?</a:t>
            </a:r>
            <a:endParaRPr lang="en-US" sz="1600" dirty="0"/>
          </a:p>
        </p:txBody>
      </p:sp>
      <p:sp>
        <p:nvSpPr>
          <p:cNvPr id="16" name="Text 13"/>
          <p:cNvSpPr txBox="1"/>
          <p:nvPr/>
        </p:nvSpPr>
        <p:spPr>
          <a:xfrm>
            <a:off x="548640" y="5669280"/>
            <a:ext cx="10058400" cy="365760"/>
          </a:xfrm>
          <a:prstGeom prst="rect">
            <a:avLst/>
          </a:prstGeom>
          <a:noFill/>
          <a:ln/>
        </p:spPr>
        <p:txBody>
          <a:bodyPr wrap="square" lIns="0" tIns="0" rIns="0" bIns="0" rtlCol="0" anchor="t"/>
          <a:lstStyle/>
          <a:p>
            <a:pPr indent="0" marL="0">
              <a:buNone/>
            </a:pPr>
            <a:r>
              <a:rPr lang="en-US" sz="1400" i="1" dirty="0">
                <a:solidFill>
                  <a:schemeClr val="tx2"/>
                </a:solidFill>
              </a:rPr>
              <a:t>Candidates: [Apt-A … Apt-D: names / sources]  ·  Target: [virus / protein]</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326880" cy="914400"/>
          </a:xfrm>
          <a:prstGeom prst="rect">
            <a:avLst/>
          </a:prstGeom>
          <a:noFill/>
          <a:ln/>
        </p:spPr>
        <p:txBody>
          <a:bodyPr wrap="square" lIns="0" tIns="0" rIns="0" bIns="0" rtlCol="0" anchor="ctr"/>
          <a:lstStyle/>
          <a:p>
            <a:pPr algn="l" indent="0" marL="0">
              <a:buNone/>
            </a:pPr>
            <a:r>
              <a:rPr lang="en-US" sz="3200" b="1" dirty="0">
                <a:solidFill>
                  <a:schemeClr val="tx1"/>
                </a:solidFill>
              </a:rPr>
              <a:t>First approach: an ELISA-style plate assay</a:t>
            </a:r>
            <a:endParaRPr lang="en-US" sz="3200" dirty="0"/>
          </a:p>
        </p:txBody>
      </p:sp>
      <p:sp>
        <p:nvSpPr>
          <p:cNvPr id="3" name="progress-WP1"/>
          <p:cNvSpPr/>
          <p:nvPr/>
        </p:nvSpPr>
        <p:spPr>
          <a:xfrm>
            <a:off x="10104120" y="548640"/>
            <a:ext cx="438912" cy="438912"/>
          </a:xfrm>
          <a:prstGeom prst="ellipse">
            <a:avLst/>
          </a:prstGeom>
          <a:solidFill>
            <a:schemeClr val="bg2"/>
          </a:solidFill>
          <a:ln w="12700">
            <a:solidFill>
              <a:schemeClr val="accent5"/>
            </a:solidFill>
            <a:prstDash val="solid"/>
          </a:ln>
        </p:spPr>
      </p:sp>
      <p:sp>
        <p:nvSpPr>
          <p:cNvPr id="4" name="Text 2"/>
          <p:cNvSpPr txBox="1"/>
          <p:nvPr/>
        </p:nvSpPr>
        <p:spPr>
          <a:xfrm>
            <a:off x="10104120" y="548640"/>
            <a:ext cx="438912" cy="438912"/>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5" name="progress-WP2"/>
          <p:cNvSpPr/>
          <p:nvPr/>
        </p:nvSpPr>
        <p:spPr>
          <a:xfrm>
            <a:off x="10671048" y="548640"/>
            <a:ext cx="438912" cy="438912"/>
          </a:xfrm>
          <a:prstGeom prst="ellipse">
            <a:avLst/>
          </a:prstGeom>
          <a:solidFill>
            <a:schemeClr val="accent1"/>
          </a:solidFill>
          <a:ln w="12700">
            <a:solidFill>
              <a:schemeClr val="accent1"/>
            </a:solidFill>
            <a:prstDash val="solid"/>
          </a:ln>
        </p:spPr>
      </p:sp>
      <p:sp>
        <p:nvSpPr>
          <p:cNvPr id="6" name="Text 4"/>
          <p:cNvSpPr txBox="1"/>
          <p:nvPr/>
        </p:nvSpPr>
        <p:spPr>
          <a:xfrm>
            <a:off x="10671048" y="54864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progress-WP3"/>
          <p:cNvSpPr/>
          <p:nvPr/>
        </p:nvSpPr>
        <p:spPr>
          <a:xfrm>
            <a:off x="11237976" y="548640"/>
            <a:ext cx="438912" cy="438912"/>
          </a:xfrm>
          <a:prstGeom prst="ellipse">
            <a:avLst/>
          </a:prstGeom>
          <a:solidFill>
            <a:schemeClr val="bg2"/>
          </a:solidFill>
          <a:ln w="12700">
            <a:solidFill>
              <a:schemeClr val="accent5"/>
            </a:solidFill>
            <a:prstDash val="solid"/>
          </a:ln>
        </p:spPr>
      </p:sp>
      <p:sp>
        <p:nvSpPr>
          <p:cNvPr id="8" name="Text 6"/>
          <p:cNvSpPr txBox="1"/>
          <p:nvPr/>
        </p:nvSpPr>
        <p:spPr>
          <a:xfrm>
            <a:off x="11237976" y="548640"/>
            <a:ext cx="438912" cy="438912"/>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pic>
        <p:nvPicPr>
          <p:cNvPr id="9" name="ELISA well: coated target, biotinylated aptamer, HRP colour readout" descr="ELISA well: coated target, biotinylated aptamer, HRP colour readout">    </p:cNvPr>
          <p:cNvPicPr>
            <a:picLocks noChangeAspect="1"/>
          </p:cNvPicPr>
          <p:nvPr/>
        </p:nvPicPr>
        <p:blipFill>
          <a:blip r:embed="rId1"/>
          <a:stretch>
            <a:fillRect/>
          </a:stretch>
        </p:blipFill>
        <p:spPr>
          <a:xfrm>
            <a:off x="548640" y="1463040"/>
            <a:ext cx="6035040" cy="3755136"/>
          </a:xfrm>
          <a:prstGeom prst="rect">
            <a:avLst/>
          </a:prstGeom>
        </p:spPr>
      </p:pic>
      <p:sp>
        <p:nvSpPr>
          <p:cNvPr id="10" name="Shape 7"/>
          <p:cNvSpPr/>
          <p:nvPr/>
        </p:nvSpPr>
        <p:spPr>
          <a:xfrm>
            <a:off x="7040880" y="1463040"/>
            <a:ext cx="4572000" cy="1051560"/>
          </a:xfrm>
          <a:prstGeom prst="roundRect">
            <a:avLst>
              <a:gd name="adj" fmla="val 10435"/>
            </a:avLst>
          </a:prstGeom>
          <a:solidFill>
            <a:schemeClr val="bg2"/>
          </a:solidFill>
          <a:ln w="12700">
            <a:solidFill>
              <a:schemeClr val="bg2"/>
            </a:solidFill>
            <a:prstDash val="solid"/>
          </a:ln>
        </p:spPr>
      </p:sp>
      <p:sp>
        <p:nvSpPr>
          <p:cNvPr id="11" name="Text 8"/>
          <p:cNvSpPr txBox="1"/>
          <p:nvPr/>
        </p:nvSpPr>
        <p:spPr>
          <a:xfrm>
            <a:off x="7223760" y="1600200"/>
            <a:ext cx="4206240" cy="77724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Familiar &amp; available</a:t>
            </a:r>
            <a:endParaRPr lang="en-US" sz="1600" dirty="0"/>
          </a:p>
          <a:p>
            <a:pPr indent="0" marL="0">
              <a:spcAft>
                <a:spcPts val="400"/>
              </a:spcAft>
              <a:buNone/>
            </a:pPr>
            <a:r>
              <a:rPr lang="en-US" sz="1500" dirty="0">
                <a:solidFill>
                  <a:schemeClr val="tx1"/>
                </a:solidFill>
              </a:rPr>
              <a:t>Standard lab method, plates and readers in-house</a:t>
            </a:r>
            <a:endParaRPr lang="en-US" sz="1600" dirty="0"/>
          </a:p>
        </p:txBody>
      </p:sp>
      <p:sp>
        <p:nvSpPr>
          <p:cNvPr id="12" name="Shape 9"/>
          <p:cNvSpPr/>
          <p:nvPr/>
        </p:nvSpPr>
        <p:spPr>
          <a:xfrm>
            <a:off x="7040880" y="2697480"/>
            <a:ext cx="457200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223760" y="2834640"/>
            <a:ext cx="4206240" cy="77724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Many conditions at once</a:t>
            </a:r>
            <a:endParaRPr lang="en-US" sz="1600" dirty="0"/>
          </a:p>
          <a:p>
            <a:pPr indent="0" marL="0">
              <a:spcAft>
                <a:spcPts val="400"/>
              </a:spcAft>
              <a:buNone/>
            </a:pPr>
            <a:r>
              <a:rPr lang="en-US" sz="1500" dirty="0">
                <a:solidFill>
                  <a:schemeClr val="tx1"/>
                </a:solidFill>
              </a:rPr>
              <a:t>96 wells → aptamers × buffers in one run</a:t>
            </a:r>
            <a:endParaRPr lang="en-US" sz="1600" dirty="0"/>
          </a:p>
        </p:txBody>
      </p:sp>
      <p:sp>
        <p:nvSpPr>
          <p:cNvPr id="14" name="Shape 11"/>
          <p:cNvSpPr/>
          <p:nvPr/>
        </p:nvSpPr>
        <p:spPr>
          <a:xfrm>
            <a:off x="7040880" y="3931920"/>
            <a:ext cx="4572000" cy="1051560"/>
          </a:xfrm>
          <a:prstGeom prst="roundRect">
            <a:avLst>
              <a:gd name="adj" fmla="val 10435"/>
            </a:avLst>
          </a:prstGeom>
          <a:solidFill>
            <a:schemeClr val="bg2"/>
          </a:solidFill>
          <a:ln w="12700">
            <a:solidFill>
              <a:schemeClr val="bg2"/>
            </a:solidFill>
            <a:prstDash val="solid"/>
          </a:ln>
        </p:spPr>
      </p:sp>
      <p:sp>
        <p:nvSpPr>
          <p:cNvPr id="15" name="Text 12"/>
          <p:cNvSpPr txBox="1"/>
          <p:nvPr/>
        </p:nvSpPr>
        <p:spPr>
          <a:xfrm>
            <a:off x="7223760" y="4069080"/>
            <a:ext cx="4206240" cy="77724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Colour readout</a:t>
            </a:r>
            <a:endParaRPr lang="en-US" sz="1600" dirty="0"/>
          </a:p>
          <a:p>
            <a:pPr indent="0" marL="0">
              <a:spcAft>
                <a:spcPts val="400"/>
              </a:spcAft>
              <a:buNone/>
            </a:pPr>
            <a:r>
              <a:rPr lang="en-US" sz="1500" dirty="0">
                <a:solidFill>
                  <a:schemeClr val="tx1"/>
                </a:solidFill>
              </a:rPr>
              <a:t>Like the final strip test</a:t>
            </a:r>
            <a:endParaRPr lang="en-US" sz="1600" dirty="0"/>
          </a:p>
        </p:txBody>
      </p:sp>
      <p:sp>
        <p:nvSpPr>
          <p:cNvPr id="16" name="Text 13"/>
          <p:cNvSpPr txBox="1"/>
          <p:nvPr/>
        </p:nvSpPr>
        <p:spPr>
          <a:xfrm>
            <a:off x="548640" y="5669280"/>
            <a:ext cx="6035040" cy="365760"/>
          </a:xfrm>
          <a:prstGeom prst="rect">
            <a:avLst/>
          </a:prstGeom>
          <a:noFill/>
          <a:ln/>
        </p:spPr>
        <p:txBody>
          <a:bodyPr wrap="square" lIns="0" tIns="0" rIns="0" bIns="0" rtlCol="0" anchor="t"/>
          <a:lstStyle/>
          <a:p>
            <a:pPr algn="ctr" indent="0" marL="0">
              <a:buNone/>
            </a:pPr>
            <a:r>
              <a:rPr lang="en-US" sz="1400" i="1" dirty="0">
                <a:solidFill>
                  <a:schemeClr val="tx2"/>
                </a:solidFill>
              </a:rPr>
              <a:t>target coated → labelled aptamer binds → wash → enzyme makes colour</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326880" cy="914400"/>
          </a:xfrm>
          <a:prstGeom prst="rect">
            <a:avLst/>
          </a:prstGeom>
          <a:noFill/>
          <a:ln/>
        </p:spPr>
        <p:txBody>
          <a:bodyPr wrap="square" lIns="0" tIns="0" rIns="0" bIns="0" rtlCol="0" anchor="ctr"/>
          <a:lstStyle/>
          <a:p>
            <a:pPr algn="l" indent="0" marL="0">
              <a:buNone/>
            </a:pPr>
            <a:r>
              <a:rPr lang="en-US" sz="3200" b="1" dirty="0">
                <a:solidFill>
                  <a:schemeClr val="tx1"/>
                </a:solidFill>
              </a:rPr>
              <a:t>Plot twist: ELISA measured the assay, not the aptamer</a:t>
            </a:r>
            <a:endParaRPr lang="en-US" sz="3200" dirty="0"/>
          </a:p>
        </p:txBody>
      </p:sp>
      <p:sp>
        <p:nvSpPr>
          <p:cNvPr id="3" name="progress-WP1"/>
          <p:cNvSpPr/>
          <p:nvPr/>
        </p:nvSpPr>
        <p:spPr>
          <a:xfrm>
            <a:off x="10104120" y="548640"/>
            <a:ext cx="438912" cy="438912"/>
          </a:xfrm>
          <a:prstGeom prst="ellipse">
            <a:avLst/>
          </a:prstGeom>
          <a:solidFill>
            <a:schemeClr val="bg2"/>
          </a:solidFill>
          <a:ln w="12700">
            <a:solidFill>
              <a:schemeClr val="accent5"/>
            </a:solidFill>
            <a:prstDash val="solid"/>
          </a:ln>
        </p:spPr>
      </p:sp>
      <p:sp>
        <p:nvSpPr>
          <p:cNvPr id="4" name="Text 2"/>
          <p:cNvSpPr txBox="1"/>
          <p:nvPr/>
        </p:nvSpPr>
        <p:spPr>
          <a:xfrm>
            <a:off x="10104120" y="548640"/>
            <a:ext cx="438912" cy="438912"/>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5" name="progress-WP2"/>
          <p:cNvSpPr/>
          <p:nvPr/>
        </p:nvSpPr>
        <p:spPr>
          <a:xfrm>
            <a:off x="10671048" y="548640"/>
            <a:ext cx="438912" cy="438912"/>
          </a:xfrm>
          <a:prstGeom prst="ellipse">
            <a:avLst/>
          </a:prstGeom>
          <a:solidFill>
            <a:schemeClr val="accent1"/>
          </a:solidFill>
          <a:ln w="12700">
            <a:solidFill>
              <a:schemeClr val="accent1"/>
            </a:solidFill>
            <a:prstDash val="solid"/>
          </a:ln>
        </p:spPr>
      </p:sp>
      <p:sp>
        <p:nvSpPr>
          <p:cNvPr id="6" name="Text 4"/>
          <p:cNvSpPr txBox="1"/>
          <p:nvPr/>
        </p:nvSpPr>
        <p:spPr>
          <a:xfrm>
            <a:off x="10671048" y="54864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progress-WP3"/>
          <p:cNvSpPr/>
          <p:nvPr/>
        </p:nvSpPr>
        <p:spPr>
          <a:xfrm>
            <a:off x="11237976" y="548640"/>
            <a:ext cx="438912" cy="438912"/>
          </a:xfrm>
          <a:prstGeom prst="ellipse">
            <a:avLst/>
          </a:prstGeom>
          <a:solidFill>
            <a:schemeClr val="bg2"/>
          </a:solidFill>
          <a:ln w="12700">
            <a:solidFill>
              <a:schemeClr val="accent5"/>
            </a:solidFill>
            <a:prstDash val="solid"/>
          </a:ln>
        </p:spPr>
      </p:sp>
      <p:sp>
        <p:nvSpPr>
          <p:cNvPr id="8" name="Text 6"/>
          <p:cNvSpPr txBox="1"/>
          <p:nvPr/>
        </p:nvSpPr>
        <p:spPr>
          <a:xfrm>
            <a:off x="11237976" y="548640"/>
            <a:ext cx="438912" cy="438912"/>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pic>
        <p:nvPicPr>
          <p:cNvPr id="9" name="ELISA well with weak patchy signal" descr="ELISA well with weak patchy signal">    </p:cNvPr>
          <p:cNvPicPr>
            <a:picLocks noChangeAspect="1"/>
          </p:cNvPicPr>
          <p:nvPr/>
        </p:nvPicPr>
        <p:blipFill>
          <a:blip r:embed="rId1"/>
          <a:stretch>
            <a:fillRect/>
          </a:stretch>
        </p:blipFill>
        <p:spPr>
          <a:xfrm>
            <a:off x="548640" y="1463040"/>
            <a:ext cx="5120640" cy="3186176"/>
          </a:xfrm>
          <a:prstGeom prst="rect">
            <a:avLst/>
          </a:prstGeom>
        </p:spPr>
      </p:pic>
      <p:sp>
        <p:nvSpPr>
          <p:cNvPr id="10" name="Shape 7"/>
          <p:cNvSpPr/>
          <p:nvPr/>
        </p:nvSpPr>
        <p:spPr>
          <a:xfrm>
            <a:off x="6035040" y="1572768"/>
            <a:ext cx="548640" cy="548640"/>
          </a:xfrm>
          <a:prstGeom prst="ellipse">
            <a:avLst/>
          </a:prstGeom>
          <a:solidFill>
            <a:schemeClr val="accent2"/>
          </a:solidFill>
          <a:ln w="12700">
            <a:solidFill>
              <a:schemeClr val="accent2"/>
            </a:solidFill>
            <a:prstDash val="solid"/>
          </a:ln>
        </p:spPr>
      </p:sp>
      <p:sp>
        <p:nvSpPr>
          <p:cNvPr id="11" name="Text 8"/>
          <p:cNvSpPr txBox="1"/>
          <p:nvPr/>
        </p:nvSpPr>
        <p:spPr>
          <a:xfrm>
            <a:off x="6035040" y="15727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2" name="Text 9"/>
          <p:cNvSpPr txBox="1"/>
          <p:nvPr/>
        </p:nvSpPr>
        <p:spPr>
          <a:xfrm>
            <a:off x="6766560" y="1463040"/>
            <a:ext cx="4937760" cy="960120"/>
          </a:xfrm>
          <a:prstGeom prst="rect">
            <a:avLst/>
          </a:prstGeom>
          <a:noFill/>
          <a:ln/>
        </p:spPr>
        <p:txBody>
          <a:bodyPr wrap="square" lIns="0" tIns="0" rIns="0" bIns="0" rtlCol="0" anchor="t"/>
          <a:lstStyle/>
          <a:p>
            <a:pPr indent="0" marL="0">
              <a:buNone/>
            </a:pPr>
            <a:r>
              <a:rPr lang="en-US" sz="1700" b="1" dirty="0">
                <a:solidFill>
                  <a:schemeClr val="tx1"/>
                </a:solidFill>
              </a:rPr>
              <a:t>Surface changes the players</a:t>
            </a:r>
            <a:endParaRPr lang="en-US" sz="1600" dirty="0"/>
          </a:p>
          <a:p>
            <a:pPr indent="0" marL="0">
              <a:buNone/>
            </a:pPr>
            <a:r>
              <a:rPr lang="en-US" sz="1500" dirty="0">
                <a:solidFill>
                  <a:schemeClr val="tx2"/>
                </a:solidFill>
              </a:rPr>
              <a:t>Coated target / tethered aptamer may not fold or bind as in solution</a:t>
            </a:r>
            <a:endParaRPr lang="en-US" sz="1600" dirty="0"/>
          </a:p>
        </p:txBody>
      </p:sp>
      <p:sp>
        <p:nvSpPr>
          <p:cNvPr id="13" name="Shape 10"/>
          <p:cNvSpPr/>
          <p:nvPr/>
        </p:nvSpPr>
        <p:spPr>
          <a:xfrm>
            <a:off x="6035040" y="2651760"/>
            <a:ext cx="548640" cy="548640"/>
          </a:xfrm>
          <a:prstGeom prst="ellipse">
            <a:avLst/>
          </a:prstGeom>
          <a:solidFill>
            <a:schemeClr val="accent2"/>
          </a:solidFill>
          <a:ln w="12700">
            <a:solidFill>
              <a:schemeClr val="accent2"/>
            </a:solidFill>
            <a:prstDash val="solid"/>
          </a:ln>
        </p:spPr>
      </p:sp>
      <p:sp>
        <p:nvSpPr>
          <p:cNvPr id="14" name="Text 11"/>
          <p:cNvSpPr txBox="1"/>
          <p:nvPr/>
        </p:nvSpPr>
        <p:spPr>
          <a:xfrm>
            <a:off x="6035040" y="2651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5" name="Text 12"/>
          <p:cNvSpPr txBox="1"/>
          <p:nvPr/>
        </p:nvSpPr>
        <p:spPr>
          <a:xfrm>
            <a:off x="6766560" y="2542032"/>
            <a:ext cx="4937760" cy="960120"/>
          </a:xfrm>
          <a:prstGeom prst="rect">
            <a:avLst/>
          </a:prstGeom>
          <a:noFill/>
          <a:ln/>
        </p:spPr>
        <p:txBody>
          <a:bodyPr wrap="square" lIns="0" tIns="0" rIns="0" bIns="0" rtlCol="0" anchor="t"/>
          <a:lstStyle/>
          <a:p>
            <a:pPr indent="0" marL="0">
              <a:buNone/>
            </a:pPr>
            <a:r>
              <a:rPr lang="en-US" sz="1700" b="1" dirty="0">
                <a:solidFill>
                  <a:schemeClr val="tx1"/>
                </a:solidFill>
              </a:rPr>
              <a:t>Washing removes fast binders</a:t>
            </a:r>
            <a:endParaRPr lang="en-US" sz="1600" dirty="0"/>
          </a:p>
          <a:p>
            <a:pPr indent="0" marL="0">
              <a:buNone/>
            </a:pPr>
            <a:r>
              <a:rPr lang="en-US" sz="1500" dirty="0">
                <a:solidFill>
                  <a:schemeClr val="tx2"/>
                </a:solidFill>
              </a:rPr>
              <a:t>Aptamers with fast off-rates are lost — affinity underestimated</a:t>
            </a:r>
            <a:endParaRPr lang="en-US" sz="1600" dirty="0"/>
          </a:p>
        </p:txBody>
      </p:sp>
      <p:sp>
        <p:nvSpPr>
          <p:cNvPr id="16" name="Shape 13"/>
          <p:cNvSpPr/>
          <p:nvPr/>
        </p:nvSpPr>
        <p:spPr>
          <a:xfrm>
            <a:off x="6035040" y="3730752"/>
            <a:ext cx="548640" cy="548640"/>
          </a:xfrm>
          <a:prstGeom prst="ellipse">
            <a:avLst/>
          </a:prstGeom>
          <a:solidFill>
            <a:schemeClr val="accent2"/>
          </a:solidFill>
          <a:ln w="12700">
            <a:solidFill>
              <a:schemeClr val="accent2"/>
            </a:solidFill>
            <a:prstDash val="solid"/>
          </a:ln>
        </p:spPr>
      </p:sp>
      <p:sp>
        <p:nvSpPr>
          <p:cNvPr id="17" name="Text 14"/>
          <p:cNvSpPr txBox="1"/>
          <p:nvPr/>
        </p:nvSpPr>
        <p:spPr>
          <a:xfrm>
            <a:off x="6035040" y="3730752"/>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Text 15"/>
          <p:cNvSpPr txBox="1"/>
          <p:nvPr/>
        </p:nvSpPr>
        <p:spPr>
          <a:xfrm>
            <a:off x="6766560" y="3621024"/>
            <a:ext cx="4937760" cy="960120"/>
          </a:xfrm>
          <a:prstGeom prst="rect">
            <a:avLst/>
          </a:prstGeom>
          <a:noFill/>
          <a:ln/>
        </p:spPr>
        <p:txBody>
          <a:bodyPr wrap="square" lIns="0" tIns="0" rIns="0" bIns="0" rtlCol="0" anchor="t"/>
          <a:lstStyle/>
          <a:p>
            <a:pPr indent="0" marL="0">
              <a:buNone/>
            </a:pPr>
            <a:r>
              <a:rPr lang="en-US" sz="1700" b="1" dirty="0">
                <a:solidFill>
                  <a:schemeClr val="tx1"/>
                </a:solidFill>
              </a:rPr>
              <a:t>Each aptamer wants its own buffer</a:t>
            </a:r>
            <a:endParaRPr lang="en-US" sz="1600" dirty="0"/>
          </a:p>
          <a:p>
            <a:pPr indent="0" marL="0">
              <a:buNone/>
            </a:pPr>
            <a:r>
              <a:rPr lang="en-US" sz="1500" dirty="0">
                <a:solidFill>
                  <a:schemeClr val="tx2"/>
                </a:solidFill>
              </a:rPr>
              <a:t>Salt &amp; Mg²⁺ change folding; one wash buffer is unfair to some</a:t>
            </a:r>
            <a:endParaRPr lang="en-US" sz="1600" dirty="0"/>
          </a:p>
        </p:txBody>
      </p:sp>
      <p:sp>
        <p:nvSpPr>
          <p:cNvPr id="19" name="Shape 16"/>
          <p:cNvSpPr/>
          <p:nvPr/>
        </p:nvSpPr>
        <p:spPr>
          <a:xfrm>
            <a:off x="6035040" y="4809744"/>
            <a:ext cx="548640" cy="548640"/>
          </a:xfrm>
          <a:prstGeom prst="ellipse">
            <a:avLst/>
          </a:prstGeom>
          <a:solidFill>
            <a:schemeClr val="accent2"/>
          </a:solidFill>
          <a:ln w="12700">
            <a:solidFill>
              <a:schemeClr val="accent2"/>
            </a:solidFill>
            <a:prstDash val="solid"/>
          </a:ln>
        </p:spPr>
      </p:sp>
      <p:sp>
        <p:nvSpPr>
          <p:cNvPr id="20" name="Text 17"/>
          <p:cNvSpPr txBox="1"/>
          <p:nvPr/>
        </p:nvSpPr>
        <p:spPr>
          <a:xfrm>
            <a:off x="6035040" y="4809744"/>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Text 18"/>
          <p:cNvSpPr txBox="1"/>
          <p:nvPr/>
        </p:nvSpPr>
        <p:spPr>
          <a:xfrm>
            <a:off x="6766560" y="4700016"/>
            <a:ext cx="4937760" cy="960120"/>
          </a:xfrm>
          <a:prstGeom prst="rect">
            <a:avLst/>
          </a:prstGeom>
          <a:noFill/>
          <a:ln/>
        </p:spPr>
        <p:txBody>
          <a:bodyPr wrap="square" lIns="0" tIns="0" rIns="0" bIns="0" rtlCol="0" anchor="t"/>
          <a:lstStyle/>
          <a:p>
            <a:pPr indent="0" marL="0">
              <a:buNone/>
            </a:pPr>
            <a:r>
              <a:rPr lang="en-US" sz="1700" b="1" dirty="0">
                <a:solidFill>
                  <a:schemeClr val="tx1"/>
                </a:solidFill>
              </a:rPr>
              <a:t>Stool raises background</a:t>
            </a:r>
            <a:endParaRPr lang="en-US" sz="1600" dirty="0"/>
          </a:p>
          <a:p>
            <a:pPr indent="0" marL="0">
              <a:buNone/>
            </a:pPr>
            <a:r>
              <a:rPr lang="en-US" sz="1500" dirty="0">
                <a:solidFill>
                  <a:schemeClr val="tx2"/>
                </a:solidFill>
              </a:rPr>
              <a:t>Blocking agents and matrix stick to the plate and the DNA</a:t>
            </a:r>
            <a:endParaRPr lang="en-US" sz="1600" dirty="0"/>
          </a:p>
        </p:txBody>
      </p:sp>
      <p:sp>
        <p:nvSpPr>
          <p:cNvPr id="22" name="Text 19"/>
          <p:cNvSpPr txBox="1"/>
          <p:nvPr/>
        </p:nvSpPr>
        <p:spPr>
          <a:xfrm>
            <a:off x="548640" y="5760720"/>
            <a:ext cx="10515600" cy="365760"/>
          </a:xfrm>
          <a:prstGeom prst="rect">
            <a:avLst/>
          </a:prstGeom>
          <a:noFill/>
          <a:ln/>
        </p:spPr>
        <p:txBody>
          <a:bodyPr wrap="square" lIns="0" tIns="0" rIns="0" bIns="0" rtlCol="0" anchor="t"/>
          <a:lstStyle/>
          <a:p>
            <a:pPr indent="0" marL="0">
              <a:buNone/>
            </a:pPr>
            <a:r>
              <a:rPr lang="en-US" sz="1400" i="1" dirty="0">
                <a:solidFill>
                  <a:schemeClr val="tx2"/>
                </a:solidFill>
              </a:rPr>
              <a:t>[Optional: add your ELISA result — e.g. low signal / no ranking / high stool background]</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326880" cy="914400"/>
          </a:xfrm>
          <a:prstGeom prst="rect">
            <a:avLst/>
          </a:prstGeom>
          <a:noFill/>
          <a:ln/>
        </p:spPr>
        <p:txBody>
          <a:bodyPr wrap="square" lIns="0" tIns="0" rIns="0" bIns="0" rtlCol="0" anchor="ctr"/>
          <a:lstStyle/>
          <a:p>
            <a:pPr algn="l" indent="0" marL="0">
              <a:buNone/>
            </a:pPr>
            <a:r>
              <a:rPr lang="en-US" sz="3200" b="1" dirty="0">
                <a:solidFill>
                  <a:schemeClr val="tx1"/>
                </a:solidFill>
              </a:rPr>
              <a:t>The fix: fluorescence polarization, binding in solution</a:t>
            </a:r>
            <a:endParaRPr lang="en-US" sz="3200" dirty="0"/>
          </a:p>
        </p:txBody>
      </p:sp>
      <p:sp>
        <p:nvSpPr>
          <p:cNvPr id="3" name="progress-WP1"/>
          <p:cNvSpPr/>
          <p:nvPr/>
        </p:nvSpPr>
        <p:spPr>
          <a:xfrm>
            <a:off x="10104120" y="548640"/>
            <a:ext cx="438912" cy="438912"/>
          </a:xfrm>
          <a:prstGeom prst="ellipse">
            <a:avLst/>
          </a:prstGeom>
          <a:solidFill>
            <a:schemeClr val="bg2"/>
          </a:solidFill>
          <a:ln w="12700">
            <a:solidFill>
              <a:schemeClr val="accent5"/>
            </a:solidFill>
            <a:prstDash val="solid"/>
          </a:ln>
        </p:spPr>
      </p:sp>
      <p:sp>
        <p:nvSpPr>
          <p:cNvPr id="4" name="Text 2"/>
          <p:cNvSpPr txBox="1"/>
          <p:nvPr/>
        </p:nvSpPr>
        <p:spPr>
          <a:xfrm>
            <a:off x="10104120" y="548640"/>
            <a:ext cx="438912" cy="438912"/>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5" name="progress-WP2"/>
          <p:cNvSpPr/>
          <p:nvPr/>
        </p:nvSpPr>
        <p:spPr>
          <a:xfrm>
            <a:off x="10671048" y="548640"/>
            <a:ext cx="438912" cy="438912"/>
          </a:xfrm>
          <a:prstGeom prst="ellipse">
            <a:avLst/>
          </a:prstGeom>
          <a:solidFill>
            <a:schemeClr val="accent1"/>
          </a:solidFill>
          <a:ln w="12700">
            <a:solidFill>
              <a:schemeClr val="accent1"/>
            </a:solidFill>
            <a:prstDash val="solid"/>
          </a:ln>
        </p:spPr>
      </p:sp>
      <p:sp>
        <p:nvSpPr>
          <p:cNvPr id="6" name="Text 4"/>
          <p:cNvSpPr txBox="1"/>
          <p:nvPr/>
        </p:nvSpPr>
        <p:spPr>
          <a:xfrm>
            <a:off x="10671048" y="54864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progress-WP3"/>
          <p:cNvSpPr/>
          <p:nvPr/>
        </p:nvSpPr>
        <p:spPr>
          <a:xfrm>
            <a:off x="11237976" y="548640"/>
            <a:ext cx="438912" cy="438912"/>
          </a:xfrm>
          <a:prstGeom prst="ellipse">
            <a:avLst/>
          </a:prstGeom>
          <a:solidFill>
            <a:schemeClr val="bg2"/>
          </a:solidFill>
          <a:ln w="12700">
            <a:solidFill>
              <a:schemeClr val="accent5"/>
            </a:solidFill>
            <a:prstDash val="solid"/>
          </a:ln>
        </p:spPr>
      </p:sp>
      <p:sp>
        <p:nvSpPr>
          <p:cNvPr id="8" name="Text 6"/>
          <p:cNvSpPr txBox="1"/>
          <p:nvPr/>
        </p:nvSpPr>
        <p:spPr>
          <a:xfrm>
            <a:off x="11237976" y="548640"/>
            <a:ext cx="438912" cy="438912"/>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pic>
        <p:nvPicPr>
          <p:cNvPr id="9" name="Fluorescence polarization principle: free aptamer tumbles fast, bound aptamer slowly" descr="Fluorescence polarization principle: free aptamer tumbles fast, bound aptamer slowly">    </p:cNvPr>
          <p:cNvPicPr>
            <a:picLocks noChangeAspect="1"/>
          </p:cNvPicPr>
          <p:nvPr/>
        </p:nvPicPr>
        <p:blipFill>
          <a:blip r:embed="rId1"/>
          <a:stretch>
            <a:fillRect/>
          </a:stretch>
        </p:blipFill>
        <p:spPr>
          <a:xfrm>
            <a:off x="457200" y="1417320"/>
            <a:ext cx="6949440" cy="3263215"/>
          </a:xfrm>
          <a:prstGeom prst="rect">
            <a:avLst/>
          </a:prstGeom>
        </p:spPr>
      </p:pic>
      <p:graphicFrame>
        <p:nvGraphicFramePr>
          <p:cNvPr id="10" name="Chart 0" descr=""/>
          <p:cNvGraphicFramePr/>
          <p:nvPr/>
        </p:nvGraphicFramePr>
        <p:xfrm>
          <a:off x="7635240" y="1371600"/>
          <a:ext cx="4114800" cy="32004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457200" y="4892040"/>
            <a:ext cx="2606040" cy="1051560"/>
          </a:xfrm>
          <a:prstGeom prst="roundRect">
            <a:avLst>
              <a:gd name="adj" fmla="val 10435"/>
            </a:avLst>
          </a:prstGeom>
          <a:solidFill>
            <a:schemeClr val="bg2"/>
          </a:solidFill>
          <a:ln w="12700">
            <a:solidFill>
              <a:schemeClr val="bg2"/>
            </a:solidFill>
            <a:prstDash val="solid"/>
          </a:ln>
        </p:spPr>
      </p:sp>
      <p:sp>
        <p:nvSpPr>
          <p:cNvPr id="12" name="Text 8"/>
          <p:cNvSpPr txBox="1"/>
          <p:nvPr/>
        </p:nvSpPr>
        <p:spPr>
          <a:xfrm>
            <a:off x="640080" y="5029200"/>
            <a:ext cx="2240280" cy="77724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No surface</a:t>
            </a:r>
            <a:endParaRPr lang="en-US" sz="1600" dirty="0"/>
          </a:p>
          <a:p>
            <a:pPr indent="0" marL="0">
              <a:spcAft>
                <a:spcPts val="400"/>
              </a:spcAft>
              <a:buNone/>
            </a:pPr>
            <a:r>
              <a:rPr lang="en-US" sz="1500" dirty="0">
                <a:solidFill>
                  <a:schemeClr val="tx1"/>
                </a:solidFill>
              </a:rPr>
              <a:t>aptamer folds freely</a:t>
            </a:r>
            <a:endParaRPr lang="en-US" sz="1600" dirty="0"/>
          </a:p>
        </p:txBody>
      </p:sp>
      <p:sp>
        <p:nvSpPr>
          <p:cNvPr id="13" name="Shape 9"/>
          <p:cNvSpPr/>
          <p:nvPr/>
        </p:nvSpPr>
        <p:spPr>
          <a:xfrm>
            <a:off x="3291840" y="4892040"/>
            <a:ext cx="2606040" cy="1051560"/>
          </a:xfrm>
          <a:prstGeom prst="roundRect">
            <a:avLst>
              <a:gd name="adj" fmla="val 10435"/>
            </a:avLst>
          </a:prstGeom>
          <a:solidFill>
            <a:schemeClr val="bg2"/>
          </a:solidFill>
          <a:ln w="12700">
            <a:solidFill>
              <a:schemeClr val="bg2"/>
            </a:solidFill>
            <a:prstDash val="solid"/>
          </a:ln>
        </p:spPr>
      </p:sp>
      <p:sp>
        <p:nvSpPr>
          <p:cNvPr id="14" name="Text 10"/>
          <p:cNvSpPr txBox="1"/>
          <p:nvPr/>
        </p:nvSpPr>
        <p:spPr>
          <a:xfrm>
            <a:off x="3474720" y="5029200"/>
            <a:ext cx="2240280" cy="77724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No washes</a:t>
            </a:r>
            <a:endParaRPr lang="en-US" sz="1600" dirty="0"/>
          </a:p>
          <a:p>
            <a:pPr indent="0" marL="0">
              <a:spcAft>
                <a:spcPts val="400"/>
              </a:spcAft>
              <a:buNone/>
            </a:pPr>
            <a:r>
              <a:rPr lang="en-US" sz="1500" dirty="0">
                <a:solidFill>
                  <a:schemeClr val="tx1"/>
                </a:solidFill>
              </a:rPr>
              <a:t>equilibrium Kd</a:t>
            </a:r>
            <a:endParaRPr lang="en-US" sz="1600" dirty="0"/>
          </a:p>
        </p:txBody>
      </p:sp>
      <p:sp>
        <p:nvSpPr>
          <p:cNvPr id="15" name="Shape 11"/>
          <p:cNvSpPr/>
          <p:nvPr/>
        </p:nvSpPr>
        <p:spPr>
          <a:xfrm>
            <a:off x="6126480" y="4892040"/>
            <a:ext cx="2606040" cy="1051560"/>
          </a:xfrm>
          <a:prstGeom prst="roundRect">
            <a:avLst>
              <a:gd name="adj" fmla="val 10435"/>
            </a:avLst>
          </a:prstGeom>
          <a:solidFill>
            <a:schemeClr val="bg2"/>
          </a:solidFill>
          <a:ln w="12700">
            <a:solidFill>
              <a:schemeClr val="bg2"/>
            </a:solidFill>
            <a:prstDash val="solid"/>
          </a:ln>
        </p:spPr>
      </p:sp>
      <p:sp>
        <p:nvSpPr>
          <p:cNvPr id="16" name="Text 12"/>
          <p:cNvSpPr txBox="1"/>
          <p:nvPr/>
        </p:nvSpPr>
        <p:spPr>
          <a:xfrm>
            <a:off x="6309360" y="5029200"/>
            <a:ext cx="2240280" cy="77724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Mix &amp; read</a:t>
            </a:r>
            <a:endParaRPr lang="en-US" sz="1600" dirty="0"/>
          </a:p>
          <a:p>
            <a:pPr indent="0" marL="0">
              <a:spcAft>
                <a:spcPts val="400"/>
              </a:spcAft>
              <a:buNone/>
            </a:pPr>
            <a:r>
              <a:rPr lang="en-US" sz="1500" dirty="0">
                <a:solidFill>
                  <a:schemeClr val="tx1"/>
                </a:solidFill>
              </a:rPr>
              <a:t>minutes, any buffer</a:t>
            </a:r>
            <a:endParaRPr lang="en-US" sz="1600" dirty="0"/>
          </a:p>
        </p:txBody>
      </p:sp>
      <p:sp>
        <p:nvSpPr>
          <p:cNvPr id="17" name="Shape 13"/>
          <p:cNvSpPr/>
          <p:nvPr/>
        </p:nvSpPr>
        <p:spPr>
          <a:xfrm>
            <a:off x="8961120" y="4892040"/>
            <a:ext cx="2606040" cy="1051560"/>
          </a:xfrm>
          <a:prstGeom prst="roundRect">
            <a:avLst>
              <a:gd name="adj" fmla="val 10435"/>
            </a:avLst>
          </a:prstGeom>
          <a:solidFill>
            <a:schemeClr val="bg2"/>
          </a:solidFill>
          <a:ln w="12700">
            <a:solidFill>
              <a:schemeClr val="bg2"/>
            </a:solidFill>
            <a:prstDash val="solid"/>
          </a:ln>
        </p:spPr>
      </p:sp>
      <p:sp>
        <p:nvSpPr>
          <p:cNvPr id="18" name="Text 14"/>
          <p:cNvSpPr txBox="1"/>
          <p:nvPr/>
        </p:nvSpPr>
        <p:spPr>
          <a:xfrm>
            <a:off x="9144000" y="5029200"/>
            <a:ext cx="2240280" cy="77724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Ratiometric</a:t>
            </a:r>
            <a:endParaRPr lang="en-US" sz="1600" dirty="0"/>
          </a:p>
          <a:p>
            <a:pPr indent="0" marL="0">
              <a:spcAft>
                <a:spcPts val="400"/>
              </a:spcAft>
              <a:buNone/>
            </a:pPr>
            <a:r>
              <a:rPr lang="en-US" sz="1500" dirty="0">
                <a:solidFill>
                  <a:schemeClr val="tx1"/>
                </a:solidFill>
              </a:rPr>
              <a:t>tolerant to dilute stool</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326880" cy="914400"/>
          </a:xfrm>
          <a:prstGeom prst="rect">
            <a:avLst/>
          </a:prstGeom>
          <a:noFill/>
          <a:ln/>
        </p:spPr>
        <p:txBody>
          <a:bodyPr wrap="square" lIns="0" tIns="0" rIns="0" bIns="0" rtlCol="0" anchor="ctr"/>
          <a:lstStyle/>
          <a:p>
            <a:pPr algn="l" indent="0" marL="0">
              <a:buNone/>
            </a:pPr>
            <a:r>
              <a:rPr lang="en-US" sz="3200" b="1" dirty="0">
                <a:solidFill>
                  <a:schemeClr val="tx1"/>
                </a:solidFill>
              </a:rPr>
              <a:t>WP3: The winning aptamer goes onto a paper strip</a:t>
            </a:r>
            <a:endParaRPr lang="en-US" sz="3200" dirty="0"/>
          </a:p>
        </p:txBody>
      </p:sp>
      <p:sp>
        <p:nvSpPr>
          <p:cNvPr id="3" name="progress-WP1"/>
          <p:cNvSpPr/>
          <p:nvPr/>
        </p:nvSpPr>
        <p:spPr>
          <a:xfrm>
            <a:off x="10104120" y="548640"/>
            <a:ext cx="438912" cy="438912"/>
          </a:xfrm>
          <a:prstGeom prst="ellipse">
            <a:avLst/>
          </a:prstGeom>
          <a:solidFill>
            <a:schemeClr val="bg2"/>
          </a:solidFill>
          <a:ln w="12700">
            <a:solidFill>
              <a:schemeClr val="accent5"/>
            </a:solidFill>
            <a:prstDash val="solid"/>
          </a:ln>
        </p:spPr>
      </p:sp>
      <p:sp>
        <p:nvSpPr>
          <p:cNvPr id="4" name="Text 2"/>
          <p:cNvSpPr txBox="1"/>
          <p:nvPr/>
        </p:nvSpPr>
        <p:spPr>
          <a:xfrm>
            <a:off x="10104120" y="548640"/>
            <a:ext cx="438912" cy="438912"/>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5" name="progress-WP2"/>
          <p:cNvSpPr/>
          <p:nvPr/>
        </p:nvSpPr>
        <p:spPr>
          <a:xfrm>
            <a:off x="10671048" y="548640"/>
            <a:ext cx="438912" cy="438912"/>
          </a:xfrm>
          <a:prstGeom prst="ellipse">
            <a:avLst/>
          </a:prstGeom>
          <a:solidFill>
            <a:schemeClr val="bg2"/>
          </a:solidFill>
          <a:ln w="12700">
            <a:solidFill>
              <a:schemeClr val="accent5"/>
            </a:solidFill>
            <a:prstDash val="solid"/>
          </a:ln>
        </p:spPr>
      </p:sp>
      <p:sp>
        <p:nvSpPr>
          <p:cNvPr id="6" name="Text 4"/>
          <p:cNvSpPr txBox="1"/>
          <p:nvPr/>
        </p:nvSpPr>
        <p:spPr>
          <a:xfrm>
            <a:off x="10671048" y="548640"/>
            <a:ext cx="438912" cy="438912"/>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7" name="progress-WP3"/>
          <p:cNvSpPr/>
          <p:nvPr/>
        </p:nvSpPr>
        <p:spPr>
          <a:xfrm>
            <a:off x="11237976" y="548640"/>
            <a:ext cx="438912" cy="438912"/>
          </a:xfrm>
          <a:prstGeom prst="ellipse">
            <a:avLst/>
          </a:prstGeom>
          <a:solidFill>
            <a:schemeClr val="accent1"/>
          </a:solidFill>
          <a:ln w="12700">
            <a:solidFill>
              <a:schemeClr val="accent1"/>
            </a:solidFill>
            <a:prstDash val="solid"/>
          </a:ln>
        </p:spPr>
      </p:sp>
      <p:sp>
        <p:nvSpPr>
          <p:cNvPr id="8" name="Text 6"/>
          <p:cNvSpPr txBox="1"/>
          <p:nvPr/>
        </p:nvSpPr>
        <p:spPr>
          <a:xfrm>
            <a:off x="11237976" y="548640"/>
            <a:ext cx="438912" cy="43891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9" name="Lateral flow strip: sample pad, conjugate pad, membrane with test and control lines, absorbent pad" descr="Lateral flow strip: sample pad, conjugate pad, membrane with test and control lines, absorbent pad">    </p:cNvPr>
          <p:cNvPicPr>
            <a:picLocks noChangeAspect="1"/>
          </p:cNvPicPr>
          <p:nvPr/>
        </p:nvPicPr>
        <p:blipFill>
          <a:blip r:embed="rId1"/>
          <a:stretch>
            <a:fillRect/>
          </a:stretch>
        </p:blipFill>
        <p:spPr>
          <a:xfrm>
            <a:off x="1051560" y="1417320"/>
            <a:ext cx="10058400" cy="3520440"/>
          </a:xfrm>
          <a:prstGeom prst="rect">
            <a:avLst/>
          </a:prstGeom>
        </p:spPr>
      </p:pic>
      <p:sp>
        <p:nvSpPr>
          <p:cNvPr id="10" name="Shape 7"/>
          <p:cNvSpPr/>
          <p:nvPr/>
        </p:nvSpPr>
        <p:spPr>
          <a:xfrm>
            <a:off x="640080" y="5257800"/>
            <a:ext cx="3429000" cy="868680"/>
          </a:xfrm>
          <a:prstGeom prst="roundRect">
            <a:avLst>
              <a:gd name="adj" fmla="val 12632"/>
            </a:avLst>
          </a:prstGeom>
          <a:solidFill>
            <a:schemeClr val="bg2"/>
          </a:solidFill>
          <a:ln w="12700">
            <a:solidFill>
              <a:schemeClr val="bg2"/>
            </a:solidFill>
            <a:prstDash val="solid"/>
          </a:ln>
        </p:spPr>
      </p:sp>
      <p:sp>
        <p:nvSpPr>
          <p:cNvPr id="11" name="Text 8"/>
          <p:cNvSpPr txBox="1"/>
          <p:nvPr/>
        </p:nvSpPr>
        <p:spPr>
          <a:xfrm>
            <a:off x="822960" y="5394960"/>
            <a:ext cx="3063240" cy="594360"/>
          </a:xfrm>
          <a:prstGeom prst="rect">
            <a:avLst/>
          </a:prstGeom>
          <a:noFill/>
          <a:ln/>
        </p:spPr>
        <p:txBody>
          <a:bodyPr wrap="square" lIns="0" tIns="0" rIns="0" bIns="0" rtlCol="0" anchor="t"/>
          <a:lstStyle/>
          <a:p>
            <a:pPr indent="0" marL="0">
              <a:spcAft>
                <a:spcPts val="400"/>
              </a:spcAft>
              <a:buNone/>
            </a:pPr>
            <a:r>
              <a:rPr lang="en-US" sz="1700" b="1" dirty="0">
                <a:solidFill>
                  <a:schemeClr val="accent4"/>
                </a:solidFill>
              </a:rPr>
              <a:t>1  Pick</a:t>
            </a:r>
            <a:endParaRPr lang="en-US" sz="1600" dirty="0"/>
          </a:p>
          <a:p>
            <a:pPr indent="0" marL="0">
              <a:spcAft>
                <a:spcPts val="400"/>
              </a:spcAft>
              <a:buNone/>
            </a:pPr>
            <a:r>
              <a:rPr lang="en-US" sz="1500" dirty="0">
                <a:solidFill>
                  <a:schemeClr val="tx1"/>
                </a:solidFill>
              </a:rPr>
              <a:t>best aptamer from FP, in stool</a:t>
            </a:r>
            <a:endParaRPr lang="en-US" sz="1600" dirty="0"/>
          </a:p>
        </p:txBody>
      </p:sp>
      <p:sp>
        <p:nvSpPr>
          <p:cNvPr id="12" name="Shape 9"/>
          <p:cNvSpPr/>
          <p:nvPr/>
        </p:nvSpPr>
        <p:spPr>
          <a:xfrm>
            <a:off x="4343400" y="5257800"/>
            <a:ext cx="3429000" cy="868680"/>
          </a:xfrm>
          <a:prstGeom prst="roundRect">
            <a:avLst>
              <a:gd name="adj" fmla="val 12632"/>
            </a:avLst>
          </a:prstGeom>
          <a:solidFill>
            <a:schemeClr val="bg2"/>
          </a:solidFill>
          <a:ln w="12700">
            <a:solidFill>
              <a:schemeClr val="bg2"/>
            </a:solidFill>
            <a:prstDash val="solid"/>
          </a:ln>
        </p:spPr>
      </p:sp>
      <p:sp>
        <p:nvSpPr>
          <p:cNvPr id="13" name="Text 10"/>
          <p:cNvSpPr txBox="1"/>
          <p:nvPr/>
        </p:nvSpPr>
        <p:spPr>
          <a:xfrm>
            <a:off x="4526280" y="5394960"/>
            <a:ext cx="3063240" cy="594360"/>
          </a:xfrm>
          <a:prstGeom prst="rect">
            <a:avLst/>
          </a:prstGeom>
          <a:noFill/>
          <a:ln/>
        </p:spPr>
        <p:txBody>
          <a:bodyPr wrap="square" lIns="0" tIns="0" rIns="0" bIns="0" rtlCol="0" anchor="t"/>
          <a:lstStyle/>
          <a:p>
            <a:pPr indent="0" marL="0">
              <a:spcAft>
                <a:spcPts val="400"/>
              </a:spcAft>
              <a:buNone/>
            </a:pPr>
            <a:r>
              <a:rPr lang="en-US" sz="1700" b="1" dirty="0">
                <a:solidFill>
                  <a:schemeClr val="accent4"/>
                </a:solidFill>
              </a:rPr>
              <a:t>2  Build</a:t>
            </a:r>
            <a:endParaRPr lang="en-US" sz="1600" dirty="0"/>
          </a:p>
          <a:p>
            <a:pPr indent="0" marL="0">
              <a:spcAft>
                <a:spcPts val="400"/>
              </a:spcAft>
              <a:buNone/>
            </a:pPr>
            <a:r>
              <a:rPr lang="en-US" sz="1500" dirty="0">
                <a:solidFill>
                  <a:schemeClr val="tx1"/>
                </a:solidFill>
              </a:rPr>
              <a:t>aptamer–gold conjugate + test line</a:t>
            </a:r>
            <a:endParaRPr lang="en-US" sz="1600" dirty="0"/>
          </a:p>
        </p:txBody>
      </p:sp>
      <p:sp>
        <p:nvSpPr>
          <p:cNvPr id="14" name="Shape 11"/>
          <p:cNvSpPr/>
          <p:nvPr/>
        </p:nvSpPr>
        <p:spPr>
          <a:xfrm>
            <a:off x="8046720" y="5257800"/>
            <a:ext cx="3429000" cy="868680"/>
          </a:xfrm>
          <a:prstGeom prst="roundRect">
            <a:avLst>
              <a:gd name="adj" fmla="val 12632"/>
            </a:avLst>
          </a:prstGeom>
          <a:solidFill>
            <a:schemeClr val="bg2"/>
          </a:solidFill>
          <a:ln w="12700">
            <a:solidFill>
              <a:schemeClr val="bg2"/>
            </a:solidFill>
            <a:prstDash val="solid"/>
          </a:ln>
        </p:spPr>
      </p:sp>
      <p:sp>
        <p:nvSpPr>
          <p:cNvPr id="15" name="Text 12"/>
          <p:cNvSpPr txBox="1"/>
          <p:nvPr/>
        </p:nvSpPr>
        <p:spPr>
          <a:xfrm>
            <a:off x="8229600" y="5394960"/>
            <a:ext cx="3063240" cy="594360"/>
          </a:xfrm>
          <a:prstGeom prst="rect">
            <a:avLst/>
          </a:prstGeom>
          <a:noFill/>
          <a:ln/>
        </p:spPr>
        <p:txBody>
          <a:bodyPr wrap="square" lIns="0" tIns="0" rIns="0" bIns="0" rtlCol="0" anchor="t"/>
          <a:lstStyle/>
          <a:p>
            <a:pPr indent="0" marL="0">
              <a:spcAft>
                <a:spcPts val="400"/>
              </a:spcAft>
              <a:buNone/>
            </a:pPr>
            <a:r>
              <a:rPr lang="en-US" sz="1700" b="1" dirty="0">
                <a:solidFill>
                  <a:schemeClr val="accent4"/>
                </a:solidFill>
              </a:rPr>
              <a:t>3  Validate</a:t>
            </a:r>
            <a:endParaRPr lang="en-US" sz="1600" dirty="0"/>
          </a:p>
          <a:p>
            <a:pPr indent="0" marL="0">
              <a:spcAft>
                <a:spcPts val="400"/>
              </a:spcAft>
              <a:buNone/>
            </a:pPr>
            <a:r>
              <a:rPr lang="en-US" sz="1500" dirty="0">
                <a:solidFill>
                  <a:schemeClr val="tx1"/>
                </a:solidFill>
              </a:rPr>
              <a:t>spiked &amp; real donor stool vs PCR</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6035040" cy="2377440"/>
          </a:xfrm>
          <a:prstGeom prst="rect">
            <a:avLst/>
          </a:prstGeom>
          <a:noFill/>
          <a:ln/>
        </p:spPr>
        <p:txBody>
          <a:bodyPr wrap="square" rtlCol="0" anchor="t"/>
          <a:lstStyle/>
          <a:p>
            <a:pPr algn="l" indent="0" marL="0">
              <a:buNone/>
            </a:pPr>
            <a:r>
              <a:rPr lang="en-US" sz="4400" b="1" dirty="0">
                <a:solidFill>
                  <a:schemeClr val="bg1"/>
                </a:solidFill>
              </a:rPr>
              <a:t>Take-home</a:t>
            </a:r>
            <a:endParaRPr lang="en-US" sz="4400" dirty="0"/>
          </a:p>
        </p:txBody>
      </p:sp>
      <p:sp>
        <p:nvSpPr>
          <p:cNvPr id="3" name="Shape 1"/>
          <p:cNvSpPr/>
          <p:nvPr/>
        </p:nvSpPr>
        <p:spPr>
          <a:xfrm>
            <a:off x="640080" y="2514600"/>
            <a:ext cx="685800" cy="685800"/>
          </a:xfrm>
          <a:prstGeom prst="ellipse">
            <a:avLst/>
          </a:prstGeom>
          <a:solidFill>
            <a:schemeClr val="accent1"/>
          </a:solidFill>
          <a:ln w="12700">
            <a:solidFill>
              <a:schemeClr val="tx1"/>
            </a:solidFill>
            <a:prstDash val="solid"/>
          </a:ln>
        </p:spPr>
      </p:sp>
      <p:sp>
        <p:nvSpPr>
          <p:cNvPr id="4" name="Text 2"/>
          <p:cNvSpPr txBox="1"/>
          <p:nvPr/>
        </p:nvSpPr>
        <p:spPr>
          <a:xfrm>
            <a:off x="640080" y="2514600"/>
            <a:ext cx="685800" cy="685800"/>
          </a:xfrm>
          <a:prstGeom prst="rect">
            <a:avLst/>
          </a:prstGeom>
          <a:noFill/>
          <a:ln/>
        </p:spPr>
        <p:txBody>
          <a:bodyPr wrap="square" lIns="0" tIns="0" rIns="0" bIns="0" rtlCol="0" anchor="ctr"/>
          <a:lstStyle/>
          <a:p>
            <a:pPr algn="ctr" indent="0" marL="0">
              <a:buNone/>
            </a:pPr>
            <a:r>
              <a:rPr lang="en-US" sz="1300" b="1" dirty="0">
                <a:solidFill>
                  <a:schemeClr val="bg1"/>
                </a:solidFill>
              </a:rPr>
              <a:t>WP1</a:t>
            </a:r>
            <a:endParaRPr lang="en-US" sz="1300" dirty="0"/>
          </a:p>
        </p:txBody>
      </p:sp>
      <p:sp>
        <p:nvSpPr>
          <p:cNvPr id="5" name="Text 3"/>
          <p:cNvSpPr txBox="1"/>
          <p:nvPr/>
        </p:nvSpPr>
        <p:spPr>
          <a:xfrm>
            <a:off x="1554480" y="2514600"/>
            <a:ext cx="5120640" cy="685800"/>
          </a:xfrm>
          <a:prstGeom prst="rect">
            <a:avLst/>
          </a:prstGeom>
          <a:noFill/>
          <a:ln/>
        </p:spPr>
        <p:txBody>
          <a:bodyPr wrap="square" lIns="0" tIns="0" rIns="0" bIns="0" rtlCol="0" anchor="ctr"/>
          <a:lstStyle/>
          <a:p>
            <a:pPr indent="0" marL="0">
              <a:buNone/>
            </a:pPr>
            <a:r>
              <a:rPr lang="en-US" sz="1800" dirty="0">
                <a:solidFill>
                  <a:schemeClr val="bg1"/>
                </a:solidFill>
              </a:rPr>
              <a:t>If virus shedding fluctuates, donors need testing at every donation</a:t>
            </a:r>
            <a:endParaRPr lang="en-US" sz="1800" dirty="0"/>
          </a:p>
        </p:txBody>
      </p:sp>
      <p:sp>
        <p:nvSpPr>
          <p:cNvPr id="6" name="Shape 4"/>
          <p:cNvSpPr/>
          <p:nvPr/>
        </p:nvSpPr>
        <p:spPr>
          <a:xfrm>
            <a:off x="640080" y="3474720"/>
            <a:ext cx="685800" cy="685800"/>
          </a:xfrm>
          <a:prstGeom prst="ellipse">
            <a:avLst/>
          </a:prstGeom>
          <a:solidFill>
            <a:schemeClr val="accent2"/>
          </a:solidFill>
          <a:ln w="12700">
            <a:solidFill>
              <a:schemeClr val="tx1"/>
            </a:solidFill>
            <a:prstDash val="solid"/>
          </a:ln>
        </p:spPr>
      </p:sp>
      <p:sp>
        <p:nvSpPr>
          <p:cNvPr id="7" name="Text 5"/>
          <p:cNvSpPr txBox="1"/>
          <p:nvPr/>
        </p:nvSpPr>
        <p:spPr>
          <a:xfrm>
            <a:off x="640080" y="3474720"/>
            <a:ext cx="685800" cy="685800"/>
          </a:xfrm>
          <a:prstGeom prst="rect">
            <a:avLst/>
          </a:prstGeom>
          <a:noFill/>
          <a:ln/>
        </p:spPr>
        <p:txBody>
          <a:bodyPr wrap="square" lIns="0" tIns="0" rIns="0" bIns="0" rtlCol="0" anchor="ctr"/>
          <a:lstStyle/>
          <a:p>
            <a:pPr algn="ctr" indent="0" marL="0">
              <a:buNone/>
            </a:pPr>
            <a:r>
              <a:rPr lang="en-US" sz="1300" b="1" dirty="0">
                <a:solidFill>
                  <a:schemeClr val="bg1"/>
                </a:solidFill>
              </a:rPr>
              <a:t>WP2</a:t>
            </a:r>
            <a:endParaRPr lang="en-US" sz="1300" dirty="0"/>
          </a:p>
        </p:txBody>
      </p:sp>
      <p:sp>
        <p:nvSpPr>
          <p:cNvPr id="8" name="Text 6"/>
          <p:cNvSpPr txBox="1"/>
          <p:nvPr/>
        </p:nvSpPr>
        <p:spPr>
          <a:xfrm>
            <a:off x="1554480" y="3474720"/>
            <a:ext cx="5120640" cy="685800"/>
          </a:xfrm>
          <a:prstGeom prst="rect">
            <a:avLst/>
          </a:prstGeom>
          <a:noFill/>
          <a:ln/>
        </p:spPr>
        <p:txBody>
          <a:bodyPr wrap="square" lIns="0" tIns="0" rIns="0" bIns="0" rtlCol="0" anchor="ctr"/>
          <a:lstStyle/>
          <a:p>
            <a:pPr indent="0" marL="0">
              <a:buNone/>
            </a:pPr>
            <a:r>
              <a:rPr lang="en-US" sz="1800" dirty="0">
                <a:solidFill>
                  <a:schemeClr val="bg1"/>
                </a:solidFill>
              </a:rPr>
              <a:t>Compare aptamers in solution and in the real matrix — the method shapes the answer</a:t>
            </a:r>
            <a:endParaRPr lang="en-US" sz="1800" dirty="0"/>
          </a:p>
        </p:txBody>
      </p:sp>
      <p:sp>
        <p:nvSpPr>
          <p:cNvPr id="9" name="Shape 7"/>
          <p:cNvSpPr/>
          <p:nvPr/>
        </p:nvSpPr>
        <p:spPr>
          <a:xfrm>
            <a:off x="640080" y="4434840"/>
            <a:ext cx="685800" cy="685800"/>
          </a:xfrm>
          <a:prstGeom prst="ellipse">
            <a:avLst/>
          </a:prstGeom>
          <a:solidFill>
            <a:schemeClr val="accent4"/>
          </a:solidFill>
          <a:ln w="12700">
            <a:solidFill>
              <a:schemeClr val="tx1"/>
            </a:solidFill>
            <a:prstDash val="solid"/>
          </a:ln>
        </p:spPr>
      </p:sp>
      <p:sp>
        <p:nvSpPr>
          <p:cNvPr id="10" name="Text 8"/>
          <p:cNvSpPr txBox="1"/>
          <p:nvPr/>
        </p:nvSpPr>
        <p:spPr>
          <a:xfrm>
            <a:off x="640080" y="4434840"/>
            <a:ext cx="685800" cy="685800"/>
          </a:xfrm>
          <a:prstGeom prst="rect">
            <a:avLst/>
          </a:prstGeom>
          <a:noFill/>
          <a:ln/>
        </p:spPr>
        <p:txBody>
          <a:bodyPr wrap="square" lIns="0" tIns="0" rIns="0" bIns="0" rtlCol="0" anchor="ctr"/>
          <a:lstStyle/>
          <a:p>
            <a:pPr algn="ctr" indent="0" marL="0">
              <a:buNone/>
            </a:pPr>
            <a:r>
              <a:rPr lang="en-US" sz="1300" b="1" dirty="0">
                <a:solidFill>
                  <a:schemeClr val="bg1"/>
                </a:solidFill>
              </a:rPr>
              <a:t>WP3</a:t>
            </a:r>
            <a:endParaRPr lang="en-US" sz="1300" dirty="0"/>
          </a:p>
        </p:txBody>
      </p:sp>
      <p:sp>
        <p:nvSpPr>
          <p:cNvPr id="11" name="Text 9"/>
          <p:cNvSpPr txBox="1"/>
          <p:nvPr/>
        </p:nvSpPr>
        <p:spPr>
          <a:xfrm>
            <a:off x="1554480" y="4434840"/>
            <a:ext cx="5120640" cy="685800"/>
          </a:xfrm>
          <a:prstGeom prst="rect">
            <a:avLst/>
          </a:prstGeom>
          <a:noFill/>
          <a:ln/>
        </p:spPr>
        <p:txBody>
          <a:bodyPr wrap="square" lIns="0" tIns="0" rIns="0" bIns="0" rtlCol="0" anchor="ctr"/>
          <a:lstStyle/>
          <a:p>
            <a:pPr indent="0" marL="0">
              <a:buNone/>
            </a:pPr>
            <a:r>
              <a:rPr lang="en-US" sz="1800" dirty="0">
                <a:solidFill>
                  <a:schemeClr val="bg1"/>
                </a:solidFill>
              </a:rPr>
              <a:t>Turn the winner into a 15-minute strip test</a:t>
            </a:r>
            <a:endParaRPr lang="en-US" sz="1800" dirty="0"/>
          </a:p>
        </p:txBody>
      </p:sp>
      <p:sp>
        <p:nvSpPr>
          <p:cNvPr id="12" name="Text 10"/>
          <p:cNvSpPr txBox="1"/>
          <p:nvPr/>
        </p:nvSpPr>
        <p:spPr>
          <a:xfrm>
            <a:off x="640080" y="5486400"/>
            <a:ext cx="6035040" cy="640080"/>
          </a:xfrm>
          <a:prstGeom prst="rect">
            <a:avLst/>
          </a:prstGeom>
          <a:noFill/>
          <a:ln/>
        </p:spPr>
        <p:txBody>
          <a:bodyPr wrap="square" lIns="0" tIns="0" rIns="0" bIns="0" rtlCol="0" anchor="t"/>
          <a:lstStyle/>
          <a:p>
            <a:pPr indent="0" marL="0">
              <a:buNone/>
            </a:pPr>
            <a:r>
              <a:rPr lang="en-US" sz="1600" i="1" dirty="0">
                <a:solidFill>
                  <a:schemeClr val="accent5"/>
                </a:solidFill>
              </a:rPr>
              <a:t>Beyond FMT: any rapid test in a messy sample needs binders validated in that sample.</a:t>
            </a:r>
            <a:endParaRPr lang="en-US" sz="1600" dirty="0"/>
          </a:p>
        </p:txBody>
      </p:sp>
      <p:sp>
        <p:nvSpPr>
          <p:cNvPr id="13" name="Shape 11"/>
          <p:cNvSpPr/>
          <p:nvPr/>
        </p:nvSpPr>
        <p:spPr>
          <a:xfrm>
            <a:off x="7269480" y="914400"/>
            <a:ext cx="4480560" cy="4480560"/>
          </a:xfrm>
          <a:prstGeom prst="ellipse">
            <a:avLst/>
          </a:prstGeom>
          <a:solidFill>
            <a:schemeClr val="bg1"/>
          </a:solidFill>
          <a:ln w="12700">
            <a:solidFill>
              <a:schemeClr val="bg1"/>
            </a:solidFill>
            <a:prstDash val="solid"/>
          </a:ln>
        </p:spPr>
      </p:sp>
      <p:pic>
        <p:nvPicPr>
          <p:cNvPr id="14" name="Magnifier finding viruses in a crowded sample" descr="Magnifier finding viruses in a crowded sample">    </p:cNvPr>
          <p:cNvPicPr>
            <a:picLocks noChangeAspect="1"/>
          </p:cNvPicPr>
          <p:nvPr/>
        </p:nvPicPr>
        <p:blipFill>
          <a:blip r:embed="rId1"/>
          <a:stretch>
            <a:fillRect/>
          </a:stretch>
        </p:blipFill>
        <p:spPr>
          <a:xfrm>
            <a:off x="7452360" y="1097280"/>
            <a:ext cx="4114800" cy="3600450"/>
          </a:xfrm>
          <a:prstGeom prst="rect">
            <a:avLst/>
          </a:prstGeom>
        </p:spPr>
      </p:pic>
      <p:sp>
        <p:nvSpPr>
          <p:cNvPr id="15" name="Text 12"/>
          <p:cNvSpPr txBox="1"/>
          <p:nvPr/>
        </p:nvSpPr>
        <p:spPr>
          <a:xfrm>
            <a:off x="7269480" y="5623560"/>
            <a:ext cx="4480560" cy="457200"/>
          </a:xfrm>
          <a:prstGeom prst="rect">
            <a:avLst/>
          </a:prstGeom>
          <a:noFill/>
          <a:ln/>
        </p:spPr>
        <p:txBody>
          <a:bodyPr wrap="square" lIns="0" tIns="0" rIns="0" bIns="0" rtlCol="0" anchor="t"/>
          <a:lstStyle/>
          <a:p>
            <a:pPr algn="ctr" indent="0" marL="0">
              <a:buNone/>
            </a:pPr>
            <a:r>
              <a:rPr lang="en-US" sz="1600" b="1" dirty="0">
                <a:solidFill>
                  <a:schemeClr val="accent3"/>
                </a:solidFill>
              </a:rPr>
              <a:t>The salt saga in detail → my poster [#__]</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6035040" cy="2377440"/>
          </a:xfrm>
          <a:prstGeom prst="rect">
            <a:avLst/>
          </a:prstGeom>
          <a:noFill/>
          <a:ln/>
        </p:spPr>
        <p:txBody>
          <a:bodyPr wrap="square" rtlCol="0" anchor="t"/>
          <a:lstStyle/>
          <a:p>
            <a:pPr algn="l" indent="0" marL="0">
              <a:buNone/>
            </a:pPr>
            <a:r>
              <a:rPr lang="en-US" sz="4400" b="1" dirty="0">
                <a:solidFill>
                  <a:schemeClr val="bg1"/>
                </a:solidFill>
              </a:rPr>
              <a:t>Thank you — questions?</a:t>
            </a:r>
            <a:endParaRPr lang="en-US" sz="4400" dirty="0"/>
          </a:p>
        </p:txBody>
      </p:sp>
      <p:sp>
        <p:nvSpPr>
          <p:cNvPr id="3" name="Text 1"/>
          <p:cNvSpPr txBox="1"/>
          <p:nvPr/>
        </p:nvSpPr>
        <p:spPr>
          <a:xfrm>
            <a:off x="640080" y="4023360"/>
            <a:ext cx="10515600" cy="548640"/>
          </a:xfrm>
          <a:prstGeom prst="rect">
            <a:avLst/>
          </a:prstGeom>
          <a:noFill/>
          <a:ln/>
        </p:spPr>
        <p:txBody>
          <a:bodyPr wrap="square" lIns="0" tIns="0" rIns="0" bIns="0" rtlCol="0" anchor="t"/>
          <a:lstStyle/>
          <a:p>
            <a:pPr indent="0" marL="0">
              <a:buNone/>
            </a:pPr>
            <a:r>
              <a:rPr lang="en-US" sz="1800" dirty="0">
                <a:solidFill>
                  <a:schemeClr val="bg2"/>
                </a:solidFill>
              </a:rPr>
              <a:t>[Supervisors]  ·  [Lab members]  ·  [Collaborators / stool bank]  ·  [Funding]</a:t>
            </a:r>
            <a:endParaRPr lang="en-US" sz="1800" dirty="0"/>
          </a:p>
        </p:txBody>
      </p:sp>
      <p:sp>
        <p:nvSpPr>
          <p:cNvPr id="4" name="Text 2"/>
          <p:cNvSpPr txBox="1"/>
          <p:nvPr/>
        </p:nvSpPr>
        <p:spPr>
          <a:xfrm>
            <a:off x="640080" y="4754880"/>
            <a:ext cx="5486400" cy="365760"/>
          </a:xfrm>
          <a:prstGeom prst="rect">
            <a:avLst/>
          </a:prstGeom>
          <a:noFill/>
          <a:ln/>
        </p:spPr>
        <p:txBody>
          <a:bodyPr wrap="square" lIns="0" tIns="0" rIns="0" bIns="0" rtlCol="0" anchor="t"/>
          <a:lstStyle/>
          <a:p>
            <a:pPr indent="0" marL="0">
              <a:buNone/>
            </a:pPr>
            <a:r>
              <a:rPr lang="en-US" sz="1600" dirty="0">
                <a:solidFill>
                  <a:schemeClr val="accent5"/>
                </a:solidFill>
              </a:rPr>
              <a:t>[email]</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326880" cy="914400"/>
          </a:xfrm>
          <a:prstGeom prst="rect">
            <a:avLst/>
          </a:prstGeom>
          <a:noFill/>
          <a:ln/>
        </p:spPr>
        <p:txBody>
          <a:bodyPr wrap="square" lIns="0" tIns="0" rIns="0" bIns="0" rtlCol="0" anchor="ctr"/>
          <a:lstStyle/>
          <a:p>
            <a:pPr algn="l" indent="0" marL="0">
              <a:buNone/>
            </a:pPr>
            <a:r>
              <a:rPr lang="en-US" sz="3200" b="1" dirty="0">
                <a:solidFill>
                  <a:schemeClr val="tx1"/>
                </a:solidFill>
              </a:rPr>
              <a:t>Backup: how FP becomes a Kd</a:t>
            </a:r>
            <a:endParaRPr lang="en-US" sz="3200" dirty="0"/>
          </a:p>
        </p:txBody>
      </p:sp>
      <p:sp>
        <p:nvSpPr>
          <p:cNvPr id="3" name="Text 1"/>
          <p:cNvSpPr txBox="1"/>
          <p:nvPr/>
        </p:nvSpPr>
        <p:spPr>
          <a:xfrm>
            <a:off x="640080" y="1463040"/>
            <a:ext cx="10972800" cy="4389120"/>
          </a:xfrm>
          <a:prstGeom prst="rect">
            <a:avLst/>
          </a:prstGeom>
          <a:noFill/>
          <a:ln/>
        </p:spPr>
        <p:txBody>
          <a:bodyPr wrap="square" lIns="0" tIns="0" rIns="0" bIns="0" rtlCol="0" anchor="t"/>
          <a:lstStyle/>
          <a:p>
            <a:pPr indent="0" marL="0">
              <a:spcAft>
                <a:spcPts val="600"/>
              </a:spcAft>
              <a:buNone/>
            </a:pPr>
            <a:r>
              <a:rPr lang="en-US" sz="1800" b="1" dirty="0">
                <a:solidFill>
                  <a:schemeClr val="accent1"/>
                </a:solidFill>
              </a:rPr>
              <a:t>Polarization</a:t>
            </a:r>
            <a:endParaRPr lang="en-US" sz="1800" dirty="0"/>
          </a:p>
          <a:p>
            <a:pPr indent="0" marL="0">
              <a:spcAft>
                <a:spcPts val="600"/>
              </a:spcAft>
              <a:buNone/>
            </a:pPr>
            <a:r>
              <a:rPr lang="en-US" sz="1800" dirty="0">
                <a:solidFill>
                  <a:schemeClr val="tx1"/>
                </a:solidFill>
              </a:rPr>
              <a:t>P = (I∥ − G·I⊥) / (I∥ + G·I⊥)      (reported as mP = 1000·P)</a:t>
            </a:r>
            <a:endParaRPr lang="en-US" sz="1800" dirty="0"/>
          </a:p>
          <a:p>
            <a:pPr indent="0" marL="0">
              <a:spcAft>
                <a:spcPts val="600"/>
              </a:spcAft>
              <a:buNone/>
            </a:pPr>
            <a:r>
              <a:rPr lang="en-US" sz="1800" dirty="0">
                <a:solidFill>
                  <a:schemeClr val="tx1"/>
                </a:solidFill>
              </a:rPr>
              <a:t>Anisotropy  r = (I∥ − G·I⊥) / (I∥ + 2G·I⊥)</a:t>
            </a:r>
            <a:endParaRPr lang="en-US" sz="1800" dirty="0"/>
          </a:p>
          <a:p>
            <a:pPr indent="0" marL="0">
              <a:spcAft>
                <a:spcPts val="600"/>
              </a:spcAft>
              <a:buNone/>
            </a:pPr>
            <a:r>
              <a:rPr lang="en-US" sz="1800" dirty="0">
                <a:solidFill>
                  <a:schemeClr val="tx1"/>
                </a:solidFill>
              </a:rPr>
              <a:t> </a:t>
            </a:r>
            <a:endParaRPr lang="en-US" sz="1800" dirty="0"/>
          </a:p>
          <a:p>
            <a:pPr indent="0" marL="0">
              <a:spcAft>
                <a:spcPts val="600"/>
              </a:spcAft>
              <a:buNone/>
            </a:pPr>
            <a:r>
              <a:rPr lang="en-US" sz="1800" b="1" dirty="0">
                <a:solidFill>
                  <a:schemeClr val="accent1"/>
                </a:solidFill>
              </a:rPr>
              <a:t>Fraction bound (ligand depletion, aptamer L, target T)</a:t>
            </a:r>
            <a:endParaRPr lang="en-US" sz="1800" dirty="0"/>
          </a:p>
          <a:p>
            <a:pPr indent="0" marL="0">
              <a:spcAft>
                <a:spcPts val="600"/>
              </a:spcAft>
              <a:buNone/>
            </a:pPr>
            <a:r>
              <a:rPr lang="en-US" sz="1800" dirty="0">
                <a:solidFill>
                  <a:schemeClr val="tx1"/>
                </a:solidFill>
              </a:rPr>
              <a:t>f = [(L+T+Kd) − √((L+T+Kd)² − 4·L·T)] / (2·L)</a:t>
            </a:r>
            <a:endParaRPr lang="en-US" sz="1800" dirty="0"/>
          </a:p>
          <a:p>
            <a:pPr indent="0" marL="0">
              <a:spcAft>
                <a:spcPts val="600"/>
              </a:spcAft>
              <a:buNone/>
            </a:pPr>
            <a:r>
              <a:rPr lang="en-US" sz="1800" dirty="0">
                <a:solidFill>
                  <a:schemeClr val="tx1"/>
                </a:solidFill>
              </a:rPr>
              <a:t>r_obs = r_free + f·(r_bound − r_free)      (correct for brightness change on binding if needed)</a:t>
            </a:r>
            <a:endParaRPr lang="en-US" sz="1800" dirty="0"/>
          </a:p>
          <a:p>
            <a:pPr indent="0" marL="0">
              <a:spcAft>
                <a:spcPts val="600"/>
              </a:spcAft>
              <a:buNone/>
            </a:pPr>
            <a:r>
              <a:rPr lang="en-US" sz="1800" dirty="0">
                <a:solidFill>
                  <a:schemeClr val="tx1"/>
                </a:solidFill>
              </a:rPr>
              <a:t> </a:t>
            </a:r>
            <a:endParaRPr lang="en-US" sz="1800" dirty="0"/>
          </a:p>
          <a:p>
            <a:pPr indent="0" marL="0">
              <a:spcAft>
                <a:spcPts val="600"/>
              </a:spcAft>
              <a:buNone/>
            </a:pPr>
            <a:r>
              <a:rPr lang="en-US" sz="1800" b="1" dirty="0">
                <a:solidFill>
                  <a:schemeClr val="accent1"/>
                </a:solidFill>
              </a:rPr>
              <a:t>Controls</a:t>
            </a:r>
            <a:endParaRPr lang="en-US" sz="1800" dirty="0"/>
          </a:p>
          <a:p>
            <a:pPr indent="0" marL="0">
              <a:spcAft>
                <a:spcPts val="600"/>
              </a:spcAft>
              <a:buNone/>
            </a:pPr>
            <a:r>
              <a:rPr lang="en-US" sz="1800" dirty="0">
                <a:solidFill>
                  <a:schemeClr val="tx1"/>
                </a:solidFill>
              </a:rPr>
              <a:t>scrambled aptamer · dye-only · stool-only blank (scatter/autofluorescence) · unlabelled competition</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326880" cy="914400"/>
          </a:xfrm>
          <a:prstGeom prst="rect">
            <a:avLst/>
          </a:prstGeom>
          <a:noFill/>
          <a:ln/>
        </p:spPr>
        <p:txBody>
          <a:bodyPr wrap="square" lIns="0" tIns="0" rIns="0" bIns="0" rtlCol="0" anchor="ctr"/>
          <a:lstStyle/>
          <a:p>
            <a:pPr algn="l" indent="0" marL="0">
              <a:buNone/>
            </a:pPr>
            <a:r>
              <a:rPr lang="en-US" sz="3200" b="1" dirty="0">
                <a:solidFill>
                  <a:schemeClr val="tx1"/>
                </a:solidFill>
              </a:rPr>
              <a:t>Backup: aptamer candidates</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371600"/>
                <a:gridCol w="1828800"/>
                <a:gridCol w="1097280"/>
                <a:gridCol w="2377440"/>
                <a:gridCol w="2377440"/>
                <a:gridCol w="1828800"/>
              </a:tblGrid>
              <a:tr h="54864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Aptamer</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Target</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Length</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SELEX buffer</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Reported Kd (method)</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Reference</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B2A41"/>
                    </a:solidFill>
                  </a:tcPr>
                </a:tc>
              </a:tr>
              <a:tr h="548640">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Apt-A</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 nt</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 nM ([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Apt-B</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 nt</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 nM ([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Apt-C</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 nt</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 nM ([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Apt-D</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 nt</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 nM ([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indent="0" marL="0">
                        <a:buNone/>
                      </a:pPr>
                      <a:r>
                        <a:rPr lang="en-US" sz="1500" dirty="0">
                          <a:solidFill>
                            <a:srgbClr val="1B2A41"/>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91440" marR="91440" marT="45720" marB="45720">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Retreat Talk">
  <a:themeElements>
    <a:clrScheme name="Retreat Talk">
      <a:dk1>
        <a:srgbClr val="1B2A41"/>
      </a:dk1>
      <a:lt1>
        <a:srgbClr val="FFFFFF"/>
      </a:lt1>
      <a:dk2>
        <a:srgbClr val="5C6B7D"/>
      </a:dk2>
      <a:lt2>
        <a:srgbClr val="EEF3F6"/>
      </a:lt2>
      <a:accent1>
        <a:srgbClr val="138A8A"/>
      </a:accent1>
      <a:accent2>
        <a:srgbClr val="E85D4A"/>
      </a:accent2>
      <a:accent3>
        <a:srgbClr val="F2C14E"/>
      </a:accent3>
      <a:accent4>
        <a:srgbClr val="7A5BA6"/>
      </a:accent4>
      <a:accent5>
        <a:srgbClr val="7CC6C2"/>
      </a:accent5>
      <a:accent6>
        <a:srgbClr val="8A6A4F"/>
      </a:accent6>
      <a:hlink>
        <a:srgbClr val="138A8A"/>
      </a:hlink>
      <a:folHlink>
        <a:srgbClr val="7A5BA6"/>
      </a:folHlink>
    </a:clrScheme>
    <a:fontScheme name="Retreat Tal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Rapid aptamer-based viral screening — PhD retreat</dc:title>
  <dc:subject>PptxGenJS Presentation</dc:subject>
  <dc:creator>PptxGenJS</dc:creator>
  <cp:lastModifiedBy>PptxGenJS</cp:lastModifiedBy>
  <cp:revision>1</cp:revision>
  <dcterms:created xsi:type="dcterms:W3CDTF">2026-10-18T14:34:46Z</dcterms:created>
  <dcterms:modified xsi:type="dcterms:W3CDTF">2026-10-18T14:34:46Z</dcterms:modified>
</cp:coreProperties>
</file>